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4"/>
  </p:notesMasterIdLst>
  <p:sldIdLst>
    <p:sldId id="385" r:id="rId2"/>
    <p:sldId id="396" r:id="rId3"/>
    <p:sldId id="388" r:id="rId4"/>
    <p:sldId id="397" r:id="rId5"/>
    <p:sldId id="398" r:id="rId6"/>
    <p:sldId id="386" r:id="rId7"/>
    <p:sldId id="387" r:id="rId8"/>
    <p:sldId id="390" r:id="rId9"/>
    <p:sldId id="393" r:id="rId10"/>
    <p:sldId id="392" r:id="rId11"/>
    <p:sldId id="391" r:id="rId12"/>
    <p:sldId id="389" r:id="rId13"/>
    <p:sldId id="394" r:id="rId14"/>
    <p:sldId id="395" r:id="rId15"/>
    <p:sldId id="399" r:id="rId16"/>
    <p:sldId id="400" r:id="rId17"/>
    <p:sldId id="401" r:id="rId18"/>
    <p:sldId id="295" r:id="rId19"/>
    <p:sldId id="403" r:id="rId20"/>
    <p:sldId id="296" r:id="rId21"/>
    <p:sldId id="297" r:id="rId22"/>
    <p:sldId id="299" r:id="rId23"/>
    <p:sldId id="298" r:id="rId24"/>
    <p:sldId id="402" r:id="rId25"/>
    <p:sldId id="259" r:id="rId26"/>
    <p:sldId id="262" r:id="rId27"/>
    <p:sldId id="260" r:id="rId28"/>
    <p:sldId id="404" r:id="rId29"/>
    <p:sldId id="263" r:id="rId30"/>
    <p:sldId id="264" r:id="rId31"/>
    <p:sldId id="265" r:id="rId32"/>
    <p:sldId id="266" r:id="rId33"/>
    <p:sldId id="267" r:id="rId34"/>
    <p:sldId id="268" r:id="rId35"/>
    <p:sldId id="305" r:id="rId36"/>
    <p:sldId id="261" r:id="rId37"/>
    <p:sldId id="405" r:id="rId38"/>
    <p:sldId id="269" r:id="rId39"/>
    <p:sldId id="306" r:id="rId40"/>
    <p:sldId id="307" r:id="rId41"/>
    <p:sldId id="310" r:id="rId42"/>
    <p:sldId id="407" r:id="rId43"/>
    <p:sldId id="308" r:id="rId44"/>
    <p:sldId id="309" r:id="rId45"/>
    <p:sldId id="290" r:id="rId46"/>
    <p:sldId id="291" r:id="rId47"/>
    <p:sldId id="292" r:id="rId48"/>
    <p:sldId id="293" r:id="rId49"/>
    <p:sldId id="294" r:id="rId50"/>
    <p:sldId id="303" r:id="rId51"/>
    <p:sldId id="302" r:id="rId52"/>
    <p:sldId id="273" r:id="rId53"/>
    <p:sldId id="276" r:id="rId54"/>
    <p:sldId id="311" r:id="rId55"/>
    <p:sldId id="271" r:id="rId56"/>
    <p:sldId id="278" r:id="rId57"/>
    <p:sldId id="277" r:id="rId58"/>
    <p:sldId id="301" r:id="rId59"/>
    <p:sldId id="312" r:id="rId60"/>
    <p:sldId id="313" r:id="rId61"/>
    <p:sldId id="314" r:id="rId62"/>
    <p:sldId id="406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000"/>
    <p:restoredTop sz="94643"/>
  </p:normalViewPr>
  <p:slideViewPr>
    <p:cSldViewPr snapToGrid="0">
      <p:cViewPr varScale="1">
        <p:scale>
          <a:sx n="19" d="100"/>
          <a:sy n="19" d="100"/>
        </p:scale>
        <p:origin x="224" y="2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A3C6A3-63DF-4D03-9EFC-A502446090A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451D989-8EB8-4253-B938-6080943BB49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Due 11:59 EST night before class</a:t>
          </a:r>
        </a:p>
      </dgm:t>
    </dgm:pt>
    <dgm:pt modelId="{9F54231E-ED02-446F-94D6-C1C820D362DC}" type="parTrans" cxnId="{C7D3738F-0C15-469F-A31E-6BFF5547AA4E}">
      <dgm:prSet/>
      <dgm:spPr/>
      <dgm:t>
        <a:bodyPr/>
        <a:lstStyle/>
        <a:p>
          <a:endParaRPr lang="en-US"/>
        </a:p>
      </dgm:t>
    </dgm:pt>
    <dgm:pt modelId="{83ED3DD1-6A32-4FCF-B35D-DDC732CF2FAD}" type="sibTrans" cxnId="{C7D3738F-0C15-469F-A31E-6BFF5547AA4E}">
      <dgm:prSet/>
      <dgm:spPr/>
      <dgm:t>
        <a:bodyPr/>
        <a:lstStyle/>
        <a:p>
          <a:endParaRPr lang="en-US"/>
        </a:p>
      </dgm:t>
    </dgm:pt>
    <dgm:pt modelId="{53769DBB-BC23-4E29-A75F-A4E3902CA0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Currently no regrading available</a:t>
          </a:r>
          <a:br>
            <a:rPr lang="en-US" dirty="0"/>
          </a:br>
          <a:endParaRPr lang="en-US" dirty="0"/>
        </a:p>
      </dgm:t>
    </dgm:pt>
    <dgm:pt modelId="{E84DF40E-D864-4C26-9E6D-716E487C36BC}" type="parTrans" cxnId="{BB7C2017-EC69-4CC0-9810-0B4979597CB2}">
      <dgm:prSet/>
      <dgm:spPr/>
      <dgm:t>
        <a:bodyPr/>
        <a:lstStyle/>
        <a:p>
          <a:endParaRPr lang="en-US"/>
        </a:p>
      </dgm:t>
    </dgm:pt>
    <dgm:pt modelId="{1C2247A7-85ED-40EC-AF79-7D569F4C0C4D}" type="sibTrans" cxnId="{BB7C2017-EC69-4CC0-9810-0B4979597CB2}">
      <dgm:prSet/>
      <dgm:spPr/>
      <dgm:t>
        <a:bodyPr/>
        <a:lstStyle/>
        <a:p>
          <a:endParaRPr lang="en-US"/>
        </a:p>
      </dgm:t>
    </dgm:pt>
    <dgm:pt modelId="{98DD69D2-B61F-42F1-9FBB-689204F6BD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This could change depending on TA bandwidth</a:t>
          </a:r>
        </a:p>
      </dgm:t>
    </dgm:pt>
    <dgm:pt modelId="{45C99890-0C37-4CA0-8E44-F6D617A35C2A}" type="parTrans" cxnId="{D492D13D-78FC-4B3D-B05F-A2935C3F826B}">
      <dgm:prSet/>
      <dgm:spPr/>
      <dgm:t>
        <a:bodyPr/>
        <a:lstStyle/>
        <a:p>
          <a:endParaRPr lang="en-US"/>
        </a:p>
      </dgm:t>
    </dgm:pt>
    <dgm:pt modelId="{21FC3019-CB2A-4517-9D28-775A473BDF53}" type="sibTrans" cxnId="{D492D13D-78FC-4B3D-B05F-A2935C3F826B}">
      <dgm:prSet/>
      <dgm:spPr/>
      <dgm:t>
        <a:bodyPr/>
        <a:lstStyle/>
        <a:p>
          <a:endParaRPr lang="en-US"/>
        </a:p>
      </dgm:t>
    </dgm:pt>
    <dgm:pt modelId="{902AC4A2-C6B4-48BB-BA2A-A8B965AADB13}" type="pres">
      <dgm:prSet presAssocID="{2EA3C6A3-63DF-4D03-9EFC-A502446090AA}" presName="root" presStyleCnt="0">
        <dgm:presLayoutVars>
          <dgm:dir/>
          <dgm:resizeHandles val="exact"/>
        </dgm:presLayoutVars>
      </dgm:prSet>
      <dgm:spPr/>
    </dgm:pt>
    <dgm:pt modelId="{37B293CB-939B-40DA-8DAD-01E9A5B0F3C7}" type="pres">
      <dgm:prSet presAssocID="{7451D989-8EB8-4253-B938-6080943BB49F}" presName="compNode" presStyleCnt="0"/>
      <dgm:spPr/>
    </dgm:pt>
    <dgm:pt modelId="{8438ECB7-D308-4150-8D1B-352D2D8FBF8C}" type="pres">
      <dgm:prSet presAssocID="{7451D989-8EB8-4253-B938-6080943BB49F}" presName="bgRect" presStyleLbl="bgShp" presStyleIdx="0" presStyleCnt="3"/>
      <dgm:spPr/>
    </dgm:pt>
    <dgm:pt modelId="{B4293CBA-1CD8-406A-A5F8-D27DD2936004}" type="pres">
      <dgm:prSet presAssocID="{7451D989-8EB8-4253-B938-6080943BB49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53DE138-8946-4967-AB00-F141B90ACE35}" type="pres">
      <dgm:prSet presAssocID="{7451D989-8EB8-4253-B938-6080943BB49F}" presName="spaceRect" presStyleCnt="0"/>
      <dgm:spPr/>
    </dgm:pt>
    <dgm:pt modelId="{7B309F9D-FFAB-4583-A761-22525C89CA5B}" type="pres">
      <dgm:prSet presAssocID="{7451D989-8EB8-4253-B938-6080943BB49F}" presName="parTx" presStyleLbl="revTx" presStyleIdx="0" presStyleCnt="3">
        <dgm:presLayoutVars>
          <dgm:chMax val="0"/>
          <dgm:chPref val="0"/>
        </dgm:presLayoutVars>
      </dgm:prSet>
      <dgm:spPr/>
    </dgm:pt>
    <dgm:pt modelId="{12FD40C2-C2CE-431B-B86C-C0496DE1009A}" type="pres">
      <dgm:prSet presAssocID="{83ED3DD1-6A32-4FCF-B35D-DDC732CF2FAD}" presName="sibTrans" presStyleCnt="0"/>
      <dgm:spPr/>
    </dgm:pt>
    <dgm:pt modelId="{D3B2607B-B6B7-4284-BD17-18EC9CD802EC}" type="pres">
      <dgm:prSet presAssocID="{53769DBB-BC23-4E29-A75F-A4E3902CA03B}" presName="compNode" presStyleCnt="0"/>
      <dgm:spPr/>
    </dgm:pt>
    <dgm:pt modelId="{9F942935-7A29-45D7-962D-40E18674ABED}" type="pres">
      <dgm:prSet presAssocID="{53769DBB-BC23-4E29-A75F-A4E3902CA03B}" presName="bgRect" presStyleLbl="bgShp" presStyleIdx="1" presStyleCnt="3"/>
      <dgm:spPr/>
    </dgm:pt>
    <dgm:pt modelId="{2867A305-99C7-4534-B256-0C84552FD7BF}" type="pres">
      <dgm:prSet presAssocID="{53769DBB-BC23-4E29-A75F-A4E3902CA0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1338B116-E9FF-4FDF-8AFE-A40194DA4B09}" type="pres">
      <dgm:prSet presAssocID="{53769DBB-BC23-4E29-A75F-A4E3902CA03B}" presName="spaceRect" presStyleCnt="0"/>
      <dgm:spPr/>
    </dgm:pt>
    <dgm:pt modelId="{21672B13-B906-4DCB-A847-556CDDD358B1}" type="pres">
      <dgm:prSet presAssocID="{53769DBB-BC23-4E29-A75F-A4E3902CA03B}" presName="parTx" presStyleLbl="revTx" presStyleIdx="1" presStyleCnt="3">
        <dgm:presLayoutVars>
          <dgm:chMax val="0"/>
          <dgm:chPref val="0"/>
        </dgm:presLayoutVars>
      </dgm:prSet>
      <dgm:spPr/>
    </dgm:pt>
    <dgm:pt modelId="{4F974607-8546-4A22-BD75-A7EBFA793AB4}" type="pres">
      <dgm:prSet presAssocID="{1C2247A7-85ED-40EC-AF79-7D569F4C0C4D}" presName="sibTrans" presStyleCnt="0"/>
      <dgm:spPr/>
    </dgm:pt>
    <dgm:pt modelId="{04515519-B714-4528-9F0C-7BD05414A57E}" type="pres">
      <dgm:prSet presAssocID="{98DD69D2-B61F-42F1-9FBB-689204F6BDC4}" presName="compNode" presStyleCnt="0"/>
      <dgm:spPr/>
    </dgm:pt>
    <dgm:pt modelId="{84951245-063F-4B7B-B12B-78907E07710C}" type="pres">
      <dgm:prSet presAssocID="{98DD69D2-B61F-42F1-9FBB-689204F6BDC4}" presName="bgRect" presStyleLbl="bgShp" presStyleIdx="2" presStyleCnt="3"/>
      <dgm:spPr/>
    </dgm:pt>
    <dgm:pt modelId="{FEEBDAAE-F315-4B7D-B655-0E5AB334F825}" type="pres">
      <dgm:prSet presAssocID="{98DD69D2-B61F-42F1-9FBB-689204F6BDC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8B23708-17F6-4227-9C64-62001BB89388}" type="pres">
      <dgm:prSet presAssocID="{98DD69D2-B61F-42F1-9FBB-689204F6BDC4}" presName="spaceRect" presStyleCnt="0"/>
      <dgm:spPr/>
    </dgm:pt>
    <dgm:pt modelId="{A0B1CF52-2ADA-4053-9565-345188F32655}" type="pres">
      <dgm:prSet presAssocID="{98DD69D2-B61F-42F1-9FBB-689204F6BDC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B7C2017-EC69-4CC0-9810-0B4979597CB2}" srcId="{2EA3C6A3-63DF-4D03-9EFC-A502446090AA}" destId="{53769DBB-BC23-4E29-A75F-A4E3902CA03B}" srcOrd="1" destOrd="0" parTransId="{E84DF40E-D864-4C26-9E6D-716E487C36BC}" sibTransId="{1C2247A7-85ED-40EC-AF79-7D569F4C0C4D}"/>
    <dgm:cxn modelId="{D492D13D-78FC-4B3D-B05F-A2935C3F826B}" srcId="{2EA3C6A3-63DF-4D03-9EFC-A502446090AA}" destId="{98DD69D2-B61F-42F1-9FBB-689204F6BDC4}" srcOrd="2" destOrd="0" parTransId="{45C99890-0C37-4CA0-8E44-F6D617A35C2A}" sibTransId="{21FC3019-CB2A-4517-9D28-775A473BDF53}"/>
    <dgm:cxn modelId="{84B53F73-57A3-43FC-8115-FC02526FE0B0}" type="presOf" srcId="{98DD69D2-B61F-42F1-9FBB-689204F6BDC4}" destId="{A0B1CF52-2ADA-4053-9565-345188F32655}" srcOrd="0" destOrd="0" presId="urn:microsoft.com/office/officeart/2018/2/layout/IconVerticalSolidList"/>
    <dgm:cxn modelId="{1B7CF987-29FD-44F8-B299-45E1B7992BF3}" type="presOf" srcId="{2EA3C6A3-63DF-4D03-9EFC-A502446090AA}" destId="{902AC4A2-C6B4-48BB-BA2A-A8B965AADB13}" srcOrd="0" destOrd="0" presId="urn:microsoft.com/office/officeart/2018/2/layout/IconVerticalSolidList"/>
    <dgm:cxn modelId="{C7D3738F-0C15-469F-A31E-6BFF5547AA4E}" srcId="{2EA3C6A3-63DF-4D03-9EFC-A502446090AA}" destId="{7451D989-8EB8-4253-B938-6080943BB49F}" srcOrd="0" destOrd="0" parTransId="{9F54231E-ED02-446F-94D6-C1C820D362DC}" sibTransId="{83ED3DD1-6A32-4FCF-B35D-DDC732CF2FAD}"/>
    <dgm:cxn modelId="{BB93C4A2-3739-45CE-81DD-2E71062D430F}" type="presOf" srcId="{7451D989-8EB8-4253-B938-6080943BB49F}" destId="{7B309F9D-FFAB-4583-A761-22525C89CA5B}" srcOrd="0" destOrd="0" presId="urn:microsoft.com/office/officeart/2018/2/layout/IconVerticalSolidList"/>
    <dgm:cxn modelId="{166025ED-0647-478F-BAD6-FA1ABAAA1D9D}" type="presOf" srcId="{53769DBB-BC23-4E29-A75F-A4E3902CA03B}" destId="{21672B13-B906-4DCB-A847-556CDDD358B1}" srcOrd="0" destOrd="0" presId="urn:microsoft.com/office/officeart/2018/2/layout/IconVerticalSolidList"/>
    <dgm:cxn modelId="{ACF53A0C-9C31-4797-B605-027238032FA0}" type="presParOf" srcId="{902AC4A2-C6B4-48BB-BA2A-A8B965AADB13}" destId="{37B293CB-939B-40DA-8DAD-01E9A5B0F3C7}" srcOrd="0" destOrd="0" presId="urn:microsoft.com/office/officeart/2018/2/layout/IconVerticalSolidList"/>
    <dgm:cxn modelId="{906F62C0-4279-4BC9-A76D-822CDD5C6C71}" type="presParOf" srcId="{37B293CB-939B-40DA-8DAD-01E9A5B0F3C7}" destId="{8438ECB7-D308-4150-8D1B-352D2D8FBF8C}" srcOrd="0" destOrd="0" presId="urn:microsoft.com/office/officeart/2018/2/layout/IconVerticalSolidList"/>
    <dgm:cxn modelId="{C9E7EACF-2CC1-456A-B3F9-194B7BB8DC3D}" type="presParOf" srcId="{37B293CB-939B-40DA-8DAD-01E9A5B0F3C7}" destId="{B4293CBA-1CD8-406A-A5F8-D27DD2936004}" srcOrd="1" destOrd="0" presId="urn:microsoft.com/office/officeart/2018/2/layout/IconVerticalSolidList"/>
    <dgm:cxn modelId="{939E1999-B528-4885-9664-F5D75AC3E306}" type="presParOf" srcId="{37B293CB-939B-40DA-8DAD-01E9A5B0F3C7}" destId="{053DE138-8946-4967-AB00-F141B90ACE35}" srcOrd="2" destOrd="0" presId="urn:microsoft.com/office/officeart/2018/2/layout/IconVerticalSolidList"/>
    <dgm:cxn modelId="{866AF0A6-4F86-44FC-AAC0-CB6DC465D7A8}" type="presParOf" srcId="{37B293CB-939B-40DA-8DAD-01E9A5B0F3C7}" destId="{7B309F9D-FFAB-4583-A761-22525C89CA5B}" srcOrd="3" destOrd="0" presId="urn:microsoft.com/office/officeart/2018/2/layout/IconVerticalSolidList"/>
    <dgm:cxn modelId="{41B316D0-ACC7-44DE-BAF0-3E89A444313C}" type="presParOf" srcId="{902AC4A2-C6B4-48BB-BA2A-A8B965AADB13}" destId="{12FD40C2-C2CE-431B-B86C-C0496DE1009A}" srcOrd="1" destOrd="0" presId="urn:microsoft.com/office/officeart/2018/2/layout/IconVerticalSolidList"/>
    <dgm:cxn modelId="{EA501FA9-D5A4-4FEB-A63E-4B34B23B1FF6}" type="presParOf" srcId="{902AC4A2-C6B4-48BB-BA2A-A8B965AADB13}" destId="{D3B2607B-B6B7-4284-BD17-18EC9CD802EC}" srcOrd="2" destOrd="0" presId="urn:microsoft.com/office/officeart/2018/2/layout/IconVerticalSolidList"/>
    <dgm:cxn modelId="{B65B8421-F5AD-4A3B-A8B3-1A64D5144064}" type="presParOf" srcId="{D3B2607B-B6B7-4284-BD17-18EC9CD802EC}" destId="{9F942935-7A29-45D7-962D-40E18674ABED}" srcOrd="0" destOrd="0" presId="urn:microsoft.com/office/officeart/2018/2/layout/IconVerticalSolidList"/>
    <dgm:cxn modelId="{D59D6C90-F1E2-4DB6-98EA-85B3F8C68D6C}" type="presParOf" srcId="{D3B2607B-B6B7-4284-BD17-18EC9CD802EC}" destId="{2867A305-99C7-4534-B256-0C84552FD7BF}" srcOrd="1" destOrd="0" presId="urn:microsoft.com/office/officeart/2018/2/layout/IconVerticalSolidList"/>
    <dgm:cxn modelId="{0EEE8C1F-C341-4015-96F2-38CE2D13B663}" type="presParOf" srcId="{D3B2607B-B6B7-4284-BD17-18EC9CD802EC}" destId="{1338B116-E9FF-4FDF-8AFE-A40194DA4B09}" srcOrd="2" destOrd="0" presId="urn:microsoft.com/office/officeart/2018/2/layout/IconVerticalSolidList"/>
    <dgm:cxn modelId="{D483134F-A6DE-47D1-B945-A756EDD2F25F}" type="presParOf" srcId="{D3B2607B-B6B7-4284-BD17-18EC9CD802EC}" destId="{21672B13-B906-4DCB-A847-556CDDD358B1}" srcOrd="3" destOrd="0" presId="urn:microsoft.com/office/officeart/2018/2/layout/IconVerticalSolidList"/>
    <dgm:cxn modelId="{4632F757-C0FC-402A-90A2-B521BC099AB7}" type="presParOf" srcId="{902AC4A2-C6B4-48BB-BA2A-A8B965AADB13}" destId="{4F974607-8546-4A22-BD75-A7EBFA793AB4}" srcOrd="3" destOrd="0" presId="urn:microsoft.com/office/officeart/2018/2/layout/IconVerticalSolidList"/>
    <dgm:cxn modelId="{C6845615-2544-417A-9BE8-0E3707919223}" type="presParOf" srcId="{902AC4A2-C6B4-48BB-BA2A-A8B965AADB13}" destId="{04515519-B714-4528-9F0C-7BD05414A57E}" srcOrd="4" destOrd="0" presId="urn:microsoft.com/office/officeart/2018/2/layout/IconVerticalSolidList"/>
    <dgm:cxn modelId="{E6A4E61A-0C34-4845-A9E4-A5F12E943DB3}" type="presParOf" srcId="{04515519-B714-4528-9F0C-7BD05414A57E}" destId="{84951245-063F-4B7B-B12B-78907E07710C}" srcOrd="0" destOrd="0" presId="urn:microsoft.com/office/officeart/2018/2/layout/IconVerticalSolidList"/>
    <dgm:cxn modelId="{20E6111E-BE3D-4EA8-B5B2-3B05E35A86EA}" type="presParOf" srcId="{04515519-B714-4528-9F0C-7BD05414A57E}" destId="{FEEBDAAE-F315-4B7D-B655-0E5AB334F825}" srcOrd="1" destOrd="0" presId="urn:microsoft.com/office/officeart/2018/2/layout/IconVerticalSolidList"/>
    <dgm:cxn modelId="{AD4A3C17-69B6-499E-9840-E72A38C3D2C7}" type="presParOf" srcId="{04515519-B714-4528-9F0C-7BD05414A57E}" destId="{48B23708-17F6-4227-9C64-62001BB89388}" srcOrd="2" destOrd="0" presId="urn:microsoft.com/office/officeart/2018/2/layout/IconVerticalSolidList"/>
    <dgm:cxn modelId="{E945F94C-A6DD-4298-9075-16B1CBD8B4FB}" type="presParOf" srcId="{04515519-B714-4528-9F0C-7BD05414A57E}" destId="{A0B1CF52-2ADA-4053-9565-345188F3265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38ECB7-D308-4150-8D1B-352D2D8FBF8C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293CBA-1CD8-406A-A5F8-D27DD2936004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309F9D-FFAB-4583-A761-22525C89CA5B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Due 11:59 EST night before class</a:t>
          </a:r>
        </a:p>
      </dsp:txBody>
      <dsp:txXfrm>
        <a:off x="1435590" y="531"/>
        <a:ext cx="9080009" cy="1242935"/>
      </dsp:txXfrm>
    </dsp:sp>
    <dsp:sp modelId="{9F942935-7A29-45D7-962D-40E18674ABED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67A305-99C7-4534-B256-0C84552FD7BF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672B13-B906-4DCB-A847-556CDDD358B1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Currently no regrading available</a:t>
          </a:r>
          <a:br>
            <a:rPr lang="en-US" sz="2500" kern="1200" dirty="0"/>
          </a:br>
          <a:endParaRPr lang="en-US" sz="2500" kern="1200" dirty="0"/>
        </a:p>
      </dsp:txBody>
      <dsp:txXfrm>
        <a:off x="1435590" y="1554201"/>
        <a:ext cx="9080009" cy="1242935"/>
      </dsp:txXfrm>
    </dsp:sp>
    <dsp:sp modelId="{84951245-063F-4B7B-B12B-78907E07710C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EEBDAAE-F315-4B7D-B655-0E5AB334F825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B1CF52-2ADA-4053-9565-345188F32655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This could change depending on TA bandwidth</a:t>
          </a:r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990EF0-34FA-C242-B1C3-DA2114B8E338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5265B-B13E-5646-BD4B-DAADFB6A902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72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85265B-B13E-5646-BD4B-DAADFB6A902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402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4539-205C-8F46-B98C-10D0225414E9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2487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4F84539-205C-8F46-B98C-10D0225414E9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469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98068-90A8-1C31-0946-1246960C32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86B413-5379-61DA-54B9-22E8CD5C5E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9183E-FA89-0053-A854-56AAD0A58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705642-CC6A-DE39-436E-7AD2CFC22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305BB-CB77-316E-D1B1-6C796C02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1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5F9AB-70D2-3F8F-2727-FC0B3D8E0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B45E0-4B20-CEA5-46FE-6A1287184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47E9B7-414E-5B50-8230-CC6568254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B5F66F-2579-66B9-9707-B8200A2D5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18AC-F8A6-5C48-1BC8-01B5B0371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311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D529D-BC57-B1C6-F5FC-0D5A97DE1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73BFAF-C0D2-1170-F532-B5C471755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64F1E-59A1-4A2D-9AB6-2CE519BF4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15F99-1DA6-CBB9-E1DB-B9CD5C70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CE7FF-4F8D-568D-36BF-B233D8C25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1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9F815-F1D9-34B4-FFB3-BC121641F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A7326-A829-A5A8-68AF-F21AC801D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01BB8-DAC7-CCE0-1BEF-EAB094A9F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090FA-6ACE-AAA6-E556-6845B3158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D9CBB-98D9-F6C2-36C8-68E1C34F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AC7C-1CD6-81A9-DE22-0EE0358E0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601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11166-A009-24A9-21BA-DE0A2751F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57790-6C49-4992-FB14-11E9ECEDDD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A682B3-FF19-5810-0A54-C21C9F82F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0686BD-EBEF-5905-6235-8343C43DBD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B85FE5-AA6D-A96D-4325-342E0B8FD9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EB9E7-4BE7-367D-03E5-0245891AA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B6833-B028-C131-9F7A-7ECCFACB2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1176C0-4920-67C1-6086-F61569B1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006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801C6-D04F-309E-278F-DFCC6A84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270CCD-2551-1472-9D17-893F9E0D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1B834-B680-7F0E-D856-BEFA1155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551C-2C06-E3AD-8947-07E339E8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8932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45E66-F680-5849-FFE6-987BDCC34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6D13C4-9DD6-BD40-F01B-7D4DA0841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52266-5CAB-82D5-4CC5-052A9EF29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694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F75DF-AD50-AEA1-0BD2-D557F0CEF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08436-B070-3CD7-82F2-CDAA7C3D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E68C7-1788-2614-BFED-BBEAEF82C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52191-68A6-C134-B6BF-39CF0CFD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E929B-2642-A656-B5BF-B3FC4CD7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B04FDF-8F02-AB8A-4B0B-0E77449D3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240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7D50-7DF0-DA3E-D284-2063A395E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60A53-655B-B3E4-9815-B3EFCEF929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61943B-446F-9E43-9556-43ED66048B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8EDBE-A6EB-1472-9F8D-83C7B3F9D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F7F8EB-19E8-EF7D-D52E-CED9F7F50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CF17F-A424-B7A2-BD47-351C944B2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5640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3DDAC-47DA-B00B-A551-47BFC54F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BF8CC-DB39-0405-0F96-E3AB385C9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29492-1184-8BAC-C497-46362D5E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DA8D4-78B7-1838-032D-C19357684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AAC15-CFE6-5329-0C11-47738E7C3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0529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1FCC04-F06D-4FFF-50DA-0FA7F700FB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B1D9D1-9D76-76F5-FBE5-E984AF8677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539C6-01AE-7A9D-AA60-154FDB047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56D44-0B2B-EA44-30D9-E43A1BF26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9D3D7-0443-98A5-675A-A67EC727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644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4DDFB3-CA27-8B8E-6104-D6BD8072F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389CB4-0415-8D76-EECA-616F80C63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04795-50EC-1DAC-3628-4BC68BDCB1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C6C6E7-F17F-154B-AE90-E6C04E77AF4D}" type="datetimeFigureOut">
              <a:rPr lang="en-US" smtClean="0"/>
              <a:t>1/8/26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6D5F1-6DAD-2C37-14A4-670482ECE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AB967-1E25-BD20-730F-F7D0F7EA6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23E4B7-525F-7343-8FC5-6B80481D57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589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EFAA-1049-C45E-B7A1-43710E6B2D4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Welcome to </a:t>
            </a:r>
            <a:br>
              <a:rPr lang="en-US" dirty="0"/>
            </a:br>
            <a:r>
              <a:rPr lang="en-US" dirty="0"/>
              <a:t>CS5002</a:t>
            </a:r>
            <a:br>
              <a:rPr lang="en-US" dirty="0"/>
            </a:br>
            <a:r>
              <a:rPr lang="en-US" dirty="0"/>
              <a:t>Discrete Mathematics </a:t>
            </a:r>
            <a:br>
              <a:rPr lang="en-US" dirty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156F453B-8563-4AA6-D8AF-2A54207DB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90612"/>
            <a:ext cx="9144000" cy="1655762"/>
          </a:xfrm>
        </p:spPr>
        <p:txBody>
          <a:bodyPr/>
          <a:lstStyle/>
          <a:p>
            <a:r>
              <a:rPr lang="en-US" dirty="0"/>
              <a:t>I’m Dr. Molly Domino (she/her)</a:t>
            </a:r>
          </a:p>
          <a:p>
            <a:r>
              <a:rPr lang="en-US" dirty="0"/>
              <a:t>PhD in CS With a focus on Digital Ed. </a:t>
            </a:r>
          </a:p>
          <a:p>
            <a:r>
              <a:rPr lang="en-US" dirty="0"/>
              <a:t>BA in CS and English Literature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FF013-AC9A-2DB2-F626-9B2BE3996736}"/>
              </a:ext>
            </a:extLst>
          </p:cNvPr>
          <p:cNvSpPr txBox="1"/>
          <p:nvPr/>
        </p:nvSpPr>
        <p:spPr>
          <a:xfrm>
            <a:off x="0" y="6488668"/>
            <a:ext cx="3152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Before introductions though…</a:t>
            </a:r>
          </a:p>
        </p:txBody>
      </p:sp>
    </p:spTree>
    <p:extLst>
      <p:ext uri="{BB962C8B-B14F-4D97-AF65-F5344CB8AC3E}">
        <p14:creationId xmlns:p14="http://schemas.microsoft.com/office/powerpoint/2010/main" val="82732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9811E-D9BF-BB27-3932-A9791F8EA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5400" dirty="0"/>
              <a:t>Lets talk about Math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5A986764-4A28-3289-F71C-A489ABCE7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3304" y="4717184"/>
            <a:ext cx="4192261" cy="204045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Use the QR code above 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OR</a:t>
            </a:r>
            <a:br>
              <a:rPr lang="en-US" sz="2200" dirty="0"/>
            </a:br>
            <a:br>
              <a:rPr lang="en-US" sz="2200" dirty="0"/>
            </a:br>
            <a:r>
              <a:rPr lang="en-US" sz="2200" dirty="0"/>
              <a:t>Go to menti.com </a:t>
            </a:r>
            <a:br>
              <a:rPr lang="en-US" sz="2200" dirty="0"/>
            </a:br>
            <a:r>
              <a:rPr lang="en-US" sz="2200" dirty="0"/>
              <a:t>      Enter code:  </a:t>
            </a:r>
            <a:r>
              <a:rPr lang="en-US" sz="2400" dirty="0"/>
              <a:t>3764 6859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D81BE-810A-5E0A-AC43-D75735954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303" y="314168"/>
            <a:ext cx="4192262" cy="408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763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6" name="Rectangle 6165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C1A8CC-BB7C-ED4E-5562-9DD29F57E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/>
              <a:t>Introduce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9A391-A020-38AB-4203-49E6FCA9DB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4127"/>
            <a:ext cx="4619621" cy="4650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Go around and share the following:</a:t>
            </a:r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AutoNum type="arabicPeriod"/>
            </a:pPr>
            <a:r>
              <a:rPr lang="en-US" sz="2000" dirty="0"/>
              <a:t>Name (and nickname?)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sz="2000" dirty="0"/>
              <a:t>Pronouns</a:t>
            </a:r>
          </a:p>
          <a:p>
            <a:pPr marL="514350" indent="-514350">
              <a:buAutoNum type="arabicPeriod"/>
            </a:pPr>
            <a:r>
              <a:rPr lang="en-US" sz="2000" dirty="0"/>
              <a:t>One piece of media you’ve enjoyed lately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Show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Movie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Book 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Song/Album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Game</a:t>
            </a:r>
          </a:p>
          <a:p>
            <a:pPr marL="971550" lvl="1" indent="-514350">
              <a:buAutoNum type="arabicPeriod"/>
            </a:pPr>
            <a:r>
              <a:rPr lang="en-US" sz="2000" dirty="0"/>
              <a:t>Shortform Digital Video </a:t>
            </a:r>
          </a:p>
        </p:txBody>
      </p:sp>
      <p:pic>
        <p:nvPicPr>
          <p:cNvPr id="6146" name="Picture 2" descr="Foxlore (Digital Download) — The Crane Wives">
            <a:extLst>
              <a:ext uri="{FF2B5EF4-FFF2-40B4-BE49-F238E27FC236}">
                <a16:creationId xmlns:a16="http://schemas.microsoft.com/office/drawing/2014/main" id="{72F562F4-453D-6E68-CD02-8E6930624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2" r="10342"/>
          <a:stretch>
            <a:fillRect/>
          </a:stretch>
        </p:blipFill>
        <p:spPr bwMode="auto"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45307-8C08-0A86-A413-DBA3F0A533BB}"/>
              </a:ext>
            </a:extLst>
          </p:cNvPr>
          <p:cNvSpPr txBox="1"/>
          <p:nvPr/>
        </p:nvSpPr>
        <p:spPr>
          <a:xfrm>
            <a:off x="-18936" y="6617130"/>
            <a:ext cx="53145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I swear I’m listening – I’m just also franticly writing everything down</a:t>
            </a:r>
          </a:p>
        </p:txBody>
      </p:sp>
    </p:spTree>
    <p:extLst>
      <p:ext uri="{BB962C8B-B14F-4D97-AF65-F5344CB8AC3E}">
        <p14:creationId xmlns:p14="http://schemas.microsoft.com/office/powerpoint/2010/main" val="214843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622B-E954-C27C-CBD1-1CB994EC7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relationship with Math/CS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F469-93DC-5532-C912-172C96BEB0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In Highschool</a:t>
            </a:r>
          </a:p>
          <a:p>
            <a:pPr lvl="1"/>
            <a:r>
              <a:rPr lang="en-US" dirty="0"/>
              <a:t>B student in the easier math classes</a:t>
            </a:r>
          </a:p>
          <a:p>
            <a:pPr lvl="1"/>
            <a:r>
              <a:rPr lang="en-US" dirty="0"/>
              <a:t>Very much had an identity of “not being a math person”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College</a:t>
            </a:r>
          </a:p>
          <a:p>
            <a:pPr lvl="1"/>
            <a:r>
              <a:rPr lang="en-US" dirty="0"/>
              <a:t>Took CS 101 to complete a math credit for my degree</a:t>
            </a:r>
          </a:p>
          <a:p>
            <a:pPr lvl="2"/>
            <a:r>
              <a:rPr lang="en-US" dirty="0"/>
              <a:t>It didn’t have MATH in the prefix</a:t>
            </a:r>
          </a:p>
          <a:p>
            <a:pPr lvl="1"/>
            <a:r>
              <a:rPr lang="en-US" dirty="0"/>
              <a:t>Decided to stop when I stopped enjoying the subject</a:t>
            </a:r>
          </a:p>
          <a:p>
            <a:pPr lvl="2"/>
            <a:r>
              <a:rPr lang="en-US" dirty="0"/>
              <a:t>Maybe a minor?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I now have a doctorate…?</a:t>
            </a:r>
          </a:p>
        </p:txBody>
      </p:sp>
    </p:spTree>
    <p:extLst>
      <p:ext uri="{BB962C8B-B14F-4D97-AF65-F5344CB8AC3E}">
        <p14:creationId xmlns:p14="http://schemas.microsoft.com/office/powerpoint/2010/main" val="2297752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62D36-B321-EB2C-95F5-AC6080BC4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522F4-19C9-1B38-7E32-2433C5B1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relationship with Math/CS</a:t>
            </a:r>
            <a:br>
              <a:rPr lang="en-US" dirty="0"/>
            </a:br>
            <a:r>
              <a:rPr lang="en-US" dirty="0"/>
              <a:t>And why it matters for the ALIGN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E01F0-4DDB-D640-CDBA-C6DE78DD0F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I mean </a:t>
            </a:r>
          </a:p>
          <a:p>
            <a:pPr lvl="1"/>
            <a:r>
              <a:rPr lang="en-US" dirty="0"/>
              <a:t>If I can do it YOU can</a:t>
            </a:r>
          </a:p>
          <a:p>
            <a:endParaRPr lang="en-US" dirty="0"/>
          </a:p>
          <a:p>
            <a:r>
              <a:rPr lang="en-US" dirty="0"/>
              <a:t>Math in high school is often Calculus Prep </a:t>
            </a:r>
          </a:p>
          <a:p>
            <a:pPr lvl="1"/>
            <a:r>
              <a:rPr lang="en-US" dirty="0"/>
              <a:t>There is a lot of math OUTSIDE of that world</a:t>
            </a:r>
          </a:p>
          <a:p>
            <a:pPr lvl="1"/>
            <a:r>
              <a:rPr lang="en-US" dirty="0"/>
              <a:t>Nobody told me that</a:t>
            </a:r>
          </a:p>
          <a:p>
            <a:endParaRPr lang="en-US" dirty="0"/>
          </a:p>
          <a:p>
            <a:r>
              <a:rPr lang="en-US" dirty="0"/>
              <a:t>Don’t identify with what you’re bad at</a:t>
            </a:r>
          </a:p>
          <a:p>
            <a:pPr lvl="1"/>
            <a:r>
              <a:rPr lang="en-US" dirty="0"/>
              <a:t>Everyone can learn a new (hard?) thing</a:t>
            </a:r>
          </a:p>
          <a:p>
            <a:pPr lvl="1"/>
            <a:r>
              <a:rPr lang="en-US" dirty="0"/>
              <a:t>Maybe you’ll even discover it’s not so bad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903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95E94D-999F-3E00-6B75-EEFCFBCB58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1074" y="1396686"/>
            <a:ext cx="3240506" cy="40646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Policies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C5E28-8EB7-EC68-FD53-93C0DA6CFB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0153" y="1526033"/>
            <a:ext cx="5536397" cy="3935281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Mostly in the syllabus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/>
              <a:t>Which you’re reading for your homework</a:t>
            </a:r>
            <a:br>
              <a:rPr lang="en-US" dirty="0"/>
            </a:br>
            <a:endParaRPr lang="en-US" dirty="0"/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dirty="0"/>
              <a:t>Most importantly</a:t>
            </a: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/>
              <a:t>I want to help you learn and succeed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dirty="0"/>
              <a:t>Let me know how I can help and I will</a:t>
            </a:r>
            <a:br>
              <a:rPr lang="en-US" dirty="0"/>
            </a:br>
            <a:endParaRPr lang="en-US" dirty="0"/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n-US" dirty="0"/>
              <a:t>All policies </a:t>
            </a:r>
            <a:r>
              <a:rPr lang="en-US" i="1" dirty="0"/>
              <a:t>can</a:t>
            </a:r>
            <a:r>
              <a:rPr lang="en-US" dirty="0"/>
              <a:t> be changed</a:t>
            </a:r>
          </a:p>
          <a:p>
            <a:pPr lvl="2" indent="-228600" algn="l">
              <a:buFont typeface="Arial" panose="020B0604020202020204" pitchFamily="34" charset="0"/>
              <a:buChar char="•"/>
            </a:pPr>
            <a:r>
              <a:rPr lang="en-US" dirty="0"/>
              <a:t>I will if I see folks gaming the system </a:t>
            </a:r>
          </a:p>
        </p:txBody>
      </p:sp>
    </p:spTree>
    <p:extLst>
      <p:ext uri="{BB962C8B-B14F-4D97-AF65-F5344CB8AC3E}">
        <p14:creationId xmlns:p14="http://schemas.microsoft.com/office/powerpoint/2010/main" val="2209817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0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4D8B36-1F18-7F6D-8D2C-0E180ED3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Attendance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FD159-2958-536E-DE19-5F35DBB2D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1332" y="397566"/>
            <a:ext cx="7770668" cy="6460434"/>
          </a:xfrm>
        </p:spPr>
        <p:txBody>
          <a:bodyPr vert="horz" lIns="91440" tIns="45720" rIns="91440" bIns="45720" rtlCol="0">
            <a:noAutofit/>
          </a:bodyPr>
          <a:lstStyle/>
          <a:p>
            <a:r>
              <a:rPr lang="en-US" sz="2400" dirty="0"/>
              <a:t>In person or over zoom</a:t>
            </a:r>
          </a:p>
          <a:p>
            <a:pPr lvl="1"/>
            <a:r>
              <a:rPr lang="en-US" sz="2000" dirty="0"/>
              <a:t>F1 visa holders primarily in person</a:t>
            </a:r>
          </a:p>
          <a:p>
            <a:pPr lvl="1"/>
            <a:r>
              <a:rPr lang="en-US" sz="2000" dirty="0"/>
              <a:t>Prioritize your safety (Ex. Illness, Maine Weather)</a:t>
            </a:r>
          </a:p>
          <a:p>
            <a:endParaRPr lang="en-US" sz="2000" dirty="0"/>
          </a:p>
          <a:p>
            <a:r>
              <a:rPr lang="en-US" sz="2400" dirty="0"/>
              <a:t>Coming to class is necessary most of the time</a:t>
            </a:r>
          </a:p>
          <a:p>
            <a:pPr lvl="1"/>
            <a:r>
              <a:rPr lang="en-US" sz="2000" dirty="0"/>
              <a:t>There’s a quiz* at the start of class most days</a:t>
            </a:r>
          </a:p>
          <a:p>
            <a:endParaRPr lang="en-US" sz="2000" dirty="0"/>
          </a:p>
          <a:p>
            <a:r>
              <a:rPr lang="en-US" sz="2400" dirty="0"/>
              <a:t>I’d like an email from you if you can’t make it</a:t>
            </a:r>
          </a:p>
          <a:p>
            <a:pPr lvl="1"/>
            <a:r>
              <a:rPr lang="en-US" sz="2000" dirty="0"/>
              <a:t>At least 24 hours prior</a:t>
            </a:r>
          </a:p>
          <a:p>
            <a:pPr lvl="2"/>
            <a:r>
              <a:rPr lang="en-US" dirty="0"/>
              <a:t>Some flexibility for emergencies</a:t>
            </a:r>
          </a:p>
          <a:p>
            <a:pPr lvl="1"/>
            <a:r>
              <a:rPr lang="en-US" sz="2000" dirty="0"/>
              <a:t>Lectures are always recorded and available on request</a:t>
            </a:r>
            <a:br>
              <a:rPr lang="en-US" sz="2000" dirty="0"/>
            </a:br>
            <a:endParaRPr lang="en-US" sz="2000" dirty="0"/>
          </a:p>
          <a:p>
            <a:r>
              <a:rPr lang="en-US" sz="2400" dirty="0"/>
              <a:t>Come ready to participate</a:t>
            </a:r>
          </a:p>
          <a:p>
            <a:pPr lvl="1"/>
            <a:r>
              <a:rPr lang="en-US" sz="2000" dirty="0"/>
              <a:t>If you can’t, I’d rather you take time for yourself </a:t>
            </a:r>
          </a:p>
          <a:p>
            <a:pPr lvl="2"/>
            <a:r>
              <a:rPr lang="en-US" dirty="0"/>
              <a:t>You’ll be able to make up the quiz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55D5C8-E889-11C8-BACE-773AFC16C4D9}"/>
              </a:ext>
            </a:extLst>
          </p:cNvPr>
          <p:cNvSpPr txBox="1"/>
          <p:nvPr/>
        </p:nvSpPr>
        <p:spPr>
          <a:xfrm>
            <a:off x="9075292" y="6664286"/>
            <a:ext cx="5368839" cy="3874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dirty="0"/>
              <a:t>*don’t panic – more on this in a bit</a:t>
            </a:r>
          </a:p>
        </p:txBody>
      </p:sp>
    </p:spTree>
    <p:extLst>
      <p:ext uri="{BB962C8B-B14F-4D97-AF65-F5344CB8AC3E}">
        <p14:creationId xmlns:p14="http://schemas.microsoft.com/office/powerpoint/2010/main" val="2517436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B36F400F-DF28-43BC-8D8E-4929793B3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alpha val="15000"/>
            </a:schemeClr>
          </a:solidFill>
          <a:ln w="127000" cap="sq" cmpd="thinThick">
            <a:solidFill>
              <a:schemeClr val="tx1"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70DD6-DB95-0E47-997B-E95B1CF26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8377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Quiz / Exam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EF96BC-D203-9A63-BF44-3F6D3AB51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7456"/>
            <a:ext cx="10515600" cy="379574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400" dirty="0"/>
              <a:t>Gotta be here to take it</a:t>
            </a:r>
          </a:p>
          <a:p>
            <a:endParaRPr lang="en-US" sz="2400" dirty="0"/>
          </a:p>
          <a:p>
            <a:r>
              <a:rPr lang="en-US" sz="2400" dirty="0"/>
              <a:t>As low stress as I can make them</a:t>
            </a:r>
          </a:p>
          <a:p>
            <a:pPr lvl="1"/>
            <a:r>
              <a:rPr lang="en-US" sz="2200" dirty="0"/>
              <a:t>Come and give a good effort in class</a:t>
            </a:r>
          </a:p>
          <a:p>
            <a:pPr lvl="1"/>
            <a:r>
              <a:rPr lang="en-US" sz="2200" dirty="0"/>
              <a:t>When you get your grade, you can write up a report on the wrong answers</a:t>
            </a:r>
          </a:p>
          <a:p>
            <a:pPr lvl="1"/>
            <a:r>
              <a:rPr lang="en-US" sz="2200" dirty="0"/>
              <a:t>Recoup 75% of lost points</a:t>
            </a:r>
          </a:p>
          <a:p>
            <a:pPr lvl="2"/>
            <a:r>
              <a:rPr lang="en-US" sz="2200" dirty="0"/>
              <a:t>So a 63 can still become a 90</a:t>
            </a:r>
          </a:p>
          <a:p>
            <a:pPr lvl="2"/>
            <a:endParaRPr lang="en-US" sz="2200" dirty="0"/>
          </a:p>
          <a:p>
            <a:pPr marL="0"/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85370-01F2-36E6-D406-117D5B5C387C}"/>
              </a:ext>
            </a:extLst>
          </p:cNvPr>
          <p:cNvSpPr txBox="1"/>
          <p:nvPr/>
        </p:nvSpPr>
        <p:spPr>
          <a:xfrm>
            <a:off x="2452646" y="6537960"/>
            <a:ext cx="10703450" cy="37957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/>
              <a:t>This policy could be revised mid-semester depending on how it works out</a:t>
            </a:r>
          </a:p>
        </p:txBody>
      </p:sp>
    </p:spTree>
    <p:extLst>
      <p:ext uri="{BB962C8B-B14F-4D97-AF65-F5344CB8AC3E}">
        <p14:creationId xmlns:p14="http://schemas.microsoft.com/office/powerpoint/2010/main" val="3353857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D16B8-67F3-D07D-5866-8030A6664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Homework Policy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B40D9AF-7EB6-7735-B411-16A8694E6E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169323"/>
              </p:ext>
            </p:extLst>
          </p:nvPr>
        </p:nvGraphicFramePr>
        <p:xfrm>
          <a:off x="838200" y="181237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2321346-2DC6-8DFE-6B4D-D86D05E8AC66}"/>
              </a:ext>
            </a:extLst>
          </p:cNvPr>
          <p:cNvSpPr txBox="1"/>
          <p:nvPr/>
        </p:nvSpPr>
        <p:spPr>
          <a:xfrm>
            <a:off x="4573376" y="6492875"/>
            <a:ext cx="7618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teach Tuesday night so last minute questions will not be answered in time!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864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87E473-30C8-95F7-7656-FD8F9EEA7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96" y="0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Late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04B1B-613B-6FFD-463C-166C929616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896" y="1103971"/>
            <a:ext cx="6556917" cy="575402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tx2"/>
                </a:solidFill>
              </a:rPr>
              <a:t>Life gets in the way but communication is important</a:t>
            </a:r>
            <a:br>
              <a:rPr lang="en-US" sz="2400" dirty="0">
                <a:solidFill>
                  <a:schemeClr val="tx2"/>
                </a:solidFill>
              </a:rPr>
            </a:b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Email me 24 hours in advance (minimum) if you need more time</a:t>
            </a:r>
          </a:p>
          <a:p>
            <a:pPr lvl="1"/>
            <a:r>
              <a:rPr lang="en-US" dirty="0">
                <a:solidFill>
                  <a:schemeClr val="tx2"/>
                </a:solidFill>
              </a:rPr>
              <a:t>Allowances for emergencies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Include a proposed date of when you can complete the work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I’d rather you take another day and learn over cheating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Envelope">
            <a:extLst>
              <a:ext uri="{FF2B5EF4-FFF2-40B4-BE49-F238E27FC236}">
                <a16:creationId xmlns:a16="http://schemas.microsoft.com/office/drawing/2014/main" id="{14277927-F277-D6E7-5112-68C85F0CF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896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A27771-DC34-D934-759D-4EDFC8B53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7200" dirty="0"/>
              <a:t>Plagiarism polices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2C48A-4794-90C8-4526-341A42C78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I can’t make a perfect “no cheating” policy</a:t>
            </a:r>
          </a:p>
          <a:p>
            <a:pPr lvl="1"/>
            <a:r>
              <a:rPr lang="en-US" dirty="0"/>
              <a:t>As much as I’d like to</a:t>
            </a:r>
          </a:p>
          <a:p>
            <a:endParaRPr lang="en-US" sz="2400" dirty="0"/>
          </a:p>
          <a:p>
            <a:r>
              <a:rPr lang="en-US" sz="2400" dirty="0"/>
              <a:t>Quiz retaking and late policies are flexible </a:t>
            </a:r>
          </a:p>
          <a:p>
            <a:pPr lvl="1"/>
            <a:r>
              <a:rPr lang="en-US" dirty="0"/>
              <a:t>Try and test your knowledge first</a:t>
            </a:r>
          </a:p>
          <a:p>
            <a:pPr lvl="1"/>
            <a:r>
              <a:rPr lang="en-US" dirty="0"/>
              <a:t>Then learn from mistakes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959016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0CC2C-AB53-2B17-FE06-D831C8FEA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F03E13-131C-5167-10BB-A3405209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my first semester running this course</a:t>
            </a:r>
          </a:p>
          <a:p>
            <a:pPr lvl="1"/>
            <a:r>
              <a:rPr lang="en-US" dirty="0"/>
              <a:t>Your patience is appreciated</a:t>
            </a:r>
          </a:p>
          <a:p>
            <a:pPr lvl="1"/>
            <a:r>
              <a:rPr lang="en-US" dirty="0"/>
              <a:t>As is your input!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At least for the next few weeks, homework will be posted EOD Wednesday </a:t>
            </a:r>
          </a:p>
          <a:p>
            <a:pPr lvl="1"/>
            <a:r>
              <a:rPr lang="en-US" dirty="0"/>
              <a:t>I need to figure out how much we get through before I give you work.</a:t>
            </a:r>
          </a:p>
          <a:p>
            <a:pPr lvl="1"/>
            <a:r>
              <a:rPr lang="en-US" dirty="0"/>
              <a:t>Apologies for the inconvenience.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211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2BC7E5-76DB-4826-8C07-4A49B6353F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479558"/>
            <a:ext cx="1861854" cy="717514"/>
            <a:chOff x="0" y="1479558"/>
            <a:chExt cx="1861854" cy="717514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16C8D8F-10E9-4498-ABDB-0F923F8B6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479558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7963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283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7963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283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E5A83E3-8A11-4492-BB6E-F5F2240316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919293"/>
              <a:ext cx="1861854" cy="277779"/>
            </a:xfrm>
            <a:custGeom>
              <a:avLst/>
              <a:gdLst>
                <a:gd name="connsiteX0" fmla="*/ 180458 w 1861854"/>
                <a:gd name="connsiteY0" fmla="*/ 0 h 277779"/>
                <a:gd name="connsiteX1" fmla="*/ 419222 w 1861854"/>
                <a:gd name="connsiteY1" fmla="*/ 238761 h 277779"/>
                <a:gd name="connsiteX2" fmla="*/ 657984 w 1861854"/>
                <a:gd name="connsiteY2" fmla="*/ 0 h 277779"/>
                <a:gd name="connsiteX3" fmla="*/ 896745 w 1861854"/>
                <a:gd name="connsiteY3" fmla="*/ 238761 h 277779"/>
                <a:gd name="connsiteX4" fmla="*/ 1135754 w 1861854"/>
                <a:gd name="connsiteY4" fmla="*/ 0 h 277779"/>
                <a:gd name="connsiteX5" fmla="*/ 1374516 w 1861854"/>
                <a:gd name="connsiteY5" fmla="*/ 238761 h 277779"/>
                <a:gd name="connsiteX6" fmla="*/ 1613277 w 1861854"/>
                <a:gd name="connsiteY6" fmla="*/ 0 h 277779"/>
                <a:gd name="connsiteX7" fmla="*/ 1861854 w 1861854"/>
                <a:gd name="connsiteY7" fmla="*/ 248577 h 277779"/>
                <a:gd name="connsiteX8" fmla="*/ 1842470 w 1861854"/>
                <a:gd name="connsiteY8" fmla="*/ 268208 h 277779"/>
                <a:gd name="connsiteX9" fmla="*/ 1613277 w 1861854"/>
                <a:gd name="connsiteY9" fmla="*/ 39017 h 277779"/>
                <a:gd name="connsiteX10" fmla="*/ 1374516 w 1861854"/>
                <a:gd name="connsiteY10" fmla="*/ 277779 h 277779"/>
                <a:gd name="connsiteX11" fmla="*/ 1135754 w 1861854"/>
                <a:gd name="connsiteY11" fmla="*/ 39017 h 277779"/>
                <a:gd name="connsiteX12" fmla="*/ 896745 w 1861854"/>
                <a:gd name="connsiteY12" fmla="*/ 277779 h 277779"/>
                <a:gd name="connsiteX13" fmla="*/ 657984 w 1861854"/>
                <a:gd name="connsiteY13" fmla="*/ 39017 h 277779"/>
                <a:gd name="connsiteX14" fmla="*/ 419222 w 1861854"/>
                <a:gd name="connsiteY14" fmla="*/ 277779 h 277779"/>
                <a:gd name="connsiteX15" fmla="*/ 180458 w 1861854"/>
                <a:gd name="connsiteY15" fmla="*/ 39017 h 277779"/>
                <a:gd name="connsiteX16" fmla="*/ 0 w 1861854"/>
                <a:gd name="connsiteY16" fmla="*/ 219475 h 277779"/>
                <a:gd name="connsiteX17" fmla="*/ 0 w 1861854"/>
                <a:gd name="connsiteY17" fmla="*/ 180458 h 277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861854" h="277779">
                  <a:moveTo>
                    <a:pt x="180458" y="0"/>
                  </a:moveTo>
                  <a:lnTo>
                    <a:pt x="419222" y="238761"/>
                  </a:lnTo>
                  <a:lnTo>
                    <a:pt x="657984" y="0"/>
                  </a:lnTo>
                  <a:lnTo>
                    <a:pt x="896745" y="238761"/>
                  </a:lnTo>
                  <a:lnTo>
                    <a:pt x="1135754" y="0"/>
                  </a:lnTo>
                  <a:lnTo>
                    <a:pt x="1374516" y="238761"/>
                  </a:lnTo>
                  <a:lnTo>
                    <a:pt x="1613277" y="0"/>
                  </a:lnTo>
                  <a:lnTo>
                    <a:pt x="1861854" y="248577"/>
                  </a:lnTo>
                  <a:lnTo>
                    <a:pt x="1842470" y="268208"/>
                  </a:lnTo>
                  <a:lnTo>
                    <a:pt x="1613277" y="39017"/>
                  </a:lnTo>
                  <a:lnTo>
                    <a:pt x="1374516" y="277779"/>
                  </a:lnTo>
                  <a:lnTo>
                    <a:pt x="1135754" y="39017"/>
                  </a:lnTo>
                  <a:lnTo>
                    <a:pt x="896745" y="277779"/>
                  </a:lnTo>
                  <a:lnTo>
                    <a:pt x="657984" y="39017"/>
                  </a:lnTo>
                  <a:lnTo>
                    <a:pt x="419222" y="277779"/>
                  </a:lnTo>
                  <a:lnTo>
                    <a:pt x="180458" y="39017"/>
                  </a:lnTo>
                  <a:lnTo>
                    <a:pt x="0" y="219475"/>
                  </a:lnTo>
                  <a:lnTo>
                    <a:pt x="0" y="1804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98F8FF6-43B4-494A-AF8F-123A4983E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18992" y="-34538"/>
            <a:ext cx="6655405" cy="6335470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B06059C-C357-4011-82B9-9C0106301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5194" y="-23905"/>
            <a:ext cx="6705251" cy="6318526"/>
          </a:xfrm>
          <a:custGeom>
            <a:avLst/>
            <a:gdLst>
              <a:gd name="connsiteX0" fmla="*/ 1825048 w 6355652"/>
              <a:gd name="connsiteY0" fmla="*/ 0 h 6050127"/>
              <a:gd name="connsiteX1" fmla="*/ 4530604 w 6355652"/>
              <a:gd name="connsiteY1" fmla="*/ 0 h 6050127"/>
              <a:gd name="connsiteX2" fmla="*/ 4692567 w 6355652"/>
              <a:gd name="connsiteY2" fmla="*/ 78022 h 6050127"/>
              <a:gd name="connsiteX3" fmla="*/ 6355652 w 6355652"/>
              <a:gd name="connsiteY3" fmla="*/ 2872301 h 6050127"/>
              <a:gd name="connsiteX4" fmla="*/ 3177826 w 6355652"/>
              <a:gd name="connsiteY4" fmla="*/ 6050127 h 6050127"/>
              <a:gd name="connsiteX5" fmla="*/ 0 w 6355652"/>
              <a:gd name="connsiteY5" fmla="*/ 2872301 h 6050127"/>
              <a:gd name="connsiteX6" fmla="*/ 1663086 w 6355652"/>
              <a:gd name="connsiteY6" fmla="*/ 78022 h 6050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6050127">
                <a:moveTo>
                  <a:pt x="1825048" y="0"/>
                </a:moveTo>
                <a:lnTo>
                  <a:pt x="4530604" y="0"/>
                </a:lnTo>
                <a:lnTo>
                  <a:pt x="4692567" y="78022"/>
                </a:lnTo>
                <a:cubicBezTo>
                  <a:pt x="5683175" y="616152"/>
                  <a:pt x="6355652" y="1665694"/>
                  <a:pt x="6355652" y="2872301"/>
                </a:cubicBezTo>
                <a:cubicBezTo>
                  <a:pt x="6355652" y="4627366"/>
                  <a:pt x="4932891" y="6050127"/>
                  <a:pt x="3177826" y="6050127"/>
                </a:cubicBezTo>
                <a:cubicBezTo>
                  <a:pt x="1422761" y="6050127"/>
                  <a:pt x="0" y="4627366"/>
                  <a:pt x="0" y="2872301"/>
                </a:cubicBezTo>
                <a:cubicBezTo>
                  <a:pt x="0" y="1665694"/>
                  <a:pt x="672477" y="616152"/>
                  <a:pt x="1663086" y="78022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AFEC601-A132-47EE-B0C2-B38ACD9FC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86886" y="-23905"/>
            <a:ext cx="6705251" cy="6215019"/>
          </a:xfrm>
          <a:custGeom>
            <a:avLst/>
            <a:gdLst>
              <a:gd name="connsiteX0" fmla="*/ 1529549 w 6355652"/>
              <a:gd name="connsiteY0" fmla="*/ 0 h 5890980"/>
              <a:gd name="connsiteX1" fmla="*/ 4826104 w 6355652"/>
              <a:gd name="connsiteY1" fmla="*/ 0 h 5890980"/>
              <a:gd name="connsiteX2" fmla="*/ 4954579 w 6355652"/>
              <a:gd name="connsiteY2" fmla="*/ 78051 h 5890980"/>
              <a:gd name="connsiteX3" fmla="*/ 6355652 w 6355652"/>
              <a:gd name="connsiteY3" fmla="*/ 2713154 h 5890980"/>
              <a:gd name="connsiteX4" fmla="*/ 3177826 w 6355652"/>
              <a:gd name="connsiteY4" fmla="*/ 5890980 h 5890980"/>
              <a:gd name="connsiteX5" fmla="*/ 0 w 6355652"/>
              <a:gd name="connsiteY5" fmla="*/ 2713154 h 5890980"/>
              <a:gd name="connsiteX6" fmla="*/ 1401073 w 6355652"/>
              <a:gd name="connsiteY6" fmla="*/ 78051 h 5890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55652" h="5890980">
                <a:moveTo>
                  <a:pt x="1529549" y="0"/>
                </a:moveTo>
                <a:lnTo>
                  <a:pt x="4826104" y="0"/>
                </a:lnTo>
                <a:lnTo>
                  <a:pt x="4954579" y="78051"/>
                </a:lnTo>
                <a:cubicBezTo>
                  <a:pt x="5799886" y="649129"/>
                  <a:pt x="6355652" y="1616239"/>
                  <a:pt x="6355652" y="2713154"/>
                </a:cubicBezTo>
                <a:cubicBezTo>
                  <a:pt x="6355652" y="4468219"/>
                  <a:pt x="4932891" y="5890980"/>
                  <a:pt x="3177826" y="5890980"/>
                </a:cubicBezTo>
                <a:cubicBezTo>
                  <a:pt x="1422761" y="5890980"/>
                  <a:pt x="0" y="4468219"/>
                  <a:pt x="0" y="2713154"/>
                </a:cubicBezTo>
                <a:cubicBezTo>
                  <a:pt x="0" y="1616239"/>
                  <a:pt x="555766" y="649129"/>
                  <a:pt x="1401073" y="78051"/>
                </a:cubicBezTo>
                <a:close/>
              </a:path>
            </a:pathLst>
          </a:cu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4DF173-8458-80BA-C51B-F9474C9C2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42409" y="895483"/>
            <a:ext cx="5786232" cy="3011190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chemeClr val="bg1"/>
                </a:solidFill>
              </a:rPr>
              <a:t>Lets get into it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D745F42-DB55-B1D6-2854-E16B12004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6270" y="4142096"/>
            <a:ext cx="5338511" cy="1055142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Discrete Math!</a:t>
            </a: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279CAF82-0ECF-42BE-8F37-F71941E5D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4" name="Graphic 212">
            <a:extLst>
              <a:ext uri="{FF2B5EF4-FFF2-40B4-BE49-F238E27FC236}">
                <a16:creationId xmlns:a16="http://schemas.microsoft.com/office/drawing/2014/main" id="{218E095B-4870-4AD5-9C41-C16D59523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34716" y="188494"/>
            <a:ext cx="1048371" cy="1048371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grpSp>
        <p:nvGrpSpPr>
          <p:cNvPr id="26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583101" y="3578317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3" name="Oval 32">
            <a:extLst>
              <a:ext uri="{FF2B5EF4-FFF2-40B4-BE49-F238E27FC236}">
                <a16:creationId xmlns:a16="http://schemas.microsoft.com/office/drawing/2014/main" id="{033BC44A-0661-43B4-9C14-FD5963C22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E8CB2F0-2F5A-4EBD-B214-E0309C31F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4525" y="4910353"/>
            <a:ext cx="468090" cy="468090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FD3887D-244B-4EC4-9208-E304984C5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97224C31-855E-4593-8A58-5B2B0CC4F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22467" y="4200769"/>
            <a:ext cx="2769534" cy="2657232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381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17085-AA54-B598-AEBD-54340B471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…what is 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8631CB-51F3-F6D7-1AC9-BB93C64BF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“discrete” mean?</a:t>
            </a:r>
          </a:p>
          <a:p>
            <a:pPr lvl="1"/>
            <a:r>
              <a:rPr lang="en-US" dirty="0"/>
              <a:t>Individual, separate and distinct</a:t>
            </a:r>
          </a:p>
          <a:p>
            <a:endParaRPr lang="en-US" dirty="0"/>
          </a:p>
          <a:p>
            <a:r>
              <a:rPr lang="en-US" dirty="0"/>
              <a:t>So: Individual, Separate and Distinct Math</a:t>
            </a:r>
          </a:p>
          <a:p>
            <a:endParaRPr lang="en-US" dirty="0"/>
          </a:p>
          <a:p>
            <a:r>
              <a:rPr lang="en-US" dirty="0"/>
              <a:t>..What does THAT mean?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6F90A1-E66B-0BE3-4033-1E254F4C96B1}"/>
              </a:ext>
            </a:extLst>
          </p:cNvPr>
          <p:cNvSpPr txBox="1"/>
          <p:nvPr/>
        </p:nvSpPr>
        <p:spPr>
          <a:xfrm>
            <a:off x="5834041" y="6488668"/>
            <a:ext cx="6357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Note – Discreet means to be careful or tactful (different word!)</a:t>
            </a:r>
          </a:p>
        </p:txBody>
      </p:sp>
    </p:spTree>
    <p:extLst>
      <p:ext uri="{BB962C8B-B14F-4D97-AF65-F5344CB8AC3E}">
        <p14:creationId xmlns:p14="http://schemas.microsoft.com/office/powerpoint/2010/main" val="86091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8E2C1-4BA7-5EC2-28C0-15CC4043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AE74-5ADA-6861-D173-2EAE15E92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form of mathematics concerned with discrete structures</a:t>
            </a:r>
          </a:p>
          <a:p>
            <a:pPr lvl="1"/>
            <a:r>
              <a:rPr lang="en-US" dirty="0"/>
              <a:t>Continuous Structures- some forms of Calculus and Euclidian geometry</a:t>
            </a:r>
            <a:endParaRPr lang="en-US" dirty="0">
              <a:effectLst/>
            </a:endParaRPr>
          </a:p>
          <a:p>
            <a:pPr lvl="2"/>
            <a:r>
              <a:rPr lang="en-US" dirty="0"/>
              <a:t>Focus on “smooth change” (like a flowing curve)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Discrete Structures – Non-continuous</a:t>
            </a:r>
          </a:p>
          <a:p>
            <a:pPr lvl="2"/>
            <a:r>
              <a:rPr lang="en-US" dirty="0"/>
              <a:t>distinct, countable, change (like a set of points)</a:t>
            </a:r>
            <a:endParaRPr lang="en-US" dirty="0">
              <a:effectLst/>
            </a:endParaRPr>
          </a:p>
          <a:p>
            <a:pPr marL="914400" lvl="2" indent="0">
              <a:buNone/>
            </a:pPr>
            <a:br>
              <a:rPr lang="en-US" dirty="0"/>
            </a:br>
            <a:br>
              <a:rPr lang="en-US" dirty="0"/>
            </a:br>
            <a:endParaRPr lang="en-US" dirty="0">
              <a:effectLst/>
            </a:endParaRP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0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5" name="Rectangle 717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77" name="Freeform: Shape 7176">
            <a:extLst>
              <a:ext uri="{FF2B5EF4-FFF2-40B4-BE49-F238E27FC236}">
                <a16:creationId xmlns:a16="http://schemas.microsoft.com/office/drawing/2014/main" id="{DFCA2118-59A2-4310-A4B2-F2CBA821E8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40492"/>
            <a:ext cx="12192000" cy="1924333"/>
          </a:xfrm>
          <a:custGeom>
            <a:avLst/>
            <a:gdLst>
              <a:gd name="connsiteX0" fmla="*/ 6189199 w 12192000"/>
              <a:gd name="connsiteY0" fmla="*/ 588 h 1924333"/>
              <a:gd name="connsiteX1" fmla="*/ 6207079 w 12192000"/>
              <a:gd name="connsiteY1" fmla="*/ 2850 h 1924333"/>
              <a:gd name="connsiteX2" fmla="*/ 6285610 w 12192000"/>
              <a:gd name="connsiteY2" fmla="*/ 18131 h 1924333"/>
              <a:gd name="connsiteX3" fmla="*/ 6378008 w 12192000"/>
              <a:gd name="connsiteY3" fmla="*/ 24625 h 1924333"/>
              <a:gd name="connsiteX4" fmla="*/ 6466340 w 12192000"/>
              <a:gd name="connsiteY4" fmla="*/ 21366 h 1924333"/>
              <a:gd name="connsiteX5" fmla="*/ 6553334 w 12192000"/>
              <a:gd name="connsiteY5" fmla="*/ 35307 h 1924333"/>
              <a:gd name="connsiteX6" fmla="*/ 6626068 w 12192000"/>
              <a:gd name="connsiteY6" fmla="*/ 58045 h 1924333"/>
              <a:gd name="connsiteX7" fmla="*/ 6692303 w 12192000"/>
              <a:gd name="connsiteY7" fmla="*/ 91487 h 1924333"/>
              <a:gd name="connsiteX8" fmla="*/ 6733670 w 12192000"/>
              <a:gd name="connsiteY8" fmla="*/ 118130 h 1924333"/>
              <a:gd name="connsiteX9" fmla="*/ 6798016 w 12192000"/>
              <a:gd name="connsiteY9" fmla="*/ 112271 h 1924333"/>
              <a:gd name="connsiteX10" fmla="*/ 6801081 w 12192000"/>
              <a:gd name="connsiteY10" fmla="*/ 114963 h 1924333"/>
              <a:gd name="connsiteX11" fmla="*/ 6819351 w 12192000"/>
              <a:gd name="connsiteY11" fmla="*/ 128825 h 1924333"/>
              <a:gd name="connsiteX12" fmla="*/ 6852732 w 12192000"/>
              <a:gd name="connsiteY12" fmla="*/ 123321 h 1924333"/>
              <a:gd name="connsiteX13" fmla="*/ 6865247 w 12192000"/>
              <a:gd name="connsiteY13" fmla="*/ 128836 h 1924333"/>
              <a:gd name="connsiteX14" fmla="*/ 6905517 w 12192000"/>
              <a:gd name="connsiteY14" fmla="*/ 129265 h 1924333"/>
              <a:gd name="connsiteX15" fmla="*/ 6950286 w 12192000"/>
              <a:gd name="connsiteY15" fmla="*/ 150104 h 1924333"/>
              <a:gd name="connsiteX16" fmla="*/ 7003442 w 12192000"/>
              <a:gd name="connsiteY16" fmla="*/ 136136 h 1924333"/>
              <a:gd name="connsiteX17" fmla="*/ 7160047 w 12192000"/>
              <a:gd name="connsiteY17" fmla="*/ 166721 h 1924333"/>
              <a:gd name="connsiteX18" fmla="*/ 7325604 w 12192000"/>
              <a:gd name="connsiteY18" fmla="*/ 215867 h 1924333"/>
              <a:gd name="connsiteX19" fmla="*/ 7540522 w 12192000"/>
              <a:gd name="connsiteY19" fmla="*/ 239374 h 1924333"/>
              <a:gd name="connsiteX20" fmla="*/ 7612071 w 12192000"/>
              <a:gd name="connsiteY20" fmla="*/ 229553 h 1924333"/>
              <a:gd name="connsiteX21" fmla="*/ 7651995 w 12192000"/>
              <a:gd name="connsiteY21" fmla="*/ 244567 h 1924333"/>
              <a:gd name="connsiteX22" fmla="*/ 7725761 w 12192000"/>
              <a:gd name="connsiteY22" fmla="*/ 258638 h 1924333"/>
              <a:gd name="connsiteX23" fmla="*/ 7823038 w 12192000"/>
              <a:gd name="connsiteY23" fmla="*/ 287078 h 1924333"/>
              <a:gd name="connsiteX24" fmla="*/ 7866405 w 12192000"/>
              <a:gd name="connsiteY24" fmla="*/ 287288 h 1924333"/>
              <a:gd name="connsiteX25" fmla="*/ 7875021 w 12192000"/>
              <a:gd name="connsiteY25" fmla="*/ 288224 h 1924333"/>
              <a:gd name="connsiteX26" fmla="*/ 7875146 w 12192000"/>
              <a:gd name="connsiteY26" fmla="*/ 288614 h 1924333"/>
              <a:gd name="connsiteX27" fmla="*/ 7907443 w 12192000"/>
              <a:gd name="connsiteY27" fmla="*/ 291752 h 1924333"/>
              <a:gd name="connsiteX28" fmla="*/ 7912892 w 12192000"/>
              <a:gd name="connsiteY28" fmla="*/ 294833 h 1924333"/>
              <a:gd name="connsiteX29" fmla="*/ 7946345 w 12192000"/>
              <a:gd name="connsiteY29" fmla="*/ 319359 h 1924333"/>
              <a:gd name="connsiteX30" fmla="*/ 8021238 w 12192000"/>
              <a:gd name="connsiteY30" fmla="*/ 315159 h 1924333"/>
              <a:gd name="connsiteX31" fmla="*/ 8094697 w 12192000"/>
              <a:gd name="connsiteY31" fmla="*/ 351819 h 1924333"/>
              <a:gd name="connsiteX32" fmla="*/ 8155208 w 12192000"/>
              <a:gd name="connsiteY32" fmla="*/ 371168 h 1924333"/>
              <a:gd name="connsiteX33" fmla="*/ 8248472 w 12192000"/>
              <a:gd name="connsiteY33" fmla="*/ 400489 h 1924333"/>
              <a:gd name="connsiteX34" fmla="*/ 8300068 w 12192000"/>
              <a:gd name="connsiteY34" fmla="*/ 405531 h 1924333"/>
              <a:gd name="connsiteX35" fmla="*/ 8356293 w 12192000"/>
              <a:gd name="connsiteY35" fmla="*/ 403328 h 1924333"/>
              <a:gd name="connsiteX36" fmla="*/ 8475838 w 12192000"/>
              <a:gd name="connsiteY36" fmla="*/ 435524 h 1924333"/>
              <a:gd name="connsiteX37" fmla="*/ 8575216 w 12192000"/>
              <a:gd name="connsiteY37" fmla="*/ 450198 h 1924333"/>
              <a:gd name="connsiteX38" fmla="*/ 8588650 w 12192000"/>
              <a:gd name="connsiteY38" fmla="*/ 447070 h 1924333"/>
              <a:gd name="connsiteX39" fmla="*/ 8612184 w 12192000"/>
              <a:gd name="connsiteY39" fmla="*/ 439577 h 1924333"/>
              <a:gd name="connsiteX40" fmla="*/ 8630713 w 12192000"/>
              <a:gd name="connsiteY40" fmla="*/ 433015 h 1924333"/>
              <a:gd name="connsiteX41" fmla="*/ 8704240 w 12192000"/>
              <a:gd name="connsiteY41" fmla="*/ 422865 h 1924333"/>
              <a:gd name="connsiteX42" fmla="*/ 8829513 w 12192000"/>
              <a:gd name="connsiteY42" fmla="*/ 429389 h 1924333"/>
              <a:gd name="connsiteX43" fmla="*/ 9083651 w 12192000"/>
              <a:gd name="connsiteY43" fmla="*/ 390744 h 1924333"/>
              <a:gd name="connsiteX44" fmla="*/ 9371402 w 12192000"/>
              <a:gd name="connsiteY44" fmla="*/ 371809 h 1924333"/>
              <a:gd name="connsiteX45" fmla="*/ 9429586 w 12192000"/>
              <a:gd name="connsiteY45" fmla="*/ 369213 h 1924333"/>
              <a:gd name="connsiteX46" fmla="*/ 9489757 w 12192000"/>
              <a:gd name="connsiteY46" fmla="*/ 377814 h 1924333"/>
              <a:gd name="connsiteX47" fmla="*/ 9516954 w 12192000"/>
              <a:gd name="connsiteY47" fmla="*/ 376991 h 1924333"/>
              <a:gd name="connsiteX48" fmla="*/ 9645588 w 12192000"/>
              <a:gd name="connsiteY48" fmla="*/ 363590 h 1924333"/>
              <a:gd name="connsiteX49" fmla="*/ 9722896 w 12192000"/>
              <a:gd name="connsiteY49" fmla="*/ 360983 h 1924333"/>
              <a:gd name="connsiteX50" fmla="*/ 9752803 w 12192000"/>
              <a:gd name="connsiteY50" fmla="*/ 368492 h 1924333"/>
              <a:gd name="connsiteX51" fmla="*/ 9890305 w 12192000"/>
              <a:gd name="connsiteY51" fmla="*/ 380736 h 1924333"/>
              <a:gd name="connsiteX52" fmla="*/ 9939767 w 12192000"/>
              <a:gd name="connsiteY52" fmla="*/ 377776 h 1924333"/>
              <a:gd name="connsiteX53" fmla="*/ 9944355 w 12192000"/>
              <a:gd name="connsiteY53" fmla="*/ 377352 h 1924333"/>
              <a:gd name="connsiteX54" fmla="*/ 9953719 w 12192000"/>
              <a:gd name="connsiteY54" fmla="*/ 375642 h 1924333"/>
              <a:gd name="connsiteX55" fmla="*/ 9955809 w 12192000"/>
              <a:gd name="connsiteY55" fmla="*/ 376294 h 1924333"/>
              <a:gd name="connsiteX56" fmla="*/ 10032710 w 12192000"/>
              <a:gd name="connsiteY56" fmla="*/ 394940 h 1924333"/>
              <a:gd name="connsiteX57" fmla="*/ 10049925 w 12192000"/>
              <a:gd name="connsiteY57" fmla="*/ 404971 h 1924333"/>
              <a:gd name="connsiteX58" fmla="*/ 10112671 w 12192000"/>
              <a:gd name="connsiteY58" fmla="*/ 414549 h 1924333"/>
              <a:gd name="connsiteX59" fmla="*/ 10170853 w 12192000"/>
              <a:gd name="connsiteY59" fmla="*/ 435168 h 1924333"/>
              <a:gd name="connsiteX60" fmla="*/ 10290184 w 12192000"/>
              <a:gd name="connsiteY60" fmla="*/ 448123 h 1924333"/>
              <a:gd name="connsiteX61" fmla="*/ 10320158 w 12192000"/>
              <a:gd name="connsiteY61" fmla="*/ 458352 h 1924333"/>
              <a:gd name="connsiteX62" fmla="*/ 10321815 w 12192000"/>
              <a:gd name="connsiteY62" fmla="*/ 463087 h 1924333"/>
              <a:gd name="connsiteX63" fmla="*/ 10373742 w 12192000"/>
              <a:gd name="connsiteY63" fmla="*/ 464538 h 1924333"/>
              <a:gd name="connsiteX64" fmla="*/ 10428532 w 12192000"/>
              <a:gd name="connsiteY64" fmla="*/ 492504 h 1924333"/>
              <a:gd name="connsiteX65" fmla="*/ 10466490 w 12192000"/>
              <a:gd name="connsiteY65" fmla="*/ 517759 h 1924333"/>
              <a:gd name="connsiteX66" fmla="*/ 10466675 w 12192000"/>
              <a:gd name="connsiteY66" fmla="*/ 522076 h 1924333"/>
              <a:gd name="connsiteX67" fmla="*/ 10470309 w 12192000"/>
              <a:gd name="connsiteY67" fmla="*/ 522792 h 1924333"/>
              <a:gd name="connsiteX68" fmla="*/ 10474138 w 12192000"/>
              <a:gd name="connsiteY68" fmla="*/ 519761 h 1924333"/>
              <a:gd name="connsiteX69" fmla="*/ 10501100 w 12192000"/>
              <a:gd name="connsiteY69" fmla="*/ 528263 h 1924333"/>
              <a:gd name="connsiteX70" fmla="*/ 10502395 w 12192000"/>
              <a:gd name="connsiteY70" fmla="*/ 536393 h 1924333"/>
              <a:gd name="connsiteX71" fmla="*/ 10689496 w 12192000"/>
              <a:gd name="connsiteY71" fmla="*/ 560233 h 1924333"/>
              <a:gd name="connsiteX72" fmla="*/ 10788736 w 12192000"/>
              <a:gd name="connsiteY72" fmla="*/ 613188 h 1924333"/>
              <a:gd name="connsiteX73" fmla="*/ 10819747 w 12192000"/>
              <a:gd name="connsiteY73" fmla="*/ 621351 h 1924333"/>
              <a:gd name="connsiteX74" fmla="*/ 10864632 w 12192000"/>
              <a:gd name="connsiteY74" fmla="*/ 644858 h 1924333"/>
              <a:gd name="connsiteX75" fmla="*/ 10929407 w 12192000"/>
              <a:gd name="connsiteY75" fmla="*/ 652945 h 1924333"/>
              <a:gd name="connsiteX76" fmla="*/ 10979412 w 12192000"/>
              <a:gd name="connsiteY76" fmla="*/ 654217 h 1924333"/>
              <a:gd name="connsiteX77" fmla="*/ 11006959 w 12192000"/>
              <a:gd name="connsiteY77" fmla="*/ 657017 h 1924333"/>
              <a:gd name="connsiteX78" fmla="*/ 11077038 w 12192000"/>
              <a:gd name="connsiteY78" fmla="*/ 668487 h 1924333"/>
              <a:gd name="connsiteX79" fmla="*/ 11157850 w 12192000"/>
              <a:gd name="connsiteY79" fmla="*/ 693164 h 1924333"/>
              <a:gd name="connsiteX80" fmla="*/ 11175276 w 12192000"/>
              <a:gd name="connsiteY80" fmla="*/ 697243 h 1924333"/>
              <a:gd name="connsiteX81" fmla="*/ 11191131 w 12192000"/>
              <a:gd name="connsiteY81" fmla="*/ 696085 h 1924333"/>
              <a:gd name="connsiteX82" fmla="*/ 11195573 w 12192000"/>
              <a:gd name="connsiteY82" fmla="*/ 691751 h 1924333"/>
              <a:gd name="connsiteX83" fmla="*/ 11205299 w 12192000"/>
              <a:gd name="connsiteY83" fmla="*/ 693247 h 1924333"/>
              <a:gd name="connsiteX84" fmla="*/ 11223770 w 12192000"/>
              <a:gd name="connsiteY84" fmla="*/ 690335 h 1924333"/>
              <a:gd name="connsiteX85" fmla="*/ 11292119 w 12192000"/>
              <a:gd name="connsiteY85" fmla="*/ 713311 h 1924333"/>
              <a:gd name="connsiteX86" fmla="*/ 11435379 w 12192000"/>
              <a:gd name="connsiteY86" fmla="*/ 758519 h 1924333"/>
              <a:gd name="connsiteX87" fmla="*/ 11604406 w 12192000"/>
              <a:gd name="connsiteY87" fmla="*/ 810476 h 1924333"/>
              <a:gd name="connsiteX88" fmla="*/ 11652155 w 12192000"/>
              <a:gd name="connsiteY88" fmla="*/ 825109 h 1924333"/>
              <a:gd name="connsiteX89" fmla="*/ 11654192 w 12192000"/>
              <a:gd name="connsiteY89" fmla="*/ 827301 h 1924333"/>
              <a:gd name="connsiteX90" fmla="*/ 11676599 w 12192000"/>
              <a:gd name="connsiteY90" fmla="*/ 846628 h 1924333"/>
              <a:gd name="connsiteX91" fmla="*/ 11775168 w 12192000"/>
              <a:gd name="connsiteY91" fmla="*/ 890664 h 1924333"/>
              <a:gd name="connsiteX92" fmla="*/ 11826341 w 12192000"/>
              <a:gd name="connsiteY92" fmla="*/ 877558 h 1924333"/>
              <a:gd name="connsiteX93" fmla="*/ 11879068 w 12192000"/>
              <a:gd name="connsiteY93" fmla="*/ 874038 h 1924333"/>
              <a:gd name="connsiteX94" fmla="*/ 11889563 w 12192000"/>
              <a:gd name="connsiteY94" fmla="*/ 878619 h 1924333"/>
              <a:gd name="connsiteX95" fmla="*/ 12016613 w 12192000"/>
              <a:gd name="connsiteY95" fmla="*/ 886111 h 1924333"/>
              <a:gd name="connsiteX96" fmla="*/ 12108292 w 12192000"/>
              <a:gd name="connsiteY96" fmla="*/ 868500 h 1924333"/>
              <a:gd name="connsiteX97" fmla="*/ 12182910 w 12192000"/>
              <a:gd name="connsiteY97" fmla="*/ 882003 h 1924333"/>
              <a:gd name="connsiteX98" fmla="*/ 12192000 w 12192000"/>
              <a:gd name="connsiteY98" fmla="*/ 884778 h 1924333"/>
              <a:gd name="connsiteX99" fmla="*/ 12192000 w 12192000"/>
              <a:gd name="connsiteY99" fmla="*/ 1610315 h 1924333"/>
              <a:gd name="connsiteX100" fmla="*/ 12191998 w 12192000"/>
              <a:gd name="connsiteY100" fmla="*/ 1610315 h 1924333"/>
              <a:gd name="connsiteX101" fmla="*/ 12191998 w 12192000"/>
              <a:gd name="connsiteY101" fmla="*/ 1924333 h 1924333"/>
              <a:gd name="connsiteX102" fmla="*/ 0 w 12192000"/>
              <a:gd name="connsiteY102" fmla="*/ 1924333 h 1924333"/>
              <a:gd name="connsiteX103" fmla="*/ 0 w 12192000"/>
              <a:gd name="connsiteY103" fmla="*/ 505159 h 1924333"/>
              <a:gd name="connsiteX104" fmla="*/ 5722 w 12192000"/>
              <a:gd name="connsiteY104" fmla="*/ 508889 h 1924333"/>
              <a:gd name="connsiteX105" fmla="*/ 38476 w 12192000"/>
              <a:gd name="connsiteY105" fmla="*/ 524137 h 1924333"/>
              <a:gd name="connsiteX106" fmla="*/ 192883 w 12192000"/>
              <a:gd name="connsiteY106" fmla="*/ 545272 h 1924333"/>
              <a:gd name="connsiteX107" fmla="*/ 343710 w 12192000"/>
              <a:gd name="connsiteY107" fmla="*/ 565029 h 1924333"/>
              <a:gd name="connsiteX108" fmla="*/ 471066 w 12192000"/>
              <a:gd name="connsiteY108" fmla="*/ 549837 h 1924333"/>
              <a:gd name="connsiteX109" fmla="*/ 617333 w 12192000"/>
              <a:gd name="connsiteY109" fmla="*/ 526428 h 1924333"/>
              <a:gd name="connsiteX110" fmla="*/ 725203 w 12192000"/>
              <a:gd name="connsiteY110" fmla="*/ 523793 h 1924333"/>
              <a:gd name="connsiteX111" fmla="*/ 788494 w 12192000"/>
              <a:gd name="connsiteY111" fmla="*/ 505799 h 1924333"/>
              <a:gd name="connsiteX112" fmla="*/ 885977 w 12192000"/>
              <a:gd name="connsiteY112" fmla="*/ 526585 h 1924333"/>
              <a:gd name="connsiteX113" fmla="*/ 932142 w 12192000"/>
              <a:gd name="connsiteY113" fmla="*/ 528005 h 1924333"/>
              <a:gd name="connsiteX114" fmla="*/ 1090404 w 12192000"/>
              <a:gd name="connsiteY114" fmla="*/ 498299 h 1924333"/>
              <a:gd name="connsiteX115" fmla="*/ 1188628 w 12192000"/>
              <a:gd name="connsiteY115" fmla="*/ 483151 h 1924333"/>
              <a:gd name="connsiteX116" fmla="*/ 1316247 w 12192000"/>
              <a:gd name="connsiteY116" fmla="*/ 425979 h 1924333"/>
              <a:gd name="connsiteX117" fmla="*/ 1357712 w 12192000"/>
              <a:gd name="connsiteY117" fmla="*/ 416549 h 1924333"/>
              <a:gd name="connsiteX118" fmla="*/ 1425921 w 12192000"/>
              <a:gd name="connsiteY118" fmla="*/ 413953 h 1924333"/>
              <a:gd name="connsiteX119" fmla="*/ 1503817 w 12192000"/>
              <a:gd name="connsiteY119" fmla="*/ 380457 h 1924333"/>
              <a:gd name="connsiteX120" fmla="*/ 1639196 w 12192000"/>
              <a:gd name="connsiteY120" fmla="*/ 372785 h 1924333"/>
              <a:gd name="connsiteX121" fmla="*/ 1705606 w 12192000"/>
              <a:gd name="connsiteY121" fmla="*/ 359023 h 1924333"/>
              <a:gd name="connsiteX122" fmla="*/ 1813011 w 12192000"/>
              <a:gd name="connsiteY122" fmla="*/ 331023 h 1924333"/>
              <a:gd name="connsiteX123" fmla="*/ 1831380 w 12192000"/>
              <a:gd name="connsiteY123" fmla="*/ 341307 h 1924333"/>
              <a:gd name="connsiteX124" fmla="*/ 1858612 w 12192000"/>
              <a:gd name="connsiteY124" fmla="*/ 326777 h 1924333"/>
              <a:gd name="connsiteX125" fmla="*/ 1880661 w 12192000"/>
              <a:gd name="connsiteY125" fmla="*/ 335987 h 1924333"/>
              <a:gd name="connsiteX126" fmla="*/ 1941495 w 12192000"/>
              <a:gd name="connsiteY126" fmla="*/ 310792 h 1924333"/>
              <a:gd name="connsiteX127" fmla="*/ 1995402 w 12192000"/>
              <a:gd name="connsiteY127" fmla="*/ 305480 h 1924333"/>
              <a:gd name="connsiteX128" fmla="*/ 2223864 w 12192000"/>
              <a:gd name="connsiteY128" fmla="*/ 266118 h 1924333"/>
              <a:gd name="connsiteX129" fmla="*/ 2418043 w 12192000"/>
              <a:gd name="connsiteY129" fmla="*/ 215314 h 1924333"/>
              <a:gd name="connsiteX130" fmla="*/ 2558461 w 12192000"/>
              <a:gd name="connsiteY130" fmla="*/ 168193 h 1924333"/>
              <a:gd name="connsiteX131" fmla="*/ 2595535 w 12192000"/>
              <a:gd name="connsiteY131" fmla="*/ 158548 h 1924333"/>
              <a:gd name="connsiteX132" fmla="*/ 2626942 w 12192000"/>
              <a:gd name="connsiteY132" fmla="*/ 130400 h 1924333"/>
              <a:gd name="connsiteX133" fmla="*/ 2632225 w 12192000"/>
              <a:gd name="connsiteY133" fmla="*/ 130446 h 1924333"/>
              <a:gd name="connsiteX134" fmla="*/ 2696856 w 12192000"/>
              <a:gd name="connsiteY134" fmla="*/ 128498 h 1924333"/>
              <a:gd name="connsiteX135" fmla="*/ 2759767 w 12192000"/>
              <a:gd name="connsiteY135" fmla="*/ 127784 h 1924333"/>
              <a:gd name="connsiteX136" fmla="*/ 2792685 w 12192000"/>
              <a:gd name="connsiteY136" fmla="*/ 115710 h 1924333"/>
              <a:gd name="connsiteX137" fmla="*/ 2799767 w 12192000"/>
              <a:gd name="connsiteY137" fmla="*/ 113754 h 1924333"/>
              <a:gd name="connsiteX138" fmla="*/ 2829799 w 12192000"/>
              <a:gd name="connsiteY138" fmla="*/ 120042 h 1924333"/>
              <a:gd name="connsiteX139" fmla="*/ 2890704 w 12192000"/>
              <a:gd name="connsiteY139" fmla="*/ 121493 h 1924333"/>
              <a:gd name="connsiteX140" fmla="*/ 3042646 w 12192000"/>
              <a:gd name="connsiteY140" fmla="*/ 112273 h 1924333"/>
              <a:gd name="connsiteX141" fmla="*/ 3146630 w 12192000"/>
              <a:gd name="connsiteY141" fmla="*/ 100898 h 1924333"/>
              <a:gd name="connsiteX142" fmla="*/ 3233163 w 12192000"/>
              <a:gd name="connsiteY142" fmla="*/ 120200 h 1924333"/>
              <a:gd name="connsiteX143" fmla="*/ 3372699 w 12192000"/>
              <a:gd name="connsiteY143" fmla="*/ 129394 h 1924333"/>
              <a:gd name="connsiteX144" fmla="*/ 3394352 w 12192000"/>
              <a:gd name="connsiteY144" fmla="*/ 131671 h 1924333"/>
              <a:gd name="connsiteX145" fmla="*/ 3448218 w 12192000"/>
              <a:gd name="connsiteY145" fmla="*/ 118229 h 1924333"/>
              <a:gd name="connsiteX146" fmla="*/ 3505047 w 12192000"/>
              <a:gd name="connsiteY146" fmla="*/ 115412 h 1924333"/>
              <a:gd name="connsiteX147" fmla="*/ 3521767 w 12192000"/>
              <a:gd name="connsiteY147" fmla="*/ 111071 h 1924333"/>
              <a:gd name="connsiteX148" fmla="*/ 3585137 w 12192000"/>
              <a:gd name="connsiteY148" fmla="*/ 114371 h 1924333"/>
              <a:gd name="connsiteX149" fmla="*/ 3690293 w 12192000"/>
              <a:gd name="connsiteY149" fmla="*/ 98301 h 1924333"/>
              <a:gd name="connsiteX150" fmla="*/ 3867818 w 12192000"/>
              <a:gd name="connsiteY150" fmla="*/ 88985 h 1924333"/>
              <a:gd name="connsiteX151" fmla="*/ 4091337 w 12192000"/>
              <a:gd name="connsiteY151" fmla="*/ 70813 h 1924333"/>
              <a:gd name="connsiteX152" fmla="*/ 4246332 w 12192000"/>
              <a:gd name="connsiteY152" fmla="*/ 41697 h 1924333"/>
              <a:gd name="connsiteX153" fmla="*/ 4266975 w 12192000"/>
              <a:gd name="connsiteY153" fmla="*/ 46592 h 1924333"/>
              <a:gd name="connsiteX154" fmla="*/ 4270566 w 12192000"/>
              <a:gd name="connsiteY154" fmla="*/ 47620 h 1924333"/>
              <a:gd name="connsiteX155" fmla="*/ 4288964 w 12192000"/>
              <a:gd name="connsiteY155" fmla="*/ 52766 h 1924333"/>
              <a:gd name="connsiteX156" fmla="*/ 4365137 w 12192000"/>
              <a:gd name="connsiteY156" fmla="*/ 51783 h 1924333"/>
              <a:gd name="connsiteX157" fmla="*/ 4430546 w 12192000"/>
              <a:gd name="connsiteY157" fmla="*/ 44555 h 1924333"/>
              <a:gd name="connsiteX158" fmla="*/ 4444136 w 12192000"/>
              <a:gd name="connsiteY158" fmla="*/ 39567 h 1924333"/>
              <a:gd name="connsiteX159" fmla="*/ 4534039 w 12192000"/>
              <a:gd name="connsiteY159" fmla="*/ 31604 h 1924333"/>
              <a:gd name="connsiteX160" fmla="*/ 4560448 w 12192000"/>
              <a:gd name="connsiteY160" fmla="*/ 25231 h 1924333"/>
              <a:gd name="connsiteX161" fmla="*/ 4568006 w 12192000"/>
              <a:gd name="connsiteY161" fmla="*/ 25970 h 1924333"/>
              <a:gd name="connsiteX162" fmla="*/ 4595497 w 12192000"/>
              <a:gd name="connsiteY162" fmla="*/ 22958 h 1924333"/>
              <a:gd name="connsiteX163" fmla="*/ 4608623 w 12192000"/>
              <a:gd name="connsiteY163" fmla="*/ 18108 h 1924333"/>
              <a:gd name="connsiteX164" fmla="*/ 4623942 w 12192000"/>
              <a:gd name="connsiteY164" fmla="*/ 22251 h 1924333"/>
              <a:gd name="connsiteX165" fmla="*/ 4664336 w 12192000"/>
              <a:gd name="connsiteY165" fmla="*/ 23306 h 1924333"/>
              <a:gd name="connsiteX166" fmla="*/ 4677385 w 12192000"/>
              <a:gd name="connsiteY166" fmla="*/ 18246 h 1924333"/>
              <a:gd name="connsiteX167" fmla="*/ 4698143 w 12192000"/>
              <a:gd name="connsiteY167" fmla="*/ 18036 h 1924333"/>
              <a:gd name="connsiteX168" fmla="*/ 4750609 w 12192000"/>
              <a:gd name="connsiteY168" fmla="*/ 23611 h 1924333"/>
              <a:gd name="connsiteX169" fmla="*/ 4784658 w 12192000"/>
              <a:gd name="connsiteY169" fmla="*/ 25057 h 1924333"/>
              <a:gd name="connsiteX170" fmla="*/ 4847558 w 12192000"/>
              <a:gd name="connsiteY170" fmla="*/ 38726 h 1924333"/>
              <a:gd name="connsiteX171" fmla="*/ 4909134 w 12192000"/>
              <a:gd name="connsiteY171" fmla="*/ 50659 h 1924333"/>
              <a:gd name="connsiteX172" fmla="*/ 5099219 w 12192000"/>
              <a:gd name="connsiteY172" fmla="*/ 55050 h 1924333"/>
              <a:gd name="connsiteX173" fmla="*/ 5184992 w 12192000"/>
              <a:gd name="connsiteY173" fmla="*/ 67596 h 1924333"/>
              <a:gd name="connsiteX174" fmla="*/ 5229637 w 12192000"/>
              <a:gd name="connsiteY174" fmla="*/ 67789 h 1924333"/>
              <a:gd name="connsiteX175" fmla="*/ 5389346 w 12192000"/>
              <a:gd name="connsiteY175" fmla="*/ 80211 h 1924333"/>
              <a:gd name="connsiteX176" fmla="*/ 5494414 w 12192000"/>
              <a:gd name="connsiteY176" fmla="*/ 75926 h 1924333"/>
              <a:gd name="connsiteX177" fmla="*/ 5528443 w 12192000"/>
              <a:gd name="connsiteY177" fmla="*/ 77206 h 1924333"/>
              <a:gd name="connsiteX178" fmla="*/ 5684939 w 12192000"/>
              <a:gd name="connsiteY178" fmla="*/ 50269 h 1924333"/>
              <a:gd name="connsiteX179" fmla="*/ 5765146 w 12192000"/>
              <a:gd name="connsiteY179" fmla="*/ 50414 h 1924333"/>
              <a:gd name="connsiteX180" fmla="*/ 5848655 w 12192000"/>
              <a:gd name="connsiteY180" fmla="*/ 35257 h 1924333"/>
              <a:gd name="connsiteX181" fmla="*/ 5930656 w 12192000"/>
              <a:gd name="connsiteY181" fmla="*/ 30131 h 1924333"/>
              <a:gd name="connsiteX182" fmla="*/ 6124150 w 12192000"/>
              <a:gd name="connsiteY182" fmla="*/ 31679 h 1924333"/>
              <a:gd name="connsiteX183" fmla="*/ 6189199 w 12192000"/>
              <a:gd name="connsiteY183" fmla="*/ 588 h 1924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</a:cxnLst>
            <a:rect l="l" t="t" r="r" b="b"/>
            <a:pathLst>
              <a:path w="12192000" h="1924333">
                <a:moveTo>
                  <a:pt x="6189199" y="588"/>
                </a:moveTo>
                <a:cubicBezTo>
                  <a:pt x="6196356" y="-574"/>
                  <a:pt x="6202609" y="-108"/>
                  <a:pt x="6207079" y="2850"/>
                </a:cubicBezTo>
                <a:cubicBezTo>
                  <a:pt x="6222026" y="2749"/>
                  <a:pt x="6273489" y="3767"/>
                  <a:pt x="6285610" y="18131"/>
                </a:cubicBezTo>
                <a:cubicBezTo>
                  <a:pt x="6307255" y="18685"/>
                  <a:pt x="6357141" y="23793"/>
                  <a:pt x="6378008" y="24625"/>
                </a:cubicBezTo>
                <a:cubicBezTo>
                  <a:pt x="6409946" y="30645"/>
                  <a:pt x="6438307" y="10375"/>
                  <a:pt x="6466340" y="21366"/>
                </a:cubicBezTo>
                <a:cubicBezTo>
                  <a:pt x="6488276" y="31229"/>
                  <a:pt x="6529854" y="28110"/>
                  <a:pt x="6553334" y="35307"/>
                </a:cubicBezTo>
                <a:cubicBezTo>
                  <a:pt x="6561737" y="48059"/>
                  <a:pt x="6609188" y="62087"/>
                  <a:pt x="6626068" y="58045"/>
                </a:cubicBezTo>
                <a:cubicBezTo>
                  <a:pt x="6660952" y="66570"/>
                  <a:pt x="6666277" y="84716"/>
                  <a:pt x="6692303" y="91487"/>
                </a:cubicBezTo>
                <a:lnTo>
                  <a:pt x="6733670" y="118130"/>
                </a:lnTo>
                <a:lnTo>
                  <a:pt x="6798016" y="112271"/>
                </a:lnTo>
                <a:lnTo>
                  <a:pt x="6801081" y="114963"/>
                </a:lnTo>
                <a:cubicBezTo>
                  <a:pt x="6806919" y="120140"/>
                  <a:pt x="6812832" y="125016"/>
                  <a:pt x="6819351" y="128825"/>
                </a:cubicBezTo>
                <a:cubicBezTo>
                  <a:pt x="6825742" y="109997"/>
                  <a:pt x="6840132" y="116541"/>
                  <a:pt x="6852732" y="123321"/>
                </a:cubicBezTo>
                <a:lnTo>
                  <a:pt x="6865247" y="128836"/>
                </a:lnTo>
                <a:lnTo>
                  <a:pt x="6905517" y="129265"/>
                </a:lnTo>
                <a:cubicBezTo>
                  <a:pt x="6934052" y="140042"/>
                  <a:pt x="6939773" y="141556"/>
                  <a:pt x="6950286" y="150104"/>
                </a:cubicBezTo>
                <a:lnTo>
                  <a:pt x="7003442" y="136136"/>
                </a:lnTo>
                <a:lnTo>
                  <a:pt x="7160047" y="166721"/>
                </a:lnTo>
                <a:cubicBezTo>
                  <a:pt x="7207281" y="179911"/>
                  <a:pt x="7280644" y="210197"/>
                  <a:pt x="7325604" y="215867"/>
                </a:cubicBezTo>
                <a:cubicBezTo>
                  <a:pt x="7460113" y="233904"/>
                  <a:pt x="7393081" y="242880"/>
                  <a:pt x="7540522" y="239374"/>
                </a:cubicBezTo>
                <a:cubicBezTo>
                  <a:pt x="7545714" y="234872"/>
                  <a:pt x="7605972" y="231727"/>
                  <a:pt x="7612071" y="229553"/>
                </a:cubicBezTo>
                <a:lnTo>
                  <a:pt x="7651995" y="244567"/>
                </a:lnTo>
                <a:lnTo>
                  <a:pt x="7725761" y="258638"/>
                </a:lnTo>
                <a:lnTo>
                  <a:pt x="7823038" y="287078"/>
                </a:lnTo>
                <a:cubicBezTo>
                  <a:pt x="7837080" y="286482"/>
                  <a:pt x="7851647" y="286498"/>
                  <a:pt x="7866405" y="287288"/>
                </a:cubicBezTo>
                <a:lnTo>
                  <a:pt x="7875021" y="288224"/>
                </a:lnTo>
                <a:cubicBezTo>
                  <a:pt x="7875062" y="288354"/>
                  <a:pt x="7875105" y="288483"/>
                  <a:pt x="7875146" y="288614"/>
                </a:cubicBezTo>
                <a:cubicBezTo>
                  <a:pt x="7880550" y="289202"/>
                  <a:pt x="7901153" y="290716"/>
                  <a:pt x="7907443" y="291752"/>
                </a:cubicBezTo>
                <a:lnTo>
                  <a:pt x="7912892" y="294833"/>
                </a:lnTo>
                <a:lnTo>
                  <a:pt x="7946345" y="319359"/>
                </a:lnTo>
                <a:cubicBezTo>
                  <a:pt x="7958657" y="312776"/>
                  <a:pt x="7996513" y="309749"/>
                  <a:pt x="8021238" y="315159"/>
                </a:cubicBezTo>
                <a:cubicBezTo>
                  <a:pt x="8045964" y="320570"/>
                  <a:pt x="8058169" y="340462"/>
                  <a:pt x="8094697" y="351819"/>
                </a:cubicBezTo>
                <a:cubicBezTo>
                  <a:pt x="8129587" y="361154"/>
                  <a:pt x="8116181" y="360544"/>
                  <a:pt x="8155208" y="371168"/>
                </a:cubicBezTo>
                <a:cubicBezTo>
                  <a:pt x="8196217" y="383300"/>
                  <a:pt x="8205468" y="391801"/>
                  <a:pt x="8248472" y="400489"/>
                </a:cubicBezTo>
                <a:cubicBezTo>
                  <a:pt x="8283932" y="419791"/>
                  <a:pt x="8278617" y="392031"/>
                  <a:pt x="8300068" y="405531"/>
                </a:cubicBezTo>
                <a:lnTo>
                  <a:pt x="8356293" y="403328"/>
                </a:lnTo>
                <a:cubicBezTo>
                  <a:pt x="8377247" y="404463"/>
                  <a:pt x="8438442" y="433194"/>
                  <a:pt x="8475838" y="435524"/>
                </a:cubicBezTo>
                <a:cubicBezTo>
                  <a:pt x="8510241" y="438037"/>
                  <a:pt x="8545511" y="449840"/>
                  <a:pt x="8575216" y="450198"/>
                </a:cubicBezTo>
                <a:lnTo>
                  <a:pt x="8588650" y="447070"/>
                </a:lnTo>
                <a:lnTo>
                  <a:pt x="8612184" y="439577"/>
                </a:lnTo>
                <a:lnTo>
                  <a:pt x="8630713" y="433015"/>
                </a:lnTo>
                <a:cubicBezTo>
                  <a:pt x="8635870" y="429519"/>
                  <a:pt x="8700685" y="428411"/>
                  <a:pt x="8704240" y="422865"/>
                </a:cubicBezTo>
                <a:cubicBezTo>
                  <a:pt x="8761777" y="429549"/>
                  <a:pt x="8768302" y="427178"/>
                  <a:pt x="8829513" y="429389"/>
                </a:cubicBezTo>
                <a:cubicBezTo>
                  <a:pt x="8922895" y="444672"/>
                  <a:pt x="8924579" y="401507"/>
                  <a:pt x="9083651" y="390744"/>
                </a:cubicBezTo>
                <a:cubicBezTo>
                  <a:pt x="9138403" y="388032"/>
                  <a:pt x="9315003" y="378647"/>
                  <a:pt x="9371402" y="371809"/>
                </a:cubicBezTo>
                <a:cubicBezTo>
                  <a:pt x="9358632" y="337502"/>
                  <a:pt x="9402842" y="379364"/>
                  <a:pt x="9429586" y="369213"/>
                </a:cubicBezTo>
                <a:cubicBezTo>
                  <a:pt x="9449312" y="370213"/>
                  <a:pt x="9473938" y="373270"/>
                  <a:pt x="9489757" y="377814"/>
                </a:cubicBezTo>
                <a:cubicBezTo>
                  <a:pt x="9498164" y="379256"/>
                  <a:pt x="9507139" y="379272"/>
                  <a:pt x="9516954" y="376991"/>
                </a:cubicBezTo>
                <a:cubicBezTo>
                  <a:pt x="9548430" y="354766"/>
                  <a:pt x="9591874" y="370315"/>
                  <a:pt x="9645588" y="363590"/>
                </a:cubicBezTo>
                <a:cubicBezTo>
                  <a:pt x="9660487" y="368814"/>
                  <a:pt x="9710817" y="350550"/>
                  <a:pt x="9722896" y="360983"/>
                </a:cubicBezTo>
                <a:cubicBezTo>
                  <a:pt x="9733918" y="362239"/>
                  <a:pt x="9745201" y="356679"/>
                  <a:pt x="9752803" y="368492"/>
                </a:cubicBezTo>
                <a:cubicBezTo>
                  <a:pt x="9793268" y="374490"/>
                  <a:pt x="9843313" y="380978"/>
                  <a:pt x="9890305" y="380736"/>
                </a:cubicBezTo>
                <a:cubicBezTo>
                  <a:pt x="9912701" y="380083"/>
                  <a:pt x="9926523" y="379037"/>
                  <a:pt x="9939767" y="377776"/>
                </a:cubicBezTo>
                <a:lnTo>
                  <a:pt x="9944355" y="377352"/>
                </a:lnTo>
                <a:lnTo>
                  <a:pt x="9953719" y="375642"/>
                </a:lnTo>
                <a:lnTo>
                  <a:pt x="9955809" y="376294"/>
                </a:lnTo>
                <a:lnTo>
                  <a:pt x="10032710" y="394940"/>
                </a:lnTo>
                <a:lnTo>
                  <a:pt x="10049925" y="404971"/>
                </a:lnTo>
                <a:lnTo>
                  <a:pt x="10112671" y="414549"/>
                </a:lnTo>
                <a:cubicBezTo>
                  <a:pt x="10169643" y="412125"/>
                  <a:pt x="10132220" y="425358"/>
                  <a:pt x="10170853" y="435168"/>
                </a:cubicBezTo>
                <a:cubicBezTo>
                  <a:pt x="10206088" y="442020"/>
                  <a:pt x="10240809" y="454081"/>
                  <a:pt x="10290184" y="448123"/>
                </a:cubicBezTo>
                <a:cubicBezTo>
                  <a:pt x="10301813" y="444919"/>
                  <a:pt x="10315233" y="449499"/>
                  <a:pt x="10320158" y="458352"/>
                </a:cubicBezTo>
                <a:cubicBezTo>
                  <a:pt x="10321006" y="459876"/>
                  <a:pt x="10321565" y="461470"/>
                  <a:pt x="10321815" y="463087"/>
                </a:cubicBezTo>
                <a:cubicBezTo>
                  <a:pt x="10354058" y="457158"/>
                  <a:pt x="10355176" y="470634"/>
                  <a:pt x="10373742" y="464538"/>
                </a:cubicBezTo>
                <a:cubicBezTo>
                  <a:pt x="10403060" y="475292"/>
                  <a:pt x="10411841" y="497597"/>
                  <a:pt x="10428532" y="492504"/>
                </a:cubicBezTo>
                <a:cubicBezTo>
                  <a:pt x="10440561" y="500742"/>
                  <a:pt x="10446267" y="521930"/>
                  <a:pt x="10466490" y="517759"/>
                </a:cubicBezTo>
                <a:cubicBezTo>
                  <a:pt x="10464622" y="519986"/>
                  <a:pt x="10465013" y="521261"/>
                  <a:pt x="10466675" y="522076"/>
                </a:cubicBezTo>
                <a:lnTo>
                  <a:pt x="10470309" y="522792"/>
                </a:lnTo>
                <a:lnTo>
                  <a:pt x="10474138" y="519761"/>
                </a:lnTo>
                <a:cubicBezTo>
                  <a:pt x="10488888" y="509612"/>
                  <a:pt x="10484914" y="524734"/>
                  <a:pt x="10501100" y="528263"/>
                </a:cubicBezTo>
                <a:cubicBezTo>
                  <a:pt x="10508412" y="530705"/>
                  <a:pt x="10505426" y="533743"/>
                  <a:pt x="10502395" y="536393"/>
                </a:cubicBezTo>
                <a:lnTo>
                  <a:pt x="10689496" y="560233"/>
                </a:lnTo>
                <a:cubicBezTo>
                  <a:pt x="10721441" y="573640"/>
                  <a:pt x="10757547" y="582937"/>
                  <a:pt x="10788736" y="613188"/>
                </a:cubicBezTo>
                <a:cubicBezTo>
                  <a:pt x="10794510" y="621641"/>
                  <a:pt x="10807098" y="616073"/>
                  <a:pt x="10819747" y="621351"/>
                </a:cubicBezTo>
                <a:cubicBezTo>
                  <a:pt x="10832398" y="626630"/>
                  <a:pt x="10846356" y="639592"/>
                  <a:pt x="10864632" y="644858"/>
                </a:cubicBezTo>
                <a:cubicBezTo>
                  <a:pt x="10895617" y="652290"/>
                  <a:pt x="10921550" y="640451"/>
                  <a:pt x="10929407" y="652945"/>
                </a:cubicBezTo>
                <a:cubicBezTo>
                  <a:pt x="10945460" y="653176"/>
                  <a:pt x="10968148" y="640553"/>
                  <a:pt x="10979412" y="654217"/>
                </a:cubicBezTo>
                <a:cubicBezTo>
                  <a:pt x="10981679" y="643737"/>
                  <a:pt x="10997287" y="663414"/>
                  <a:pt x="11006959" y="657017"/>
                </a:cubicBezTo>
                <a:cubicBezTo>
                  <a:pt x="11023230" y="659396"/>
                  <a:pt x="11051890" y="662462"/>
                  <a:pt x="11077038" y="668487"/>
                </a:cubicBezTo>
                <a:cubicBezTo>
                  <a:pt x="11097000" y="690299"/>
                  <a:pt x="11141286" y="676399"/>
                  <a:pt x="11157850" y="693164"/>
                </a:cubicBezTo>
                <a:cubicBezTo>
                  <a:pt x="11163800" y="695757"/>
                  <a:pt x="11169599" y="696942"/>
                  <a:pt x="11175276" y="697243"/>
                </a:cubicBezTo>
                <a:lnTo>
                  <a:pt x="11191131" y="696085"/>
                </a:lnTo>
                <a:lnTo>
                  <a:pt x="11195573" y="691751"/>
                </a:lnTo>
                <a:lnTo>
                  <a:pt x="11205299" y="693247"/>
                </a:lnTo>
                <a:lnTo>
                  <a:pt x="11223770" y="690335"/>
                </a:lnTo>
                <a:cubicBezTo>
                  <a:pt x="11237778" y="693777"/>
                  <a:pt x="11256852" y="701947"/>
                  <a:pt x="11292119" y="713311"/>
                </a:cubicBezTo>
                <a:cubicBezTo>
                  <a:pt x="11334878" y="733451"/>
                  <a:pt x="11401662" y="729175"/>
                  <a:pt x="11435379" y="758519"/>
                </a:cubicBezTo>
                <a:lnTo>
                  <a:pt x="11604406" y="810476"/>
                </a:lnTo>
                <a:lnTo>
                  <a:pt x="11652155" y="825109"/>
                </a:lnTo>
                <a:lnTo>
                  <a:pt x="11654192" y="827301"/>
                </a:lnTo>
                <a:cubicBezTo>
                  <a:pt x="11661650" y="834729"/>
                  <a:pt x="11669215" y="841480"/>
                  <a:pt x="11676599" y="846628"/>
                </a:cubicBezTo>
                <a:cubicBezTo>
                  <a:pt x="11688258" y="861760"/>
                  <a:pt x="11752266" y="896888"/>
                  <a:pt x="11775168" y="890664"/>
                </a:cubicBezTo>
                <a:cubicBezTo>
                  <a:pt x="11790977" y="883819"/>
                  <a:pt x="11808364" y="879901"/>
                  <a:pt x="11826341" y="877558"/>
                </a:cubicBezTo>
                <a:lnTo>
                  <a:pt x="11879068" y="874038"/>
                </a:lnTo>
                <a:lnTo>
                  <a:pt x="11889563" y="878619"/>
                </a:lnTo>
                <a:lnTo>
                  <a:pt x="12016613" y="886111"/>
                </a:lnTo>
                <a:lnTo>
                  <a:pt x="12108292" y="868500"/>
                </a:lnTo>
                <a:cubicBezTo>
                  <a:pt x="12129725" y="867311"/>
                  <a:pt x="12157891" y="874537"/>
                  <a:pt x="12182910" y="882003"/>
                </a:cubicBezTo>
                <a:lnTo>
                  <a:pt x="12192000" y="884778"/>
                </a:lnTo>
                <a:lnTo>
                  <a:pt x="12192000" y="1610315"/>
                </a:lnTo>
                <a:lnTo>
                  <a:pt x="12191998" y="1610315"/>
                </a:lnTo>
                <a:lnTo>
                  <a:pt x="12191998" y="1924333"/>
                </a:lnTo>
                <a:lnTo>
                  <a:pt x="0" y="1924333"/>
                </a:lnTo>
                <a:lnTo>
                  <a:pt x="0" y="505159"/>
                </a:lnTo>
                <a:lnTo>
                  <a:pt x="5722" y="508889"/>
                </a:lnTo>
                <a:cubicBezTo>
                  <a:pt x="21614" y="518548"/>
                  <a:pt x="33814" y="524781"/>
                  <a:pt x="38476" y="524137"/>
                </a:cubicBezTo>
                <a:cubicBezTo>
                  <a:pt x="99229" y="544180"/>
                  <a:pt x="142010" y="538457"/>
                  <a:pt x="192883" y="545272"/>
                </a:cubicBezTo>
                <a:cubicBezTo>
                  <a:pt x="277629" y="525210"/>
                  <a:pt x="293434" y="558443"/>
                  <a:pt x="343710" y="565029"/>
                </a:cubicBezTo>
                <a:cubicBezTo>
                  <a:pt x="383094" y="555729"/>
                  <a:pt x="425462" y="556271"/>
                  <a:pt x="471066" y="549837"/>
                </a:cubicBezTo>
                <a:cubicBezTo>
                  <a:pt x="513583" y="544428"/>
                  <a:pt x="569194" y="531004"/>
                  <a:pt x="617333" y="526428"/>
                </a:cubicBezTo>
                <a:cubicBezTo>
                  <a:pt x="660031" y="520760"/>
                  <a:pt x="696675" y="523882"/>
                  <a:pt x="725203" y="523793"/>
                </a:cubicBezTo>
                <a:cubicBezTo>
                  <a:pt x="736650" y="521695"/>
                  <a:pt x="780513" y="502146"/>
                  <a:pt x="788494" y="505799"/>
                </a:cubicBezTo>
                <a:lnTo>
                  <a:pt x="885977" y="526585"/>
                </a:lnTo>
                <a:cubicBezTo>
                  <a:pt x="906140" y="522837"/>
                  <a:pt x="917203" y="532232"/>
                  <a:pt x="932142" y="528005"/>
                </a:cubicBezTo>
                <a:cubicBezTo>
                  <a:pt x="963701" y="524128"/>
                  <a:pt x="1061555" y="499582"/>
                  <a:pt x="1090404" y="498299"/>
                </a:cubicBezTo>
                <a:cubicBezTo>
                  <a:pt x="1132840" y="494057"/>
                  <a:pt x="1148476" y="496041"/>
                  <a:pt x="1188628" y="483151"/>
                </a:cubicBezTo>
                <a:cubicBezTo>
                  <a:pt x="1230397" y="468408"/>
                  <a:pt x="1278711" y="457638"/>
                  <a:pt x="1316247" y="425979"/>
                </a:cubicBezTo>
                <a:cubicBezTo>
                  <a:pt x="1322662" y="417251"/>
                  <a:pt x="1339433" y="418553"/>
                  <a:pt x="1357712" y="416549"/>
                </a:cubicBezTo>
                <a:cubicBezTo>
                  <a:pt x="1375991" y="414544"/>
                  <a:pt x="1423507" y="412949"/>
                  <a:pt x="1425921" y="413953"/>
                </a:cubicBezTo>
                <a:cubicBezTo>
                  <a:pt x="1450272" y="407937"/>
                  <a:pt x="1458223" y="388156"/>
                  <a:pt x="1503817" y="380457"/>
                </a:cubicBezTo>
                <a:cubicBezTo>
                  <a:pt x="1541095" y="377398"/>
                  <a:pt x="1605565" y="376357"/>
                  <a:pt x="1639196" y="372785"/>
                </a:cubicBezTo>
                <a:cubicBezTo>
                  <a:pt x="1653280" y="376736"/>
                  <a:pt x="1695289" y="365766"/>
                  <a:pt x="1705606" y="359023"/>
                </a:cubicBezTo>
                <a:cubicBezTo>
                  <a:pt x="1729169" y="336295"/>
                  <a:pt x="1793207" y="348537"/>
                  <a:pt x="1813011" y="331023"/>
                </a:cubicBezTo>
                <a:cubicBezTo>
                  <a:pt x="1820772" y="328179"/>
                  <a:pt x="1823566" y="341833"/>
                  <a:pt x="1831380" y="341307"/>
                </a:cubicBezTo>
                <a:lnTo>
                  <a:pt x="1858612" y="326777"/>
                </a:lnTo>
                <a:lnTo>
                  <a:pt x="1880661" y="335987"/>
                </a:lnTo>
                <a:lnTo>
                  <a:pt x="1941495" y="310792"/>
                </a:lnTo>
                <a:cubicBezTo>
                  <a:pt x="1978970" y="307223"/>
                  <a:pt x="1947391" y="291714"/>
                  <a:pt x="1995402" y="305480"/>
                </a:cubicBezTo>
                <a:cubicBezTo>
                  <a:pt x="2042464" y="298034"/>
                  <a:pt x="2153424" y="281146"/>
                  <a:pt x="2223864" y="266118"/>
                </a:cubicBezTo>
                <a:cubicBezTo>
                  <a:pt x="2261296" y="256300"/>
                  <a:pt x="2360518" y="238323"/>
                  <a:pt x="2418043" y="215314"/>
                </a:cubicBezTo>
                <a:cubicBezTo>
                  <a:pt x="2472088" y="206823"/>
                  <a:pt x="2499422" y="162612"/>
                  <a:pt x="2558461" y="168193"/>
                </a:cubicBezTo>
                <a:cubicBezTo>
                  <a:pt x="2559660" y="164506"/>
                  <a:pt x="2592244" y="161337"/>
                  <a:pt x="2595535" y="158548"/>
                </a:cubicBezTo>
                <a:lnTo>
                  <a:pt x="2626942" y="130400"/>
                </a:lnTo>
                <a:lnTo>
                  <a:pt x="2632225" y="130446"/>
                </a:lnTo>
                <a:lnTo>
                  <a:pt x="2696856" y="128498"/>
                </a:lnTo>
                <a:lnTo>
                  <a:pt x="2759767" y="127784"/>
                </a:lnTo>
                <a:cubicBezTo>
                  <a:pt x="2770024" y="123546"/>
                  <a:pt x="2781047" y="119463"/>
                  <a:pt x="2792685" y="115710"/>
                </a:cubicBezTo>
                <a:lnTo>
                  <a:pt x="2799767" y="113754"/>
                </a:lnTo>
                <a:lnTo>
                  <a:pt x="2829799" y="120042"/>
                </a:lnTo>
                <a:lnTo>
                  <a:pt x="2890704" y="121493"/>
                </a:lnTo>
                <a:cubicBezTo>
                  <a:pt x="2935390" y="121035"/>
                  <a:pt x="2990780" y="113193"/>
                  <a:pt x="3042646" y="112273"/>
                </a:cubicBezTo>
                <a:cubicBezTo>
                  <a:pt x="3077119" y="111474"/>
                  <a:pt x="3124089" y="100414"/>
                  <a:pt x="3146630" y="100898"/>
                </a:cubicBezTo>
                <a:cubicBezTo>
                  <a:pt x="3169381" y="117699"/>
                  <a:pt x="3224695" y="125864"/>
                  <a:pt x="3233163" y="120200"/>
                </a:cubicBezTo>
                <a:lnTo>
                  <a:pt x="3372699" y="129394"/>
                </a:lnTo>
                <a:cubicBezTo>
                  <a:pt x="3389020" y="126586"/>
                  <a:pt x="3397563" y="116804"/>
                  <a:pt x="3394352" y="131671"/>
                </a:cubicBezTo>
                <a:cubicBezTo>
                  <a:pt x="3406102" y="131485"/>
                  <a:pt x="3429770" y="120938"/>
                  <a:pt x="3448218" y="118229"/>
                </a:cubicBezTo>
                <a:lnTo>
                  <a:pt x="3505047" y="115412"/>
                </a:lnTo>
                <a:lnTo>
                  <a:pt x="3521767" y="111071"/>
                </a:lnTo>
                <a:cubicBezTo>
                  <a:pt x="3526335" y="108877"/>
                  <a:pt x="3582156" y="117732"/>
                  <a:pt x="3585137" y="114371"/>
                </a:cubicBezTo>
                <a:cubicBezTo>
                  <a:pt x="3638265" y="102098"/>
                  <a:pt x="3633789" y="98565"/>
                  <a:pt x="3690293" y="98301"/>
                </a:cubicBezTo>
                <a:cubicBezTo>
                  <a:pt x="3782197" y="112746"/>
                  <a:pt x="3826738" y="92943"/>
                  <a:pt x="3867818" y="88985"/>
                </a:cubicBezTo>
                <a:cubicBezTo>
                  <a:pt x="3943777" y="81477"/>
                  <a:pt x="3990501" y="75194"/>
                  <a:pt x="4091337" y="70813"/>
                </a:cubicBezTo>
                <a:cubicBezTo>
                  <a:pt x="4154422" y="62932"/>
                  <a:pt x="4217060" y="45734"/>
                  <a:pt x="4246332" y="41697"/>
                </a:cubicBezTo>
                <a:cubicBezTo>
                  <a:pt x="4253308" y="42804"/>
                  <a:pt x="4260125" y="44606"/>
                  <a:pt x="4266975" y="46592"/>
                </a:cubicBezTo>
                <a:lnTo>
                  <a:pt x="4270566" y="47620"/>
                </a:lnTo>
                <a:lnTo>
                  <a:pt x="4288964" y="52766"/>
                </a:lnTo>
                <a:lnTo>
                  <a:pt x="4365137" y="51783"/>
                </a:lnTo>
                <a:lnTo>
                  <a:pt x="4430546" y="44555"/>
                </a:lnTo>
                <a:lnTo>
                  <a:pt x="4444136" y="39567"/>
                </a:lnTo>
                <a:lnTo>
                  <a:pt x="4534039" y="31604"/>
                </a:lnTo>
                <a:lnTo>
                  <a:pt x="4560448" y="25231"/>
                </a:lnTo>
                <a:lnTo>
                  <a:pt x="4568006" y="25970"/>
                </a:lnTo>
                <a:cubicBezTo>
                  <a:pt x="4580278" y="23866"/>
                  <a:pt x="4594878" y="14904"/>
                  <a:pt x="4595497" y="22958"/>
                </a:cubicBezTo>
                <a:lnTo>
                  <a:pt x="4608623" y="18108"/>
                </a:lnTo>
                <a:lnTo>
                  <a:pt x="4623942" y="22251"/>
                </a:lnTo>
                <a:cubicBezTo>
                  <a:pt x="4633227" y="23117"/>
                  <a:pt x="4655429" y="23973"/>
                  <a:pt x="4664336" y="23306"/>
                </a:cubicBezTo>
                <a:lnTo>
                  <a:pt x="4677385" y="18246"/>
                </a:lnTo>
                <a:lnTo>
                  <a:pt x="4698143" y="18036"/>
                </a:lnTo>
                <a:cubicBezTo>
                  <a:pt x="4710347" y="18931"/>
                  <a:pt x="4736189" y="22441"/>
                  <a:pt x="4750609" y="23611"/>
                </a:cubicBezTo>
                <a:cubicBezTo>
                  <a:pt x="4764270" y="27424"/>
                  <a:pt x="4774858" y="29782"/>
                  <a:pt x="4784658" y="25057"/>
                </a:cubicBezTo>
                <a:cubicBezTo>
                  <a:pt x="4804708" y="29613"/>
                  <a:pt x="4822811" y="48263"/>
                  <a:pt x="4847558" y="38726"/>
                </a:cubicBezTo>
                <a:cubicBezTo>
                  <a:pt x="4868304" y="42993"/>
                  <a:pt x="4867190" y="47939"/>
                  <a:pt x="4909134" y="50659"/>
                </a:cubicBezTo>
                <a:cubicBezTo>
                  <a:pt x="4945026" y="52455"/>
                  <a:pt x="5063406" y="54096"/>
                  <a:pt x="5099219" y="55050"/>
                </a:cubicBezTo>
                <a:cubicBezTo>
                  <a:pt x="5145195" y="57873"/>
                  <a:pt x="5163254" y="65473"/>
                  <a:pt x="5184992" y="67596"/>
                </a:cubicBezTo>
                <a:cubicBezTo>
                  <a:pt x="5206728" y="69720"/>
                  <a:pt x="5195578" y="65687"/>
                  <a:pt x="5229637" y="67789"/>
                </a:cubicBezTo>
                <a:cubicBezTo>
                  <a:pt x="5263695" y="69892"/>
                  <a:pt x="5345217" y="78854"/>
                  <a:pt x="5389346" y="80211"/>
                </a:cubicBezTo>
                <a:cubicBezTo>
                  <a:pt x="5425889" y="83191"/>
                  <a:pt x="5461943" y="84751"/>
                  <a:pt x="5494414" y="75926"/>
                </a:cubicBezTo>
                <a:lnTo>
                  <a:pt x="5528443" y="77206"/>
                </a:lnTo>
                <a:cubicBezTo>
                  <a:pt x="5582723" y="71370"/>
                  <a:pt x="5638917" y="68385"/>
                  <a:pt x="5684939" y="50269"/>
                </a:cubicBezTo>
                <a:cubicBezTo>
                  <a:pt x="5724389" y="45804"/>
                  <a:pt x="5737860" y="52916"/>
                  <a:pt x="5765146" y="50414"/>
                </a:cubicBezTo>
                <a:cubicBezTo>
                  <a:pt x="5792695" y="43060"/>
                  <a:pt x="5827352" y="38097"/>
                  <a:pt x="5848655" y="35257"/>
                </a:cubicBezTo>
                <a:lnTo>
                  <a:pt x="5930656" y="30131"/>
                </a:lnTo>
                <a:lnTo>
                  <a:pt x="6124150" y="31679"/>
                </a:lnTo>
                <a:cubicBezTo>
                  <a:pt x="6138131" y="22216"/>
                  <a:pt x="6167730" y="4075"/>
                  <a:pt x="6189199" y="588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463094-ACE3-71C9-B110-9986C502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1505" y="5279511"/>
            <a:ext cx="8448990" cy="7398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 bit of a double meaning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69CFA-8334-142C-6108-88EA1AD7ADA0}"/>
              </a:ext>
            </a:extLst>
          </p:cNvPr>
          <p:cNvSpPr txBox="1"/>
          <p:nvPr/>
        </p:nvSpPr>
        <p:spPr>
          <a:xfrm>
            <a:off x="1871505" y="6155917"/>
            <a:ext cx="8448989" cy="8454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</a:pPr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Discrete math classes are wildly different from one another</a:t>
            </a:r>
            <a:b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</a:br>
            <a:r>
              <a:rPr lang="en-US" sz="20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rPr>
              <a:t>There’s a lot here and everyone prioritizes different things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0C28408-83C1-B751-E7E7-0D8AC9D12F6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71505" y="579473"/>
            <a:ext cx="8448989" cy="4224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5959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14977C-900D-CE7A-FA99-7F78A1788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3" y="1119116"/>
            <a:ext cx="6710080" cy="2213635"/>
          </a:xfrm>
          <a:prstGeom prst="rect">
            <a:avLst/>
          </a:prstGeom>
        </p:spPr>
      </p:pic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33BDFC-4938-428C-8607-ED85A6355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Today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A14CD-B07E-4751-1807-5982C29CF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303" y="5142305"/>
            <a:ext cx="7321298" cy="753165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Lets get in to our first subject</a:t>
            </a:r>
            <a:b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endParaRPr 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FECAB5-3D0F-0990-21E7-BCEC5497B5BB}"/>
              </a:ext>
            </a:extLst>
          </p:cNvPr>
          <p:cNvSpPr txBox="1"/>
          <p:nvPr/>
        </p:nvSpPr>
        <p:spPr>
          <a:xfrm>
            <a:off x="1289303" y="6333253"/>
            <a:ext cx="4670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Actually – check in.  Do we need a break first?</a:t>
            </a:r>
          </a:p>
        </p:txBody>
      </p:sp>
    </p:spTree>
    <p:extLst>
      <p:ext uri="{BB962C8B-B14F-4D97-AF65-F5344CB8AC3E}">
        <p14:creationId xmlns:p14="http://schemas.microsoft.com/office/powerpoint/2010/main" val="37559817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2850-5B6A-3004-5952-9C0859308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example….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62C111-C59A-8895-1E8B-3F891E7E7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900" y="4546600"/>
            <a:ext cx="4737100" cy="2311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9E92C4B-865F-6432-F9CA-EEC2F27A2498}"/>
              </a:ext>
            </a:extLst>
          </p:cNvPr>
          <p:cNvSpPr/>
          <p:nvPr/>
        </p:nvSpPr>
        <p:spPr>
          <a:xfrm>
            <a:off x="838200" y="2092036"/>
            <a:ext cx="2431473" cy="21197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F6F52D-E3F0-0359-228A-14DFD22BC78B}"/>
              </a:ext>
            </a:extLst>
          </p:cNvPr>
          <p:cNvSpPr/>
          <p:nvPr/>
        </p:nvSpPr>
        <p:spPr>
          <a:xfrm>
            <a:off x="4606636" y="2092036"/>
            <a:ext cx="2431473" cy="2119746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346DC4-B8B5-EDFF-3A92-9346FE12C907}"/>
              </a:ext>
            </a:extLst>
          </p:cNvPr>
          <p:cNvSpPr/>
          <p:nvPr/>
        </p:nvSpPr>
        <p:spPr>
          <a:xfrm>
            <a:off x="8375073" y="2092036"/>
            <a:ext cx="2431473" cy="2119746"/>
          </a:xfrm>
          <a:prstGeom prst="rect">
            <a:avLst/>
          </a:prstGeom>
          <a:solidFill>
            <a:schemeClr val="tx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36CE42-0CDC-F098-D6DC-0FB0C9BD754F}"/>
              </a:ext>
            </a:extLst>
          </p:cNvPr>
          <p:cNvSpPr txBox="1"/>
          <p:nvPr/>
        </p:nvSpPr>
        <p:spPr>
          <a:xfrm>
            <a:off x="1021772" y="2690244"/>
            <a:ext cx="2064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statement on the white box is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2614DD-1555-71B5-3DBF-E9DABEA8B0CC}"/>
              </a:ext>
            </a:extLst>
          </p:cNvPr>
          <p:cNvSpPr txBox="1"/>
          <p:nvPr/>
        </p:nvSpPr>
        <p:spPr>
          <a:xfrm>
            <a:off x="4790208" y="2967243"/>
            <a:ext cx="2064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There are 4 boxes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F80B8E-DB73-993C-DBEC-8E4AE4384DAB}"/>
              </a:ext>
            </a:extLst>
          </p:cNvPr>
          <p:cNvSpPr txBox="1"/>
          <p:nvPr/>
        </p:nvSpPr>
        <p:spPr>
          <a:xfrm>
            <a:off x="8558645" y="2690244"/>
            <a:ext cx="2064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This box and the white box are empty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1D0D13-8644-8851-2C8B-2CBC27A1250B}"/>
              </a:ext>
            </a:extLst>
          </p:cNvPr>
          <p:cNvSpPr txBox="1"/>
          <p:nvPr/>
        </p:nvSpPr>
        <p:spPr>
          <a:xfrm>
            <a:off x="1021772" y="4546600"/>
            <a:ext cx="177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prize is here</a:t>
            </a:r>
          </a:p>
        </p:txBody>
      </p:sp>
    </p:spTree>
    <p:extLst>
      <p:ext uri="{BB962C8B-B14F-4D97-AF65-F5344CB8AC3E}">
        <p14:creationId xmlns:p14="http://schemas.microsoft.com/office/powerpoint/2010/main" val="99927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 descr="Lightbulb">
            <a:extLst>
              <a:ext uri="{FF2B5EF4-FFF2-40B4-BE49-F238E27FC236}">
                <a16:creationId xmlns:a16="http://schemas.microsoft.com/office/drawing/2014/main" id="{E5F0E6EC-4E4C-AEE0-1975-6B545471A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9303" y="1119116"/>
            <a:ext cx="2213635" cy="2213635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428036-D942-AAC0-E540-C3A2E907C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Getting the answer is good</a:t>
            </a:r>
            <a:b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But how do you KNOW it’s right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EF72C-3665-D555-30EE-40B654EEC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89303" y="5142305"/>
            <a:ext cx="7321298" cy="7531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Lets consider all possible outcomes</a:t>
            </a:r>
          </a:p>
        </p:txBody>
      </p:sp>
    </p:spTree>
    <p:extLst>
      <p:ext uri="{BB962C8B-B14F-4D97-AF65-F5344CB8AC3E}">
        <p14:creationId xmlns:p14="http://schemas.microsoft.com/office/powerpoint/2010/main" val="3007465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01A6B65-1B0F-BD4C-F1B3-E2D3C3EDA2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8059893"/>
              </p:ext>
            </p:extLst>
          </p:nvPr>
        </p:nvGraphicFramePr>
        <p:xfrm>
          <a:off x="192237" y="518861"/>
          <a:ext cx="114369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9232">
                  <a:extLst>
                    <a:ext uri="{9D8B030D-6E8A-4147-A177-3AD203B41FA5}">
                      <a16:colId xmlns:a16="http://schemas.microsoft.com/office/drawing/2014/main" val="2821624742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163885289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976002896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405984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21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84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1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2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41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99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94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3497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261D442-25B4-E6C4-FD81-E103088CF411}"/>
              </a:ext>
            </a:extLst>
          </p:cNvPr>
          <p:cNvSpPr txBox="1"/>
          <p:nvPr/>
        </p:nvSpPr>
        <p:spPr>
          <a:xfrm>
            <a:off x="270161" y="904088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896929-832D-4F48-B3E4-31BF7E77CF6B}"/>
              </a:ext>
            </a:extLst>
          </p:cNvPr>
          <p:cNvSpPr txBox="1"/>
          <p:nvPr/>
        </p:nvSpPr>
        <p:spPr>
          <a:xfrm>
            <a:off x="270161" y="1995971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D48E7B-E2AF-FD5C-EF99-0ED5398F78B4}"/>
              </a:ext>
            </a:extLst>
          </p:cNvPr>
          <p:cNvSpPr txBox="1"/>
          <p:nvPr/>
        </p:nvSpPr>
        <p:spPr>
          <a:xfrm>
            <a:off x="270161" y="1656606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BCDA8A-B5C5-6275-2D9E-ECAAA722DE2A}"/>
              </a:ext>
            </a:extLst>
          </p:cNvPr>
          <p:cNvSpPr txBox="1"/>
          <p:nvPr/>
        </p:nvSpPr>
        <p:spPr>
          <a:xfrm>
            <a:off x="270161" y="1287274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294A82-223D-8F2E-1025-EE4B3A0AD395}"/>
              </a:ext>
            </a:extLst>
          </p:cNvPr>
          <p:cNvSpPr txBox="1"/>
          <p:nvPr/>
        </p:nvSpPr>
        <p:spPr>
          <a:xfrm>
            <a:off x="3179618" y="917942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1A088A-6896-FD3E-6DAA-6FD82BDD6BDC}"/>
              </a:ext>
            </a:extLst>
          </p:cNvPr>
          <p:cNvSpPr txBox="1"/>
          <p:nvPr/>
        </p:nvSpPr>
        <p:spPr>
          <a:xfrm>
            <a:off x="5922819" y="904088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7D4B11-E985-8528-5F61-90CA9E7E15D3}"/>
              </a:ext>
            </a:extLst>
          </p:cNvPr>
          <p:cNvSpPr txBox="1"/>
          <p:nvPr/>
        </p:nvSpPr>
        <p:spPr>
          <a:xfrm>
            <a:off x="8771074" y="904088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F4E8AA-6AF3-C263-BD5D-D22FF56E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309" y="4997854"/>
            <a:ext cx="3934691" cy="19198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46B5F7D-A3C0-7B87-EBD9-2F019A9E76E0}"/>
              </a:ext>
            </a:extLst>
          </p:cNvPr>
          <p:cNvSpPr txBox="1"/>
          <p:nvPr/>
        </p:nvSpPr>
        <p:spPr>
          <a:xfrm>
            <a:off x="3179617" y="1273420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D59563-EFB5-28FB-4441-5ECF9FEA66DF}"/>
              </a:ext>
            </a:extLst>
          </p:cNvPr>
          <p:cNvSpPr txBox="1"/>
          <p:nvPr/>
        </p:nvSpPr>
        <p:spPr>
          <a:xfrm>
            <a:off x="3179616" y="2365303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DB0D242-5BDB-2848-572E-6554DAFE5AF9}"/>
              </a:ext>
            </a:extLst>
          </p:cNvPr>
          <p:cNvSpPr txBox="1"/>
          <p:nvPr/>
        </p:nvSpPr>
        <p:spPr>
          <a:xfrm>
            <a:off x="3179616" y="2755195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92C6BF-7510-AC0E-DCA5-0F8DFD9A3E45}"/>
              </a:ext>
            </a:extLst>
          </p:cNvPr>
          <p:cNvSpPr txBox="1"/>
          <p:nvPr/>
        </p:nvSpPr>
        <p:spPr>
          <a:xfrm>
            <a:off x="5932043" y="1626639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E9F230A-2A49-4B49-CCF1-DB188C910E9F}"/>
              </a:ext>
            </a:extLst>
          </p:cNvPr>
          <p:cNvSpPr txBox="1"/>
          <p:nvPr/>
        </p:nvSpPr>
        <p:spPr>
          <a:xfrm>
            <a:off x="5932043" y="2404418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6BB600-0936-C122-E357-FCCAF023643F}"/>
              </a:ext>
            </a:extLst>
          </p:cNvPr>
          <p:cNvSpPr txBox="1"/>
          <p:nvPr/>
        </p:nvSpPr>
        <p:spPr>
          <a:xfrm>
            <a:off x="5922819" y="3124527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BA8FE1-E7D0-1A61-2F34-3094E753021E}"/>
              </a:ext>
            </a:extLst>
          </p:cNvPr>
          <p:cNvSpPr txBox="1"/>
          <p:nvPr/>
        </p:nvSpPr>
        <p:spPr>
          <a:xfrm>
            <a:off x="270161" y="2365303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BCECAD-292B-F013-B12C-456EA0F27AC1}"/>
              </a:ext>
            </a:extLst>
          </p:cNvPr>
          <p:cNvSpPr txBox="1"/>
          <p:nvPr/>
        </p:nvSpPr>
        <p:spPr>
          <a:xfrm>
            <a:off x="265547" y="2741530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4DD74B-4E2A-051D-6A9A-B987453EF242}"/>
              </a:ext>
            </a:extLst>
          </p:cNvPr>
          <p:cNvSpPr txBox="1"/>
          <p:nvPr/>
        </p:nvSpPr>
        <p:spPr>
          <a:xfrm>
            <a:off x="267875" y="3098988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8FE2E6-3AB2-0D4D-E1AB-20126A3894BD}"/>
              </a:ext>
            </a:extLst>
          </p:cNvPr>
          <p:cNvSpPr txBox="1"/>
          <p:nvPr/>
        </p:nvSpPr>
        <p:spPr>
          <a:xfrm>
            <a:off x="265547" y="3487089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9CB684-23DA-9B81-DE9F-6E48AF17E57F}"/>
              </a:ext>
            </a:extLst>
          </p:cNvPr>
          <p:cNvSpPr txBox="1"/>
          <p:nvPr/>
        </p:nvSpPr>
        <p:spPr>
          <a:xfrm>
            <a:off x="3176147" y="3126789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D78361-F4FB-7581-BADD-E549C4B85632}"/>
              </a:ext>
            </a:extLst>
          </p:cNvPr>
          <p:cNvSpPr txBox="1"/>
          <p:nvPr/>
        </p:nvSpPr>
        <p:spPr>
          <a:xfrm>
            <a:off x="3176147" y="3515740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2F61D2-C332-ED4D-3A0D-31354B88824D}"/>
              </a:ext>
            </a:extLst>
          </p:cNvPr>
          <p:cNvSpPr txBox="1"/>
          <p:nvPr/>
        </p:nvSpPr>
        <p:spPr>
          <a:xfrm>
            <a:off x="5945898" y="3503322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CF24056-4D8E-586F-D3F2-5764DE3FC227}"/>
              </a:ext>
            </a:extLst>
          </p:cNvPr>
          <p:cNvSpPr txBox="1"/>
          <p:nvPr/>
        </p:nvSpPr>
        <p:spPr>
          <a:xfrm>
            <a:off x="5934371" y="2738962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E521E-8603-99C9-7A68-7502A6E31ACC}"/>
              </a:ext>
            </a:extLst>
          </p:cNvPr>
          <p:cNvSpPr txBox="1"/>
          <p:nvPr/>
        </p:nvSpPr>
        <p:spPr>
          <a:xfrm>
            <a:off x="5932043" y="2005277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2A7A7F-69AB-B21C-E76F-9B54BFD1B316}"/>
              </a:ext>
            </a:extLst>
          </p:cNvPr>
          <p:cNvSpPr txBox="1"/>
          <p:nvPr/>
        </p:nvSpPr>
        <p:spPr>
          <a:xfrm>
            <a:off x="5932043" y="1256026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B9E46AC-A375-BAA0-C6D0-14C46C16B720}"/>
              </a:ext>
            </a:extLst>
          </p:cNvPr>
          <p:cNvSpPr txBox="1"/>
          <p:nvPr/>
        </p:nvSpPr>
        <p:spPr>
          <a:xfrm>
            <a:off x="3184230" y="1658646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21E10D5-2312-7177-301C-A0CD621DE422}"/>
              </a:ext>
            </a:extLst>
          </p:cNvPr>
          <p:cNvSpPr txBox="1"/>
          <p:nvPr/>
        </p:nvSpPr>
        <p:spPr>
          <a:xfrm>
            <a:off x="3184230" y="1993709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8675CB-1442-310E-7FE7-5879900EDAFB}"/>
              </a:ext>
            </a:extLst>
          </p:cNvPr>
          <p:cNvSpPr txBox="1"/>
          <p:nvPr/>
        </p:nvSpPr>
        <p:spPr>
          <a:xfrm>
            <a:off x="192237" y="4303319"/>
            <a:ext cx="506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Per our rules – All 3 can’t be either True or False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DA228DC-FA7C-6362-2027-780D4073A8BF}"/>
              </a:ext>
            </a:extLst>
          </p:cNvPr>
          <p:cNvSpPr txBox="1"/>
          <p:nvPr/>
        </p:nvSpPr>
        <p:spPr>
          <a:xfrm>
            <a:off x="8771074" y="3537441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CBDB62-C684-FC4E-6775-A393EF41CACC}"/>
              </a:ext>
            </a:extLst>
          </p:cNvPr>
          <p:cNvSpPr txBox="1"/>
          <p:nvPr/>
        </p:nvSpPr>
        <p:spPr>
          <a:xfrm>
            <a:off x="200891" y="4876188"/>
            <a:ext cx="792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White is obviously false (there are 3 boxes) so we can rule out any combo that involves White being True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523CC1-C70E-99DA-234D-A6FE5F4B1FA0}"/>
              </a:ext>
            </a:extLst>
          </p:cNvPr>
          <p:cNvSpPr txBox="1"/>
          <p:nvPr/>
        </p:nvSpPr>
        <p:spPr>
          <a:xfrm>
            <a:off x="8771074" y="1287274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986F77-BFD4-2636-CEE8-405C2DEC4532}"/>
              </a:ext>
            </a:extLst>
          </p:cNvPr>
          <p:cNvSpPr txBox="1"/>
          <p:nvPr/>
        </p:nvSpPr>
        <p:spPr>
          <a:xfrm>
            <a:off x="8771074" y="238586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753396F-20B9-0E48-7CD4-5D9B9D7B3B52}"/>
              </a:ext>
            </a:extLst>
          </p:cNvPr>
          <p:cNvSpPr txBox="1"/>
          <p:nvPr/>
        </p:nvSpPr>
        <p:spPr>
          <a:xfrm>
            <a:off x="8771074" y="275519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533D3A-60B3-01E3-F402-BE1E29378281}"/>
              </a:ext>
            </a:extLst>
          </p:cNvPr>
          <p:cNvSpPr txBox="1"/>
          <p:nvPr/>
        </p:nvSpPr>
        <p:spPr>
          <a:xfrm>
            <a:off x="189279" y="5778621"/>
            <a:ext cx="79264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If Blue were True, then white would NEED to be True – which it isn’t </a:t>
            </a:r>
            <a:br>
              <a:rPr lang="en-US" dirty="0"/>
            </a:br>
            <a:r>
              <a:rPr lang="en-US" dirty="0"/>
              <a:t>So blue can’t be True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9B0D005-6F86-5F5D-4DEE-5979FC11399E}"/>
              </a:ext>
            </a:extLst>
          </p:cNvPr>
          <p:cNvSpPr txBox="1"/>
          <p:nvPr/>
        </p:nvSpPr>
        <p:spPr>
          <a:xfrm>
            <a:off x="8771074" y="1633345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25E6E2D-1735-F5B4-072A-032DDC1BFE4E}"/>
              </a:ext>
            </a:extLst>
          </p:cNvPr>
          <p:cNvSpPr txBox="1"/>
          <p:nvPr/>
        </p:nvSpPr>
        <p:spPr>
          <a:xfrm>
            <a:off x="8771074" y="199370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E897FD2-8615-756C-65EA-B39C93CE16A9}"/>
              </a:ext>
            </a:extLst>
          </p:cNvPr>
          <p:cNvSpPr txBox="1"/>
          <p:nvPr/>
        </p:nvSpPr>
        <p:spPr>
          <a:xfrm>
            <a:off x="8831091" y="3168109"/>
            <a:ext cx="279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Black and white are empty</a:t>
            </a:r>
          </a:p>
        </p:txBody>
      </p:sp>
    </p:spTree>
    <p:extLst>
      <p:ext uri="{BB962C8B-B14F-4D97-AF65-F5344CB8AC3E}">
        <p14:creationId xmlns:p14="http://schemas.microsoft.com/office/powerpoint/2010/main" val="334967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1B0EB-4484-9A08-D571-E1B07BBCD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One more (harder)</a:t>
            </a:r>
            <a:br>
              <a:rPr lang="en-US" dirty="0"/>
            </a:br>
            <a:r>
              <a:rPr lang="en-US" dirty="0"/>
              <a:t>Work in groups to solve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03C275-55B7-A4C3-BF64-4007286D9123}"/>
              </a:ext>
            </a:extLst>
          </p:cNvPr>
          <p:cNvSpPr/>
          <p:nvPr/>
        </p:nvSpPr>
        <p:spPr>
          <a:xfrm>
            <a:off x="838200" y="2092036"/>
            <a:ext cx="2431473" cy="211974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3C3359-937F-9F1A-AF92-7566361925D8}"/>
              </a:ext>
            </a:extLst>
          </p:cNvPr>
          <p:cNvSpPr/>
          <p:nvPr/>
        </p:nvSpPr>
        <p:spPr>
          <a:xfrm>
            <a:off x="4606636" y="2092036"/>
            <a:ext cx="2431473" cy="2119746"/>
          </a:xfrm>
          <a:prstGeom prst="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13B1BA-BE34-00AA-5574-223DADC0F09A}"/>
              </a:ext>
            </a:extLst>
          </p:cNvPr>
          <p:cNvSpPr/>
          <p:nvPr/>
        </p:nvSpPr>
        <p:spPr>
          <a:xfrm>
            <a:off x="8375073" y="2092036"/>
            <a:ext cx="2431473" cy="2119746"/>
          </a:xfrm>
          <a:prstGeom prst="rect">
            <a:avLst/>
          </a:prstGeom>
          <a:solidFill>
            <a:schemeClr val="tx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96098BF-F6F1-8E92-E0DF-1B301B328C43}"/>
              </a:ext>
            </a:extLst>
          </p:cNvPr>
          <p:cNvSpPr txBox="1"/>
          <p:nvPr/>
        </p:nvSpPr>
        <p:spPr>
          <a:xfrm>
            <a:off x="1021772" y="2690244"/>
            <a:ext cx="2064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black box is false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1B561-C6FE-2C67-5A1B-2C46DA32AE96}"/>
              </a:ext>
            </a:extLst>
          </p:cNvPr>
          <p:cNvSpPr txBox="1"/>
          <p:nvPr/>
        </p:nvSpPr>
        <p:spPr>
          <a:xfrm>
            <a:off x="4790208" y="2690244"/>
            <a:ext cx="2064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black box is 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31C39B-3E2F-65A9-80B6-70E6087AB470}"/>
              </a:ext>
            </a:extLst>
          </p:cNvPr>
          <p:cNvSpPr txBox="1"/>
          <p:nvPr/>
        </p:nvSpPr>
        <p:spPr>
          <a:xfrm>
            <a:off x="8558645" y="2690244"/>
            <a:ext cx="20643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 false box contains the prize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37D097-B558-7E44-61AF-0A2609725B5F}"/>
              </a:ext>
            </a:extLst>
          </p:cNvPr>
          <p:cNvSpPr txBox="1"/>
          <p:nvPr/>
        </p:nvSpPr>
        <p:spPr>
          <a:xfrm>
            <a:off x="1021772" y="4546600"/>
            <a:ext cx="1774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prize is here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14191C-0FA0-CBAC-53AC-B7C53B8DA6D2}"/>
              </a:ext>
            </a:extLst>
          </p:cNvPr>
          <p:cNvSpPr txBox="1"/>
          <p:nvPr/>
        </p:nvSpPr>
        <p:spPr>
          <a:xfrm>
            <a:off x="983673" y="5624945"/>
            <a:ext cx="59429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out the same kind of table and </a:t>
            </a:r>
            <a:r>
              <a:rPr lang="en-US" u="sng" dirty="0"/>
              <a:t>prove</a:t>
            </a:r>
            <a:r>
              <a:rPr lang="en-US" dirty="0"/>
              <a:t> why you’re right </a:t>
            </a:r>
          </a:p>
          <a:p>
            <a:r>
              <a:rPr lang="en-US" dirty="0"/>
              <a:t>Or maybe it’ll help you figure it out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6B2DFC-217C-6722-DB15-EDC2599FBFA6}"/>
              </a:ext>
            </a:extLst>
          </p:cNvPr>
          <p:cNvSpPr txBox="1"/>
          <p:nvPr/>
        </p:nvSpPr>
        <p:spPr>
          <a:xfrm>
            <a:off x="7703568" y="6127689"/>
            <a:ext cx="44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you can get into groups on your own</a:t>
            </a:r>
            <a:br>
              <a:rPr lang="en-US" dirty="0"/>
            </a:br>
            <a:r>
              <a:rPr lang="en-US" dirty="0"/>
              <a:t>Or I can put you in a group</a:t>
            </a:r>
          </a:p>
        </p:txBody>
      </p:sp>
    </p:spTree>
    <p:extLst>
      <p:ext uri="{BB962C8B-B14F-4D97-AF65-F5344CB8AC3E}">
        <p14:creationId xmlns:p14="http://schemas.microsoft.com/office/powerpoint/2010/main" val="142532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3D052-E058-B845-2BFE-21581FE46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E7A8B-4822-2948-B555-1006C2E2E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7079"/>
            <a:ext cx="10515600" cy="1325563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Lets consider all possible outcomes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4B1332A-81BA-052E-CF36-2481D374209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00890" y="1344769"/>
          <a:ext cx="1143692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9232">
                  <a:extLst>
                    <a:ext uri="{9D8B030D-6E8A-4147-A177-3AD203B41FA5}">
                      <a16:colId xmlns:a16="http://schemas.microsoft.com/office/drawing/2014/main" val="2821624742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163885289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976002896"/>
                    </a:ext>
                  </a:extLst>
                </a:gridCol>
                <a:gridCol w="2859232">
                  <a:extLst>
                    <a:ext uri="{9D8B030D-6E8A-4147-A177-3AD203B41FA5}">
                      <a16:colId xmlns:a16="http://schemas.microsoft.com/office/drawing/2014/main" val="405984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Outcome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7214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846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1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92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418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8995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948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220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34975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03FC8C-21EA-7056-ABB9-B30C2A1F7202}"/>
              </a:ext>
            </a:extLst>
          </p:cNvPr>
          <p:cNvSpPr txBox="1"/>
          <p:nvPr/>
        </p:nvSpPr>
        <p:spPr>
          <a:xfrm>
            <a:off x="270161" y="1729996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520247-42FF-D662-52AC-4583CC86A5FC}"/>
              </a:ext>
            </a:extLst>
          </p:cNvPr>
          <p:cNvSpPr txBox="1"/>
          <p:nvPr/>
        </p:nvSpPr>
        <p:spPr>
          <a:xfrm>
            <a:off x="270161" y="2821879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CEFE54-A142-B367-7586-C954C5C3895A}"/>
              </a:ext>
            </a:extLst>
          </p:cNvPr>
          <p:cNvSpPr txBox="1"/>
          <p:nvPr/>
        </p:nvSpPr>
        <p:spPr>
          <a:xfrm>
            <a:off x="270161" y="2482514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AB1C81E-0E10-00D9-A8E3-864488C0B0C5}"/>
              </a:ext>
            </a:extLst>
          </p:cNvPr>
          <p:cNvSpPr txBox="1"/>
          <p:nvPr/>
        </p:nvSpPr>
        <p:spPr>
          <a:xfrm>
            <a:off x="270161" y="2113182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2D8BDC-2554-E736-2866-1CB8C59ECA36}"/>
              </a:ext>
            </a:extLst>
          </p:cNvPr>
          <p:cNvSpPr txBox="1"/>
          <p:nvPr/>
        </p:nvSpPr>
        <p:spPr>
          <a:xfrm>
            <a:off x="3179618" y="1743850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DBE365-B413-0DC8-ED3F-FF447FD0CBC2}"/>
              </a:ext>
            </a:extLst>
          </p:cNvPr>
          <p:cNvSpPr txBox="1"/>
          <p:nvPr/>
        </p:nvSpPr>
        <p:spPr>
          <a:xfrm>
            <a:off x="5922819" y="1729996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F01976-1505-0618-BF79-7960C3E31FC0}"/>
              </a:ext>
            </a:extLst>
          </p:cNvPr>
          <p:cNvSpPr txBox="1"/>
          <p:nvPr/>
        </p:nvSpPr>
        <p:spPr>
          <a:xfrm>
            <a:off x="8771074" y="1729996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EB8A23-5187-8049-5396-699E02063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309" y="4997854"/>
            <a:ext cx="3934691" cy="191987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E9609C-02DA-4DB0-5260-7204BEDFA5E5}"/>
              </a:ext>
            </a:extLst>
          </p:cNvPr>
          <p:cNvSpPr txBox="1"/>
          <p:nvPr/>
        </p:nvSpPr>
        <p:spPr>
          <a:xfrm>
            <a:off x="3179617" y="2099328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8ED95D-D61D-BAD7-3CC1-DD59CF1E2CFF}"/>
              </a:ext>
            </a:extLst>
          </p:cNvPr>
          <p:cNvSpPr txBox="1"/>
          <p:nvPr/>
        </p:nvSpPr>
        <p:spPr>
          <a:xfrm>
            <a:off x="3179616" y="3191211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1E02F5-A1F2-5953-9509-FD388EF80C43}"/>
              </a:ext>
            </a:extLst>
          </p:cNvPr>
          <p:cNvSpPr txBox="1"/>
          <p:nvPr/>
        </p:nvSpPr>
        <p:spPr>
          <a:xfrm>
            <a:off x="3179616" y="3581103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27D4FE-A213-B320-667E-600412ED1BD9}"/>
              </a:ext>
            </a:extLst>
          </p:cNvPr>
          <p:cNvSpPr txBox="1"/>
          <p:nvPr/>
        </p:nvSpPr>
        <p:spPr>
          <a:xfrm>
            <a:off x="5932043" y="2452547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F08B06-9556-2A7E-B4C2-4A7CD56AA56E}"/>
              </a:ext>
            </a:extLst>
          </p:cNvPr>
          <p:cNvSpPr txBox="1"/>
          <p:nvPr/>
        </p:nvSpPr>
        <p:spPr>
          <a:xfrm>
            <a:off x="5932043" y="3230326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4E0C29-6561-4883-D4C2-2EA1761AEBA5}"/>
              </a:ext>
            </a:extLst>
          </p:cNvPr>
          <p:cNvSpPr txBox="1"/>
          <p:nvPr/>
        </p:nvSpPr>
        <p:spPr>
          <a:xfrm>
            <a:off x="5922819" y="3950435"/>
            <a:ext cx="611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2E9FDC-1EF1-68DE-5C3D-73BCC2254DA6}"/>
              </a:ext>
            </a:extLst>
          </p:cNvPr>
          <p:cNvSpPr txBox="1"/>
          <p:nvPr/>
        </p:nvSpPr>
        <p:spPr>
          <a:xfrm>
            <a:off x="270161" y="3191211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64984F-16DA-7815-D1AB-6B848ECCA7BD}"/>
              </a:ext>
            </a:extLst>
          </p:cNvPr>
          <p:cNvSpPr txBox="1"/>
          <p:nvPr/>
        </p:nvSpPr>
        <p:spPr>
          <a:xfrm>
            <a:off x="265547" y="3567438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A9FE04-ACF0-9B30-AF35-72C95CD6EFF3}"/>
              </a:ext>
            </a:extLst>
          </p:cNvPr>
          <p:cNvSpPr txBox="1"/>
          <p:nvPr/>
        </p:nvSpPr>
        <p:spPr>
          <a:xfrm>
            <a:off x="267875" y="3924896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37F7B0D-62DA-4D5C-8D69-594B728953BE}"/>
              </a:ext>
            </a:extLst>
          </p:cNvPr>
          <p:cNvSpPr txBox="1"/>
          <p:nvPr/>
        </p:nvSpPr>
        <p:spPr>
          <a:xfrm>
            <a:off x="265547" y="4312997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09AEA60-60D8-83B4-14DB-0A15E9A92DF3}"/>
              </a:ext>
            </a:extLst>
          </p:cNvPr>
          <p:cNvSpPr txBox="1"/>
          <p:nvPr/>
        </p:nvSpPr>
        <p:spPr>
          <a:xfrm>
            <a:off x="3176147" y="3952697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80D986-2BFA-26A7-4341-BEDF9C86FEA4}"/>
              </a:ext>
            </a:extLst>
          </p:cNvPr>
          <p:cNvSpPr txBox="1"/>
          <p:nvPr/>
        </p:nvSpPr>
        <p:spPr>
          <a:xfrm>
            <a:off x="3176147" y="4341648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BB5D2B-C2E1-194C-7AA2-07F9FF22DACF}"/>
              </a:ext>
            </a:extLst>
          </p:cNvPr>
          <p:cNvSpPr txBox="1"/>
          <p:nvPr/>
        </p:nvSpPr>
        <p:spPr>
          <a:xfrm>
            <a:off x="5945898" y="4329230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DF7A17C-82B9-FFB6-4365-60C2D6FAA0F9}"/>
              </a:ext>
            </a:extLst>
          </p:cNvPr>
          <p:cNvSpPr txBox="1"/>
          <p:nvPr/>
        </p:nvSpPr>
        <p:spPr>
          <a:xfrm>
            <a:off x="5934371" y="3564870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2AE237-36BD-A23A-5A87-9B26CD3B640E}"/>
              </a:ext>
            </a:extLst>
          </p:cNvPr>
          <p:cNvSpPr txBox="1"/>
          <p:nvPr/>
        </p:nvSpPr>
        <p:spPr>
          <a:xfrm>
            <a:off x="5932043" y="2831185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7C997E-DE57-C2FC-0C90-D750D834AE4D}"/>
              </a:ext>
            </a:extLst>
          </p:cNvPr>
          <p:cNvSpPr txBox="1"/>
          <p:nvPr/>
        </p:nvSpPr>
        <p:spPr>
          <a:xfrm>
            <a:off x="5932043" y="2081934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D2713CA-2E4B-F285-890B-29332F093C04}"/>
              </a:ext>
            </a:extLst>
          </p:cNvPr>
          <p:cNvSpPr txBox="1"/>
          <p:nvPr/>
        </p:nvSpPr>
        <p:spPr>
          <a:xfrm>
            <a:off x="3184230" y="2484554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D8CA216-D2E3-F5C1-6D7A-D9E8EB3EF571}"/>
              </a:ext>
            </a:extLst>
          </p:cNvPr>
          <p:cNvSpPr txBox="1"/>
          <p:nvPr/>
        </p:nvSpPr>
        <p:spPr>
          <a:xfrm>
            <a:off x="3184230" y="2819617"/>
            <a:ext cx="720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False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631CA1-7C0A-FF4D-7C9B-360E04F5E9CB}"/>
              </a:ext>
            </a:extLst>
          </p:cNvPr>
          <p:cNvSpPr txBox="1"/>
          <p:nvPr/>
        </p:nvSpPr>
        <p:spPr>
          <a:xfrm>
            <a:off x="200891" y="5143899"/>
            <a:ext cx="5066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Per our rules – All 3 can’t be either True or False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878C99-6BDD-9A61-5760-16410E61C930}"/>
              </a:ext>
            </a:extLst>
          </p:cNvPr>
          <p:cNvSpPr txBox="1"/>
          <p:nvPr/>
        </p:nvSpPr>
        <p:spPr>
          <a:xfrm>
            <a:off x="8771074" y="4363349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1E1DD2-C356-078F-0AE2-B95595198BCB}"/>
              </a:ext>
            </a:extLst>
          </p:cNvPr>
          <p:cNvSpPr txBox="1"/>
          <p:nvPr/>
        </p:nvSpPr>
        <p:spPr>
          <a:xfrm>
            <a:off x="200891" y="5517533"/>
            <a:ext cx="792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Blue and white can’t both be true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CCB35A-6546-63EA-69E1-A7E36C6AA369}"/>
              </a:ext>
            </a:extLst>
          </p:cNvPr>
          <p:cNvSpPr txBox="1"/>
          <p:nvPr/>
        </p:nvSpPr>
        <p:spPr>
          <a:xfrm>
            <a:off x="8771074" y="2113182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135E00-AD98-E37E-8687-B815C9F734DF}"/>
              </a:ext>
            </a:extLst>
          </p:cNvPr>
          <p:cNvSpPr txBox="1"/>
          <p:nvPr/>
        </p:nvSpPr>
        <p:spPr>
          <a:xfrm>
            <a:off x="8771074" y="358110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ED0D85-DAAB-C6A0-5891-82F2FB5E11FC}"/>
              </a:ext>
            </a:extLst>
          </p:cNvPr>
          <p:cNvSpPr txBox="1"/>
          <p:nvPr/>
        </p:nvSpPr>
        <p:spPr>
          <a:xfrm>
            <a:off x="200891" y="5886865"/>
            <a:ext cx="7926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What if white and black are true…?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ADFDB9-1B1B-C6F0-89A2-9041DC308B8F}"/>
              </a:ext>
            </a:extLst>
          </p:cNvPr>
          <p:cNvSpPr txBox="1"/>
          <p:nvPr/>
        </p:nvSpPr>
        <p:spPr>
          <a:xfrm>
            <a:off x="8771074" y="245925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AAD3B0-55F1-7293-492D-F61F52C79D32}"/>
              </a:ext>
            </a:extLst>
          </p:cNvPr>
          <p:cNvSpPr txBox="1"/>
          <p:nvPr/>
        </p:nvSpPr>
        <p:spPr>
          <a:xfrm>
            <a:off x="8771074" y="2819617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Impossible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3F8DA36-2403-5FF8-86B3-D194219A1B5A}"/>
              </a:ext>
            </a:extLst>
          </p:cNvPr>
          <p:cNvSpPr txBox="1"/>
          <p:nvPr/>
        </p:nvSpPr>
        <p:spPr>
          <a:xfrm>
            <a:off x="8831091" y="3994017"/>
            <a:ext cx="2798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Black and white are empty</a:t>
            </a:r>
          </a:p>
        </p:txBody>
      </p:sp>
    </p:spTree>
    <p:extLst>
      <p:ext uri="{BB962C8B-B14F-4D97-AF65-F5344CB8AC3E}">
        <p14:creationId xmlns:p14="http://schemas.microsoft.com/office/powerpoint/2010/main" val="339756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3" grpId="0"/>
      <p:bldP spid="35" grpId="0"/>
      <p:bldP spid="36" grpId="0"/>
      <p:bldP spid="37" grpId="0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C600E-21B4-78A2-D0DA-788201EFBE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31384" y="679730"/>
            <a:ext cx="4171994" cy="393272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This is formal logic!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E75A2-DA57-BC86-9794-33FAE4778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31383" y="5227455"/>
            <a:ext cx="3876085" cy="857461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Lets add a bit more to our vocabulary…</a:t>
            </a:r>
          </a:p>
        </p:txBody>
      </p:sp>
      <p:pic>
        <p:nvPicPr>
          <p:cNvPr id="5136" name="Picture 16" descr="Labyrinth Puzzle">
            <a:extLst>
              <a:ext uri="{FF2B5EF4-FFF2-40B4-BE49-F238E27FC236}">
                <a16:creationId xmlns:a16="http://schemas.microsoft.com/office/drawing/2014/main" id="{9C0130DC-5FD6-A335-D88D-69FA9CF284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2597" y="876985"/>
            <a:ext cx="5608830" cy="5104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4985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A5961-9472-1676-3BB5-FBD3ADDCC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61DD5-F6F8-C4AF-3777-9594E083E9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Logic Study of reasoning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Premise:</a:t>
            </a:r>
          </a:p>
          <a:p>
            <a:pPr lvl="1"/>
            <a:r>
              <a:rPr lang="en-US" dirty="0"/>
              <a:t> Critics like Ruth Reichl know a great deal about food, cooking techniques, and restaurant operations</a:t>
            </a:r>
          </a:p>
          <a:p>
            <a:r>
              <a:rPr lang="en-US" dirty="0"/>
              <a:t>Conclusion:</a:t>
            </a:r>
          </a:p>
          <a:p>
            <a:pPr lvl="1"/>
            <a:r>
              <a:rPr lang="en-US" dirty="0"/>
              <a:t>Food critics are highly trustworthy</a:t>
            </a:r>
          </a:p>
          <a:p>
            <a:pPr lvl="1"/>
            <a:endParaRPr lang="en-US" dirty="0"/>
          </a:p>
          <a:p>
            <a:r>
              <a:rPr lang="en-US" dirty="0"/>
              <a:t>Scope of logic (for today)</a:t>
            </a:r>
          </a:p>
          <a:p>
            <a:pPr lvl="1"/>
            <a:r>
              <a:rPr lang="en-US" dirty="0"/>
              <a:t>Evaluating the truth content of a series of statements</a:t>
            </a:r>
          </a:p>
          <a:p>
            <a:pPr lvl="1"/>
            <a:r>
              <a:rPr lang="en-US" dirty="0"/>
              <a:t>Using a set of formalized rules to deduce truth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5E9B7B-441B-9AC7-D071-9B09DB2052CA}"/>
              </a:ext>
            </a:extLst>
          </p:cNvPr>
          <p:cNvSpPr txBox="1"/>
          <p:nvPr/>
        </p:nvSpPr>
        <p:spPr>
          <a:xfrm>
            <a:off x="838200" y="2504806"/>
            <a:ext cx="10515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“Critics like Ruth Reichl, former editor-in-chief of Gourmet magazine, have built careers on their deep knowledge of food, cooking techniques, and restaurant operations. Therefore food critics are highly trustworthy”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017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10628-C7FE-005B-8CFA-1CD4DF7C05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Deductive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8430D-E59B-43F7-C6E1-7E448935C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P1 – Venus is closer to the Sun than the Earth</a:t>
            </a:r>
          </a:p>
          <a:p>
            <a:r>
              <a:rPr lang="en-US" dirty="0"/>
              <a:t>P2 – Earth is closer to the Sun than Mars</a:t>
            </a:r>
          </a:p>
          <a:p>
            <a:r>
              <a:rPr lang="en-US" dirty="0"/>
              <a:t>C – Venus is closer to the sun than Mars</a:t>
            </a:r>
          </a:p>
          <a:p>
            <a:endParaRPr lang="en-US" dirty="0"/>
          </a:p>
          <a:p>
            <a:r>
              <a:rPr lang="en-US" b="1" dirty="0"/>
              <a:t>Deductive inference </a:t>
            </a:r>
            <a:r>
              <a:rPr lang="en-US" dirty="0"/>
              <a:t>– inference where C is guaranteed to be true (provided the premise is also true)</a:t>
            </a:r>
          </a:p>
          <a:p>
            <a:endParaRPr lang="en-US" dirty="0"/>
          </a:p>
          <a:p>
            <a:r>
              <a:rPr lang="en-US" dirty="0"/>
              <a:t> As opposed to an inductive inference</a:t>
            </a:r>
          </a:p>
          <a:p>
            <a:pPr lvl="1"/>
            <a:r>
              <a:rPr lang="en-US" dirty="0"/>
              <a:t>High probably of truth rather than </a:t>
            </a:r>
            <a:r>
              <a:rPr lang="en-US" u="sng" dirty="0"/>
              <a:t>guaranteed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B7D10-162D-47E8-7AFE-85BB4F52FFF8}"/>
              </a:ext>
            </a:extLst>
          </p:cNvPr>
          <p:cNvSpPr txBox="1"/>
          <p:nvPr/>
        </p:nvSpPr>
        <p:spPr>
          <a:xfrm>
            <a:off x="0" y="6492875"/>
            <a:ext cx="10341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Ok – we’re going to transition from talking about inferences for a bit and focus on evaluating statements</a:t>
            </a:r>
          </a:p>
        </p:txBody>
      </p:sp>
    </p:spTree>
    <p:extLst>
      <p:ext uri="{BB962C8B-B14F-4D97-AF65-F5344CB8AC3E}">
        <p14:creationId xmlns:p14="http://schemas.microsoft.com/office/powerpoint/2010/main" val="25491519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06D22F-797F-1C01-01DA-530FE3CDC9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E0C778D-5C35-61CC-A0EE-AEC2B8AB6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7756"/>
            <a:ext cx="9144000" cy="1655762"/>
          </a:xfrm>
        </p:spPr>
        <p:txBody>
          <a:bodyPr/>
          <a:lstStyle/>
          <a:p>
            <a:r>
              <a:rPr lang="en-US" dirty="0"/>
              <a:t>Originated with Aristotle</a:t>
            </a:r>
          </a:p>
          <a:p>
            <a:r>
              <a:rPr lang="en-US" dirty="0"/>
              <a:t>George Boole’s rules for combining propositions</a:t>
            </a:r>
          </a:p>
        </p:txBody>
      </p:sp>
    </p:spTree>
    <p:extLst>
      <p:ext uri="{BB962C8B-B14F-4D97-AF65-F5344CB8AC3E}">
        <p14:creationId xmlns:p14="http://schemas.microsoft.com/office/powerpoint/2010/main" val="1544270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B35AC-BD3C-55A7-990F-C26F13BB4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Propositional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26DA4-6308-043A-03C2-AEBB225DD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Propositions</a:t>
            </a:r>
            <a:r>
              <a:rPr lang="en-US" dirty="0"/>
              <a:t> - declarative sentence that is either true or false </a:t>
            </a:r>
          </a:p>
          <a:p>
            <a:pPr lvl="1"/>
            <a:r>
              <a:rPr lang="en-US" dirty="0"/>
              <a:t>No grey area allowed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Ex</a:t>
            </a:r>
          </a:p>
          <a:p>
            <a:pPr lvl="1"/>
            <a:r>
              <a:rPr lang="en-US" dirty="0"/>
              <a:t>1 + 1= 2 → True</a:t>
            </a:r>
            <a:endParaRPr lang="en-US" dirty="0">
              <a:effectLst/>
            </a:endParaRPr>
          </a:p>
          <a:p>
            <a:pPr lvl="1"/>
            <a:r>
              <a:rPr lang="en-US" dirty="0"/>
              <a:t>Maine is north of </a:t>
            </a:r>
            <a:r>
              <a:rPr lang="en-US" u="sng" dirty="0"/>
              <a:t>all</a:t>
            </a:r>
            <a:r>
              <a:rPr lang="en-US" dirty="0"/>
              <a:t> of Canada → False</a:t>
            </a:r>
          </a:p>
          <a:p>
            <a:r>
              <a:rPr lang="en-US" dirty="0"/>
              <a:t>Non-examples</a:t>
            </a:r>
          </a:p>
          <a:p>
            <a:pPr lvl="1"/>
            <a:r>
              <a:rPr lang="en-US" dirty="0"/>
              <a:t>What time is it?</a:t>
            </a:r>
          </a:p>
          <a:p>
            <a:pPr lvl="1"/>
            <a:r>
              <a:rPr lang="en-US" dirty="0"/>
              <a:t>X + 12 = 2</a:t>
            </a:r>
          </a:p>
          <a:p>
            <a:pPr lvl="2"/>
            <a:r>
              <a:rPr lang="en-US" dirty="0"/>
              <a:t>Can be true or false depending on what X is</a:t>
            </a:r>
          </a:p>
          <a:p>
            <a:pPr marL="914400" lvl="2" indent="0">
              <a:buNone/>
            </a:pPr>
            <a:endParaRPr lang="en-US" dirty="0"/>
          </a:p>
          <a:p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96670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7BDE6-0B0C-EB35-9537-0472C468D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can perform operations on propositions like we can do math with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05D38-0FC5-86CE-E8C1-FD30B9EBA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Starting with the big 3</a:t>
            </a:r>
          </a:p>
          <a:p>
            <a:pPr lvl="1"/>
            <a:r>
              <a:rPr lang="en-US" dirty="0"/>
              <a:t>NOT</a:t>
            </a:r>
          </a:p>
          <a:p>
            <a:pPr lvl="1"/>
            <a:r>
              <a:rPr lang="en-US" dirty="0"/>
              <a:t>AND</a:t>
            </a:r>
          </a:p>
          <a:p>
            <a:pPr lvl="1"/>
            <a:r>
              <a:rPr lang="en-US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2416294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138059-9AAE-B97E-D660-DDA68FE4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5CBA-AD23-0D99-52BE-9ED2506D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 = “Dr. Domino’s computer is a mac” </a:t>
            </a:r>
          </a:p>
          <a:p>
            <a:r>
              <a:rPr lang="en-US" dirty="0"/>
              <a:t>¬p = “Dr. Domino’s computer is NOT a mac”</a:t>
            </a:r>
          </a:p>
          <a:p>
            <a:endParaRPr lang="en-US" dirty="0"/>
          </a:p>
          <a:p>
            <a:r>
              <a:rPr lang="en-US" dirty="0"/>
              <a:t>¬ is a negation symbol</a:t>
            </a:r>
          </a:p>
          <a:p>
            <a:endParaRPr lang="en-US" dirty="0"/>
          </a:p>
          <a:p>
            <a:r>
              <a:rPr lang="en-US" dirty="0"/>
              <a:t>In this case</a:t>
            </a:r>
          </a:p>
          <a:p>
            <a:pPr lvl="1"/>
            <a:r>
              <a:rPr lang="en-US" dirty="0"/>
              <a:t>p is True</a:t>
            </a:r>
          </a:p>
          <a:p>
            <a:pPr lvl="1"/>
            <a:r>
              <a:rPr lang="en-US" dirty="0"/>
              <a:t>¬p is False</a:t>
            </a:r>
          </a:p>
          <a:p>
            <a:r>
              <a:rPr lang="en-US" dirty="0"/>
              <a:t>But…what if p represented a different statement?</a:t>
            </a:r>
          </a:p>
          <a:p>
            <a:pPr lvl="1"/>
            <a:r>
              <a:rPr lang="en-US" dirty="0"/>
              <a:t>p = “Today’s date is 12/12/2023” (False)</a:t>
            </a:r>
          </a:p>
          <a:p>
            <a:pPr lvl="1"/>
            <a:r>
              <a:rPr lang="en-US" dirty="0"/>
              <a:t>¬p = “Today’s date is </a:t>
            </a:r>
            <a:r>
              <a:rPr lang="en-US" u="sng" dirty="0"/>
              <a:t>not</a:t>
            </a:r>
            <a:r>
              <a:rPr lang="en-US" dirty="0"/>
              <a:t> 12/12/2023” (True)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E0C877-DFD2-A647-979C-3FF9F0B3DE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2800" y="0"/>
            <a:ext cx="2489200" cy="289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4787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A55F1-7B3F-641F-AB62-1DE447225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926" y="667202"/>
            <a:ext cx="4726729" cy="1800526"/>
          </a:xfrm>
        </p:spPr>
        <p:txBody>
          <a:bodyPr>
            <a:normAutofit/>
          </a:bodyPr>
          <a:lstStyle/>
          <a:p>
            <a:r>
              <a:rPr lang="en-US" dirty="0"/>
              <a:t>Note - negation is not correction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8A511-DDBC-EE67-BD30-6B8CCBBD40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927" y="2637217"/>
            <a:ext cx="4726729" cy="3553581"/>
          </a:xfrm>
        </p:spPr>
        <p:txBody>
          <a:bodyPr>
            <a:normAutofit/>
          </a:bodyPr>
          <a:lstStyle/>
          <a:p>
            <a:r>
              <a:rPr lang="en-US" dirty="0"/>
              <a:t>p = “Today’s date is 12/12/2023”</a:t>
            </a:r>
          </a:p>
          <a:p>
            <a:r>
              <a:rPr lang="en-US" dirty="0"/>
              <a:t> ¬p could not be phrased as “It is currently 2026” </a:t>
            </a:r>
          </a:p>
          <a:p>
            <a:pPr lvl="1"/>
            <a:r>
              <a:rPr lang="en-US" sz="2800" dirty="0"/>
              <a:t>or even “Today’s date is &lt;thedate&gt;”</a:t>
            </a:r>
          </a:p>
          <a:p>
            <a:r>
              <a:rPr lang="en-US" dirty="0"/>
              <a:t>It simply said “not whatever p said”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4E03CD4-7B09-DA6B-1DD2-BCF7CEE6A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800986" y="686532"/>
            <a:ext cx="4747547" cy="5513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560078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6C16-26E8-B122-03B0-E1EBAF6A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2 propositions: Conjunction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AA8E9-B25D-0077-2868-6BE8F3D47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353800" cy="5032375"/>
          </a:xfrm>
        </p:spPr>
        <p:txBody>
          <a:bodyPr/>
          <a:lstStyle/>
          <a:p>
            <a:r>
              <a:rPr lang="en-US" dirty="0"/>
              <a:t>p ∧ q  is translated as “p and q”</a:t>
            </a:r>
          </a:p>
          <a:p>
            <a:pPr lvl="1"/>
            <a:r>
              <a:rPr lang="en-US" dirty="0"/>
              <a:t>I mix this up constantly (apologies)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p = “I will make dinner when I am hungry”</a:t>
            </a:r>
            <a:endParaRPr lang="en-US" dirty="0">
              <a:effectLst/>
            </a:endParaRPr>
          </a:p>
          <a:p>
            <a:r>
              <a:rPr lang="en-US" dirty="0"/>
              <a:t>q = “I will make dinner when I have groceries”</a:t>
            </a:r>
          </a:p>
          <a:p>
            <a:endParaRPr lang="en-US" dirty="0">
              <a:effectLst/>
            </a:endParaRPr>
          </a:p>
          <a:p>
            <a:r>
              <a:rPr lang="en-US" dirty="0"/>
              <a:t>p ∧ q = “I will make dinner when I am hungry </a:t>
            </a:r>
            <a:r>
              <a:rPr lang="en-US" u="sng" dirty="0"/>
              <a:t>and</a:t>
            </a:r>
            <a:r>
              <a:rPr lang="en-US" dirty="0"/>
              <a:t> when I have groceries”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True </a:t>
            </a:r>
            <a:r>
              <a:rPr lang="en-US" dirty="0"/>
              <a:t>only if both P and Q are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10397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4C6B1-BCBA-4DC0-72CD-C0A196CB7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512"/>
            <a:ext cx="10515600" cy="1325563"/>
          </a:xfrm>
        </p:spPr>
        <p:txBody>
          <a:bodyPr/>
          <a:lstStyle/>
          <a:p>
            <a:r>
              <a:rPr lang="en-US" dirty="0"/>
              <a:t>Truth table for Conjunction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C08DFC-7A19-EFB7-2D42-935D9FA8D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36" y="1616075"/>
            <a:ext cx="58420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2C9FCC-F63B-D2EB-0494-E411005FC926}"/>
              </a:ext>
            </a:extLst>
          </p:cNvPr>
          <p:cNvSpPr txBox="1"/>
          <p:nvPr/>
        </p:nvSpPr>
        <p:spPr>
          <a:xfrm>
            <a:off x="6276109" y="4211782"/>
            <a:ext cx="4012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Hungry and have groceries.    = Dinner!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A279F-22CA-4502-B613-03ACDBCE7F2E}"/>
              </a:ext>
            </a:extLst>
          </p:cNvPr>
          <p:cNvSpPr txBox="1"/>
          <p:nvPr/>
        </p:nvSpPr>
        <p:spPr>
          <a:xfrm>
            <a:off x="6276109" y="4710545"/>
            <a:ext cx="418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Hungry but no groceries.         = no dinner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8DC433-3F8F-62E4-EF79-FB49EF5E833C}"/>
              </a:ext>
            </a:extLst>
          </p:cNvPr>
          <p:cNvSpPr txBox="1"/>
          <p:nvPr/>
        </p:nvSpPr>
        <p:spPr>
          <a:xfrm>
            <a:off x="6276109" y="5209308"/>
            <a:ext cx="4208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Groceries but not hungry         = no dinner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E6F31C-925D-D201-B4EB-C90FC84D6B44}"/>
              </a:ext>
            </a:extLst>
          </p:cNvPr>
          <p:cNvSpPr txBox="1"/>
          <p:nvPr/>
        </p:nvSpPr>
        <p:spPr>
          <a:xfrm>
            <a:off x="6256424" y="5722011"/>
            <a:ext cx="4266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Groceries and not hungry  = no dinner </a:t>
            </a:r>
          </a:p>
        </p:txBody>
      </p:sp>
    </p:spTree>
    <p:extLst>
      <p:ext uri="{BB962C8B-B14F-4D97-AF65-F5344CB8AC3E}">
        <p14:creationId xmlns:p14="http://schemas.microsoft.com/office/powerpoint/2010/main" val="3517941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C4738-08F0-E55F-3785-47127870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6989618" cy="1325563"/>
          </a:xfrm>
        </p:spPr>
        <p:txBody>
          <a:bodyPr/>
          <a:lstStyle/>
          <a:p>
            <a:r>
              <a:rPr lang="en-US" dirty="0"/>
              <a:t>Combining 2 propositions: Disjunction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DF2CF-0803-F4A1-476F-D826D03D0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607127"/>
            <a:ext cx="10515600" cy="52508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 ∨ q  = “p or q”</a:t>
            </a:r>
          </a:p>
          <a:p>
            <a:pPr lvl="1"/>
            <a:r>
              <a:rPr lang="en-US" dirty="0"/>
              <a:t>Or both </a:t>
            </a:r>
          </a:p>
          <a:p>
            <a:endParaRPr lang="en-US" dirty="0"/>
          </a:p>
          <a:p>
            <a:r>
              <a:rPr lang="en-US" dirty="0"/>
              <a:t>p = “Andrea is the murderer”</a:t>
            </a:r>
            <a:endParaRPr lang="en-US" dirty="0">
              <a:effectLst/>
            </a:endParaRPr>
          </a:p>
          <a:p>
            <a:r>
              <a:rPr lang="en-US" dirty="0"/>
              <a:t>q = “Charles is the murderer”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Andrea did it and Charels is innocent, p ∨ q is true</a:t>
            </a:r>
            <a:endParaRPr lang="en-US" dirty="0">
              <a:effectLst/>
            </a:endParaRPr>
          </a:p>
          <a:p>
            <a:r>
              <a:rPr lang="en-US" dirty="0"/>
              <a:t>If Andrea is innocent and Charles did it, p ∨ q is true</a:t>
            </a:r>
            <a:endParaRPr lang="en-US" dirty="0">
              <a:effectLst/>
            </a:endParaRPr>
          </a:p>
          <a:p>
            <a:r>
              <a:rPr lang="en-US" dirty="0"/>
              <a:t>If they both did the murder p ∨ q is true</a:t>
            </a:r>
            <a:endParaRPr lang="en-US" dirty="0">
              <a:effectLst/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If neither did the murder….P V Q is false.</a:t>
            </a:r>
            <a:endParaRPr lang="en-US" dirty="0">
              <a:effectLst/>
            </a:endParaRPr>
          </a:p>
          <a:p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2BF567B-0A07-C9AF-D8DA-61992EBC7B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5091" y="-69816"/>
            <a:ext cx="5153891" cy="4302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067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0E1AE-C4B8-11C0-1961-0E3E9F196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now know the central pillar of computing:</a:t>
            </a:r>
            <a:br>
              <a:rPr lang="en-US" dirty="0"/>
            </a:br>
            <a:r>
              <a:rPr lang="en-US" dirty="0"/>
              <a:t>Circuits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6F3069-4797-1859-9DFF-F20E47CE8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Even complex algorithms can be broken down into a combination of ands, ors, and nots.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57560A-913A-ED02-25C6-8A94DB1F6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079" y="3416157"/>
            <a:ext cx="2880647" cy="11597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6D045EA-A6B0-CFA3-1A93-437A651E8D8F}"/>
              </a:ext>
            </a:extLst>
          </p:cNvPr>
          <p:cNvSpPr txBox="1"/>
          <p:nvPr/>
        </p:nvSpPr>
        <p:spPr>
          <a:xfrm>
            <a:off x="1286078" y="5073710"/>
            <a:ext cx="28806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wire A has low voltage, output high voltage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wire A has high voltage – output low voltage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A4B51D-19CB-7402-1FFC-DB91251B20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677" y="3416156"/>
            <a:ext cx="2880646" cy="11597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E034663-6646-3654-FB8D-26826357D265}"/>
              </a:ext>
            </a:extLst>
          </p:cNvPr>
          <p:cNvSpPr txBox="1"/>
          <p:nvPr/>
        </p:nvSpPr>
        <p:spPr>
          <a:xfrm>
            <a:off x="4655676" y="5073710"/>
            <a:ext cx="2880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wires A and B have high voltage, output high voltage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Otherwise low voltage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ECAEAB-5146-D054-8C49-C63E26BE7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5274" y="3335048"/>
            <a:ext cx="2557263" cy="13219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D578F6E-B7A1-87BC-90E9-0A5B85CC0771}"/>
              </a:ext>
            </a:extLst>
          </p:cNvPr>
          <p:cNvSpPr txBox="1"/>
          <p:nvPr/>
        </p:nvSpPr>
        <p:spPr>
          <a:xfrm>
            <a:off x="7863581" y="5073709"/>
            <a:ext cx="28806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If either A or B (or both) have high voltage, output high voltage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Otherwise low voltage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38C4FD-55DD-868F-EBDD-016C1106FED0}"/>
              </a:ext>
            </a:extLst>
          </p:cNvPr>
          <p:cNvSpPr txBox="1"/>
          <p:nvPr/>
        </p:nvSpPr>
        <p:spPr>
          <a:xfrm>
            <a:off x="1447772" y="4727326"/>
            <a:ext cx="2598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NOT GATE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E94692-7C05-667A-1FEB-2C4C44C7D82D}"/>
              </a:ext>
            </a:extLst>
          </p:cNvPr>
          <p:cNvSpPr txBox="1"/>
          <p:nvPr/>
        </p:nvSpPr>
        <p:spPr>
          <a:xfrm>
            <a:off x="4655673" y="4699635"/>
            <a:ext cx="288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AND GATE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338369-175A-E97A-75C3-8F62CD568E4F}"/>
              </a:ext>
            </a:extLst>
          </p:cNvPr>
          <p:cNvSpPr txBox="1"/>
          <p:nvPr/>
        </p:nvSpPr>
        <p:spPr>
          <a:xfrm>
            <a:off x="8025271" y="4727326"/>
            <a:ext cx="2557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OR GATE</a:t>
            </a:r>
          </a:p>
        </p:txBody>
      </p:sp>
    </p:spTree>
    <p:extLst>
      <p:ext uri="{BB962C8B-B14F-4D97-AF65-F5344CB8AC3E}">
        <p14:creationId xmlns:p14="http://schemas.microsoft.com/office/powerpoint/2010/main" val="21705856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4B4262-39E2-3EF3-32CA-D68D16DCF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this more complex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92C25D-9CCF-9CD3-2FAA-EBCF01BC0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V Q is a pretty easy statement to figure out</a:t>
            </a:r>
          </a:p>
          <a:p>
            <a:r>
              <a:rPr lang="en-US" dirty="0"/>
              <a:t>And 4 possibilities are all pretty easy to keep in your head</a:t>
            </a:r>
          </a:p>
        </p:txBody>
      </p:sp>
    </p:spTree>
    <p:extLst>
      <p:ext uri="{BB962C8B-B14F-4D97-AF65-F5344CB8AC3E}">
        <p14:creationId xmlns:p14="http://schemas.microsoft.com/office/powerpoint/2010/main" val="656123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57D31-711A-007A-D3A9-35E6440177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3192"/>
            <a:ext cx="10515600" cy="1325563"/>
          </a:xfrm>
        </p:spPr>
        <p:txBody>
          <a:bodyPr/>
          <a:lstStyle/>
          <a:p>
            <a:r>
              <a:rPr lang="en-US" dirty="0"/>
              <a:t>So – how about a bigger combination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8936A8-A4D4-CA44-1A0A-AD898CFA81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82" y="1690688"/>
            <a:ext cx="10515600" cy="4351338"/>
          </a:xfrm>
        </p:spPr>
        <p:txBody>
          <a:bodyPr/>
          <a:lstStyle/>
          <a:p>
            <a:r>
              <a:rPr lang="en-US" dirty="0"/>
              <a:t>((P V Q) ∧ (¬(P∧ Q))</a:t>
            </a:r>
          </a:p>
          <a:p>
            <a:endParaRPr lang="en-US" dirty="0"/>
          </a:p>
          <a:p>
            <a:r>
              <a:rPr lang="en-US" dirty="0"/>
              <a:t>¬ - not</a:t>
            </a:r>
          </a:p>
          <a:p>
            <a:r>
              <a:rPr lang="en-US" dirty="0"/>
              <a:t>∧ - and</a:t>
            </a:r>
          </a:p>
          <a:p>
            <a:r>
              <a:rPr lang="en-US" dirty="0"/>
              <a:t> V - or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2B126BB-13EE-6F97-850B-2D20FE73A924}"/>
              </a:ext>
            </a:extLst>
          </p:cNvPr>
          <p:cNvGraphicFramePr>
            <a:graphicFrameLocks noGrp="1"/>
          </p:cNvGraphicFramePr>
          <p:nvPr/>
        </p:nvGraphicFramePr>
        <p:xfrm>
          <a:off x="4355225" y="2673926"/>
          <a:ext cx="7836775" cy="3869114"/>
        </p:xfrm>
        <a:graphic>
          <a:graphicData uri="http://schemas.openxmlformats.org/drawingml/2006/table">
            <a:tbl>
              <a:tblPr firstRow="1">
                <a:tableStyleId>{F2DE63D5-997A-4646-A377-4702673A728D}</a:tableStyleId>
              </a:tblPr>
              <a:tblGrid>
                <a:gridCol w="863357">
                  <a:extLst>
                    <a:ext uri="{9D8B030D-6E8A-4147-A177-3AD203B41FA5}">
                      <a16:colId xmlns:a16="http://schemas.microsoft.com/office/drawing/2014/main" val="3653481720"/>
                    </a:ext>
                  </a:extLst>
                </a:gridCol>
                <a:gridCol w="966328">
                  <a:extLst>
                    <a:ext uri="{9D8B030D-6E8A-4147-A177-3AD203B41FA5}">
                      <a16:colId xmlns:a16="http://schemas.microsoft.com/office/drawing/2014/main" val="6825348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1804223300"/>
                    </a:ext>
                  </a:extLst>
                </a:gridCol>
                <a:gridCol w="2276217">
                  <a:extLst>
                    <a:ext uri="{9D8B030D-6E8A-4147-A177-3AD203B41FA5}">
                      <a16:colId xmlns:a16="http://schemas.microsoft.com/office/drawing/2014/main" val="2319138377"/>
                    </a:ext>
                  </a:extLst>
                </a:gridCol>
                <a:gridCol w="2130673">
                  <a:extLst>
                    <a:ext uri="{9D8B030D-6E8A-4147-A177-3AD203B41FA5}">
                      <a16:colId xmlns:a16="http://schemas.microsoft.com/office/drawing/2014/main" val="1471547847"/>
                    </a:ext>
                  </a:extLst>
                </a:gridCol>
              </a:tblGrid>
              <a:tr h="67887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P</a:t>
                      </a:r>
                      <a:endParaRPr lang="en-US" sz="4400" b="1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Q</a:t>
                      </a:r>
                      <a:endParaRPr lang="en-US" sz="4400" b="1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A = P V Q</a:t>
                      </a:r>
                      <a:endParaRPr lang="en-US" sz="4400" b="1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1" u="none" strike="noStrike" dirty="0">
                          <a:solidFill>
                            <a:schemeClr val="bg1">
                              <a:lumMod val="95000"/>
                            </a:schemeClr>
                          </a:solidFill>
                          <a:effectLst/>
                        </a:rPr>
                        <a:t>B =  ¬(P∧ Q)</a:t>
                      </a:r>
                      <a:endParaRPr lang="en-US" sz="4400" b="1" dirty="0">
                        <a:solidFill>
                          <a:schemeClr val="bg1">
                            <a:lumMod val="95000"/>
                          </a:schemeClr>
                        </a:solidFill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 ∧ B</a:t>
                      </a: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806132"/>
                  </a:ext>
                </a:extLst>
              </a:tr>
              <a:tr h="7911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0323826"/>
                  </a:ext>
                </a:extLst>
              </a:tr>
              <a:tr h="7911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2671121"/>
                  </a:ext>
                </a:extLst>
              </a:tr>
              <a:tr h="7911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0058359"/>
                  </a:ext>
                </a:extLst>
              </a:tr>
              <a:tr h="791124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28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F</a:t>
                      </a: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endParaRPr lang="en-US" sz="4400" dirty="0">
                        <a:effectLst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97847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E7C8E63D-CBCE-087C-09E7-B6265E9F298E}"/>
              </a:ext>
            </a:extLst>
          </p:cNvPr>
          <p:cNvSpPr txBox="1"/>
          <p:nvPr/>
        </p:nvSpPr>
        <p:spPr>
          <a:xfrm>
            <a:off x="4351776" y="6543040"/>
            <a:ext cx="21584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Fill in the truth table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702071-8CE0-2131-BBB3-1623C4EF5527}"/>
              </a:ext>
            </a:extLst>
          </p:cNvPr>
          <p:cNvSpPr txBox="1"/>
          <p:nvPr/>
        </p:nvSpPr>
        <p:spPr>
          <a:xfrm>
            <a:off x="4351776" y="1981428"/>
            <a:ext cx="7214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like to break it down into smaller pieces to help keep myself organized </a:t>
            </a:r>
            <a:br>
              <a:rPr lang="en-US" dirty="0"/>
            </a:br>
            <a:r>
              <a:rPr lang="en-US" dirty="0"/>
              <a:t>Your milage may vary - </a:t>
            </a:r>
          </a:p>
        </p:txBody>
      </p:sp>
    </p:spTree>
    <p:extLst>
      <p:ext uri="{BB962C8B-B14F-4D97-AF65-F5344CB8AC3E}">
        <p14:creationId xmlns:p14="http://schemas.microsoft.com/office/powerpoint/2010/main" val="1851907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828A9-E008-1B32-F705-FFCECAFD4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following 3 practice questions…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6D78E-3E68-A225-439C-886A34EEE1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track of your answers</a:t>
            </a:r>
          </a:p>
          <a:p>
            <a:pPr lvl="1"/>
            <a:r>
              <a:rPr lang="en-US" dirty="0"/>
              <a:t>I’ll go get pen and paper if necessary</a:t>
            </a:r>
          </a:p>
          <a:p>
            <a:pPr lvl="1"/>
            <a:r>
              <a:rPr lang="en-US" dirty="0"/>
              <a:t>There are also whiteboards to start with</a:t>
            </a:r>
          </a:p>
          <a:p>
            <a:r>
              <a:rPr lang="en-US" dirty="0"/>
              <a:t>I’ll have you submit them at the end of class</a:t>
            </a:r>
          </a:p>
          <a:p>
            <a:endParaRPr lang="en-US" dirty="0"/>
          </a:p>
          <a:p>
            <a:r>
              <a:rPr lang="en-US" dirty="0"/>
              <a:t>Feel free to work with a group</a:t>
            </a:r>
          </a:p>
          <a:p>
            <a:pPr lvl="1"/>
            <a:r>
              <a:rPr lang="en-US" dirty="0"/>
              <a:t>Just write everyone’s name down</a:t>
            </a:r>
          </a:p>
          <a:p>
            <a:pPr lvl="1"/>
            <a:r>
              <a:rPr lang="en-US" dirty="0"/>
              <a:t>Everyone must submit individually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9012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7304A-B8B9-D4EE-2EB9-D84BC7674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1: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A0EF7-EAB6-71A7-1167-9F19076DC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591" y="2026879"/>
            <a:ext cx="11573173" cy="479684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AND, OR, and NOT to create a statement that is only true when both P and Q are false.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E231540-0C19-4332-1259-E81367AA8D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0132081"/>
              </p:ext>
            </p:extLst>
          </p:nvPr>
        </p:nvGraphicFramePr>
        <p:xfrm>
          <a:off x="838201" y="3629890"/>
          <a:ext cx="5257799" cy="26462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835">
                  <a:extLst>
                    <a:ext uri="{9D8B030D-6E8A-4147-A177-3AD203B41FA5}">
                      <a16:colId xmlns:a16="http://schemas.microsoft.com/office/drawing/2014/main" val="921732153"/>
                    </a:ext>
                  </a:extLst>
                </a:gridCol>
                <a:gridCol w="1704109">
                  <a:extLst>
                    <a:ext uri="{9D8B030D-6E8A-4147-A177-3AD203B41FA5}">
                      <a16:colId xmlns:a16="http://schemas.microsoft.com/office/drawing/2014/main" val="2793811307"/>
                    </a:ext>
                  </a:extLst>
                </a:gridCol>
                <a:gridCol w="2299855">
                  <a:extLst>
                    <a:ext uri="{9D8B030D-6E8A-4147-A177-3AD203B41FA5}">
                      <a16:colId xmlns:a16="http://schemas.microsoft.com/office/drawing/2014/main" val="1721279113"/>
                    </a:ext>
                  </a:extLst>
                </a:gridCol>
              </a:tblGrid>
              <a:tr h="564846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rgbClr val="FFFF00"/>
                          </a:solidFill>
                        </a:rPr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450049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7154240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8196808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301631"/>
                  </a:ext>
                </a:extLst>
              </a:tr>
              <a:tr h="520343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67702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A7A010A-8E86-8486-591E-9F87F451A566}"/>
              </a:ext>
            </a:extLst>
          </p:cNvPr>
          <p:cNvSpPr txBox="1"/>
          <p:nvPr/>
        </p:nvSpPr>
        <p:spPr>
          <a:xfrm>
            <a:off x="7938654" y="3629890"/>
            <a:ext cx="1398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¬P ∧ ¬Q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24B464-A4CC-1671-F8EB-0D3FF9A7C8BC}"/>
              </a:ext>
            </a:extLst>
          </p:cNvPr>
          <p:cNvSpPr txBox="1"/>
          <p:nvPr/>
        </p:nvSpPr>
        <p:spPr>
          <a:xfrm>
            <a:off x="8144175" y="4240636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∧  F = 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173E474-F747-9C1B-4401-4E3B286810E5}"/>
              </a:ext>
            </a:extLst>
          </p:cNvPr>
          <p:cNvSpPr txBox="1"/>
          <p:nvPr/>
        </p:nvSpPr>
        <p:spPr>
          <a:xfrm>
            <a:off x="8144175" y="4772194"/>
            <a:ext cx="104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 ∧  T = F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658D92-63A3-3080-D017-9FD6E5F3283A}"/>
              </a:ext>
            </a:extLst>
          </p:cNvPr>
          <p:cNvSpPr txBox="1"/>
          <p:nvPr/>
        </p:nvSpPr>
        <p:spPr>
          <a:xfrm>
            <a:off x="8144175" y="5303752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∧  F = 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C52247-E4D2-C5C5-7401-931B01E29C32}"/>
              </a:ext>
            </a:extLst>
          </p:cNvPr>
          <p:cNvSpPr txBox="1"/>
          <p:nvPr/>
        </p:nvSpPr>
        <p:spPr>
          <a:xfrm>
            <a:off x="8122198" y="5835310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 ∧  T = 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0BA3E6-034F-62FA-6E4D-FB5352923474}"/>
              </a:ext>
            </a:extLst>
          </p:cNvPr>
          <p:cNvSpPr txBox="1"/>
          <p:nvPr/>
        </p:nvSpPr>
        <p:spPr>
          <a:xfrm>
            <a:off x="9613417" y="3629890"/>
            <a:ext cx="14157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¬(P V Q)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DAB165-4322-D735-0D2A-A2B80777DA0C}"/>
              </a:ext>
            </a:extLst>
          </p:cNvPr>
          <p:cNvSpPr txBox="1"/>
          <p:nvPr/>
        </p:nvSpPr>
        <p:spPr>
          <a:xfrm>
            <a:off x="9818938" y="4240636"/>
            <a:ext cx="1369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(T  V  T )= F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DCCD83-5434-C2A1-7DD3-E03512C899E1}"/>
              </a:ext>
            </a:extLst>
          </p:cNvPr>
          <p:cNvSpPr txBox="1"/>
          <p:nvPr/>
        </p:nvSpPr>
        <p:spPr>
          <a:xfrm>
            <a:off x="9818938" y="4772194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(T  V  F )= F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BDF48AA-CC84-E1A3-2E5D-68727A4DB4A2}"/>
              </a:ext>
            </a:extLst>
          </p:cNvPr>
          <p:cNvSpPr txBox="1"/>
          <p:nvPr/>
        </p:nvSpPr>
        <p:spPr>
          <a:xfrm>
            <a:off x="9818938" y="5303752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(F  V  T )= F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2602F4E-B317-FE8D-BF11-2445CE6A6983}"/>
              </a:ext>
            </a:extLst>
          </p:cNvPr>
          <p:cNvSpPr txBox="1"/>
          <p:nvPr/>
        </p:nvSpPr>
        <p:spPr>
          <a:xfrm>
            <a:off x="9796961" y="5835310"/>
            <a:ext cx="13805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¬ (F  V  F )= 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06FA8B5-F085-45CA-3D1C-C116FEE27C78}"/>
              </a:ext>
            </a:extLst>
          </p:cNvPr>
          <p:cNvSpPr txBox="1"/>
          <p:nvPr/>
        </p:nvSpPr>
        <p:spPr>
          <a:xfrm>
            <a:off x="7560274" y="0"/>
            <a:ext cx="4631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at least 2 answers to this question</a:t>
            </a:r>
            <a:br>
              <a:rPr lang="en-US" dirty="0"/>
            </a:br>
            <a:r>
              <a:rPr lang="en-US" dirty="0"/>
              <a:t>Maybe more?</a:t>
            </a:r>
          </a:p>
        </p:txBody>
      </p:sp>
    </p:spTree>
    <p:extLst>
      <p:ext uri="{BB962C8B-B14F-4D97-AF65-F5344CB8AC3E}">
        <p14:creationId xmlns:p14="http://schemas.microsoft.com/office/powerpoint/2010/main" val="311595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9F477-0C68-EFDF-6103-38EB8F68D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80FA8-4961-058F-2DE7-0FCAFAE9F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9123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Use AND, OR, and NOT to translate this circuit diagram into a Boolean expression </a:t>
            </a:r>
          </a:p>
          <a:p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3E52433-7AE1-1412-0DD7-0F0F077F5A24}"/>
              </a:ext>
            </a:extLst>
          </p:cNvPr>
          <p:cNvGrpSpPr/>
          <p:nvPr/>
        </p:nvGrpSpPr>
        <p:grpSpPr>
          <a:xfrm>
            <a:off x="326721" y="4562596"/>
            <a:ext cx="6645680" cy="2175669"/>
            <a:chOff x="1476649" y="3137797"/>
            <a:chExt cx="6645680" cy="217566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F73520B-BC34-5136-7487-968FCF91D4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6649" y="3137797"/>
              <a:ext cx="6645680" cy="2175669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EA2FBC-7BCF-6DBB-2715-7012B295602A}"/>
                </a:ext>
              </a:extLst>
            </p:cNvPr>
            <p:cNvSpPr txBox="1"/>
            <p:nvPr/>
          </p:nvSpPr>
          <p:spPr>
            <a:xfrm>
              <a:off x="3027935" y="3816628"/>
              <a:ext cx="102446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NOT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B04ABE5-4D7D-720B-9EAD-B5E5BCFA2E45}"/>
                </a:ext>
              </a:extLst>
            </p:cNvPr>
            <p:cNvSpPr txBox="1"/>
            <p:nvPr/>
          </p:nvSpPr>
          <p:spPr>
            <a:xfrm>
              <a:off x="4052404" y="4380381"/>
              <a:ext cx="64312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dirty="0"/>
                <a:t>AND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84A5F77-DE86-8805-2E20-2AC998338C52}"/>
                </a:ext>
              </a:extLst>
            </p:cNvPr>
            <p:cNvSpPr txBox="1"/>
            <p:nvPr/>
          </p:nvSpPr>
          <p:spPr>
            <a:xfrm>
              <a:off x="5888844" y="3447296"/>
              <a:ext cx="5132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/>
                <a:t>OR</a:t>
              </a:r>
            </a:p>
          </p:txBody>
        </p:sp>
      </p:grp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6C4014B-98FA-AD74-D5E8-FAB51D6E1E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09309"/>
              </p:ext>
            </p:extLst>
          </p:nvPr>
        </p:nvGraphicFramePr>
        <p:xfrm>
          <a:off x="7772400" y="2323220"/>
          <a:ext cx="4391522" cy="348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5972">
                  <a:extLst>
                    <a:ext uri="{9D8B030D-6E8A-4147-A177-3AD203B41FA5}">
                      <a16:colId xmlns:a16="http://schemas.microsoft.com/office/drawing/2014/main" val="1098624300"/>
                    </a:ext>
                  </a:extLst>
                </a:gridCol>
                <a:gridCol w="770093">
                  <a:extLst>
                    <a:ext uri="{9D8B030D-6E8A-4147-A177-3AD203B41FA5}">
                      <a16:colId xmlns:a16="http://schemas.microsoft.com/office/drawing/2014/main" val="2579213875"/>
                    </a:ext>
                  </a:extLst>
                </a:gridCol>
                <a:gridCol w="2695457">
                  <a:extLst>
                    <a:ext uri="{9D8B030D-6E8A-4147-A177-3AD203B41FA5}">
                      <a16:colId xmlns:a16="http://schemas.microsoft.com/office/drawing/2014/main" val="217429844"/>
                    </a:ext>
                  </a:extLst>
                </a:gridCol>
              </a:tblGrid>
              <a:tr h="696392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478138"/>
                  </a:ext>
                </a:extLst>
              </a:tr>
              <a:tr h="69639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4803176"/>
                  </a:ext>
                </a:extLst>
              </a:tr>
              <a:tr h="696392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032173"/>
                  </a:ext>
                </a:extLst>
              </a:tr>
              <a:tr h="696392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884945"/>
                  </a:ext>
                </a:extLst>
              </a:tr>
              <a:tr h="696392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954082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6792B7FD-AB0E-C833-9A0A-1945AFE2A9E6}"/>
              </a:ext>
            </a:extLst>
          </p:cNvPr>
          <p:cNvSpPr txBox="1"/>
          <p:nvPr/>
        </p:nvSpPr>
        <p:spPr>
          <a:xfrm>
            <a:off x="7329906" y="5942568"/>
            <a:ext cx="4834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may want more columns in your truth table</a:t>
            </a:r>
          </a:p>
        </p:txBody>
      </p:sp>
    </p:spTree>
    <p:extLst>
      <p:ext uri="{BB962C8B-B14F-4D97-AF65-F5344CB8AC3E}">
        <p14:creationId xmlns:p14="http://schemas.microsoft.com/office/powerpoint/2010/main" val="11171838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2A71-45CF-D769-66AD-D32EB3BB7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961"/>
            <a:ext cx="8776855" cy="1648728"/>
          </a:xfrm>
        </p:spPr>
        <p:txBody>
          <a:bodyPr>
            <a:normAutofit fontScale="90000"/>
          </a:bodyPr>
          <a:lstStyle/>
          <a:p>
            <a:r>
              <a:rPr lang="en-US" dirty="0"/>
              <a:t>Practice 3:</a:t>
            </a:r>
            <a:br>
              <a:rPr lang="en-US" dirty="0"/>
            </a:br>
            <a:r>
              <a:rPr lang="en-US" dirty="0"/>
              <a:t>Write out the truth table for </a:t>
            </a:r>
            <a:br>
              <a:rPr lang="en-US" dirty="0"/>
            </a:br>
            <a:r>
              <a:rPr lang="en-US" dirty="0"/>
              <a:t>¬P V (P∧Q) V (P∧¬Q)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3A65A-9C39-E2DA-8FFB-49193FB9CA6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3" y="2604655"/>
          <a:ext cx="10515594" cy="3499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99">
                  <a:extLst>
                    <a:ext uri="{9D8B030D-6E8A-4147-A177-3AD203B41FA5}">
                      <a16:colId xmlns:a16="http://schemas.microsoft.com/office/drawing/2014/main" val="3561480993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258899778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1296500124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692596654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991949665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3581182200"/>
                    </a:ext>
                  </a:extLst>
                </a:gridCol>
              </a:tblGrid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= ¬P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= (P∧Q)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 = (P∧¬Q)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∨ B ∨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413251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01406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174365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13677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946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2827283-3FE7-6D0D-F6F3-E2092DAB2F9D}"/>
              </a:ext>
            </a:extLst>
          </p:cNvPr>
          <p:cNvSpPr txBox="1"/>
          <p:nvPr/>
        </p:nvSpPr>
        <p:spPr>
          <a:xfrm>
            <a:off x="838200" y="6169709"/>
            <a:ext cx="7214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like to break it down into smaller pieces to help keep myself organized </a:t>
            </a:r>
            <a:br>
              <a:rPr lang="en-US" dirty="0"/>
            </a:br>
            <a:r>
              <a:rPr lang="en-US" dirty="0"/>
              <a:t>Your milage may vary - </a:t>
            </a:r>
          </a:p>
        </p:txBody>
      </p:sp>
    </p:spTree>
    <p:extLst>
      <p:ext uri="{BB962C8B-B14F-4D97-AF65-F5344CB8AC3E}">
        <p14:creationId xmlns:p14="http://schemas.microsoft.com/office/powerpoint/2010/main" val="34884751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209F7-8859-8697-F4AB-B443256EB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7" y="-286039"/>
            <a:ext cx="10515600" cy="1325563"/>
          </a:xfrm>
        </p:spPr>
        <p:txBody>
          <a:bodyPr/>
          <a:lstStyle/>
          <a:p>
            <a:r>
              <a:rPr lang="en-US" dirty="0"/>
              <a:t>Notably: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8A4FA-C510-0BFD-296E-0AECED857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2109"/>
            <a:ext cx="10515600" cy="523485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¬P V (P ∧ Q) V (P∧¬Q) is always True, regardless of what P and Q are</a:t>
            </a:r>
          </a:p>
          <a:p>
            <a:pPr marL="0" indent="0">
              <a:buNone/>
            </a:pPr>
            <a:r>
              <a:rPr lang="en-US" dirty="0"/>
              <a:t>We call this a “tautology”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827AF76-DA3A-227D-932E-9659F5732B0C}"/>
              </a:ext>
            </a:extLst>
          </p:cNvPr>
          <p:cNvGraphicFramePr>
            <a:graphicFrameLocks/>
          </p:cNvGraphicFramePr>
          <p:nvPr/>
        </p:nvGraphicFramePr>
        <p:xfrm>
          <a:off x="838203" y="2604655"/>
          <a:ext cx="10515594" cy="34997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599">
                  <a:extLst>
                    <a:ext uri="{9D8B030D-6E8A-4147-A177-3AD203B41FA5}">
                      <a16:colId xmlns:a16="http://schemas.microsoft.com/office/drawing/2014/main" val="3561480993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258899778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1296500124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692596654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2991949665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3581182200"/>
                    </a:ext>
                  </a:extLst>
                </a:gridCol>
              </a:tblGrid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= ¬P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 = (P ∧ 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 = (P∧¬Q)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 ∨ B ∨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413251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 V T V F </a:t>
                      </a:r>
                      <a:r>
                        <a:rPr lang="en-US" dirty="0">
                          <a:sym typeface="Wingdings" pitchFamily="2" charset="2"/>
                        </a:rPr>
                        <a:t> 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801406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 V F V T </a:t>
                      </a:r>
                      <a:r>
                        <a:rPr lang="en-US" dirty="0">
                          <a:sym typeface="Wingdings" pitchFamily="2" charset="2"/>
                        </a:rPr>
                        <a:t> 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174365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 V F V F </a:t>
                      </a:r>
                      <a:r>
                        <a:rPr lang="en-US" dirty="0">
                          <a:sym typeface="Wingdings" pitchFamily="2" charset="2"/>
                        </a:rPr>
                        <a:t> 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7613677"/>
                  </a:ext>
                </a:extLst>
              </a:tr>
              <a:tr h="699943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 V F V F </a:t>
                      </a:r>
                      <a:r>
                        <a:rPr lang="en-US" dirty="0">
                          <a:sym typeface="Wingdings" pitchFamily="2" charset="2"/>
                        </a:rPr>
                        <a:t> 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9946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DF6BFA-6DC3-7D76-5425-7EA811DD48A6}"/>
              </a:ext>
            </a:extLst>
          </p:cNvPr>
          <p:cNvSpPr txBox="1"/>
          <p:nvPr/>
        </p:nvSpPr>
        <p:spPr>
          <a:xfrm>
            <a:off x="0" y="6386945"/>
            <a:ext cx="8172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statement that is always false regardless of input is a contradiction (Ex. P ∧ ¬P) </a:t>
            </a:r>
          </a:p>
        </p:txBody>
      </p:sp>
    </p:spTree>
    <p:extLst>
      <p:ext uri="{BB962C8B-B14F-4D97-AF65-F5344CB8AC3E}">
        <p14:creationId xmlns:p14="http://schemas.microsoft.com/office/powerpoint/2010/main" val="4241701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FF6BF-8BA6-6530-12AD-CAA60C89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55C5C-3181-619F-3254-586CC2E62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Molly – publish </a:t>
            </a:r>
            <a:r>
              <a:rPr lang="en-US" b="1" dirty="0"/>
              <a:t>In Class Work - Week 1</a:t>
            </a:r>
            <a:br>
              <a:rPr lang="en-US" b="1" dirty="0"/>
            </a:br>
            <a:endParaRPr lang="en-US" b="1" dirty="0"/>
          </a:p>
          <a:p>
            <a:r>
              <a:rPr lang="en-US" dirty="0"/>
              <a:t>Students – Complete </a:t>
            </a:r>
            <a:r>
              <a:rPr lang="en-US" b="1" dirty="0"/>
              <a:t>In Class Work - Week 1 </a:t>
            </a:r>
            <a:r>
              <a:rPr lang="en-US" dirty="0"/>
              <a:t>on canvas and submit the pdf</a:t>
            </a:r>
          </a:p>
          <a:p>
            <a:endParaRPr lang="en-US" dirty="0"/>
          </a:p>
          <a:p>
            <a:r>
              <a:rPr lang="en-US" dirty="0"/>
              <a:t>Then let’s evaluate how much time is left in class</a:t>
            </a:r>
          </a:p>
        </p:txBody>
      </p:sp>
    </p:spTree>
    <p:extLst>
      <p:ext uri="{BB962C8B-B14F-4D97-AF65-F5344CB8AC3E}">
        <p14:creationId xmlns:p14="http://schemas.microsoft.com/office/powerpoint/2010/main" val="853120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4F08C8-811F-FD3B-8ED1-C164C7576B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Logical equivalence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67909B3-8C91-8A3C-CBEC-D77A5F0FB4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5275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3BA9-9DCB-1591-5D43-BB59B934B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Determining if two statements are true / false under the same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49CAB-B294-1A78-CE85-134022C39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 V Q is logically equivalent to Q V P.</a:t>
            </a:r>
          </a:p>
          <a:p>
            <a:pPr lvl="1"/>
            <a:r>
              <a:rPr lang="en-US" dirty="0"/>
              <a:t>Shorthanded to P V Q ≡ Q V P</a:t>
            </a:r>
          </a:p>
          <a:p>
            <a:pPr lvl="2"/>
            <a:r>
              <a:rPr lang="en-US" dirty="0"/>
              <a:t>Equals sign with an extra line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en-US" dirty="0"/>
              <a:t>This is going to give us the building blocks to start performing some transformations</a:t>
            </a:r>
          </a:p>
          <a:p>
            <a:pPr lvl="1"/>
            <a:r>
              <a:rPr lang="en-US" dirty="0"/>
              <a:t>More on that in a minute</a:t>
            </a:r>
          </a:p>
        </p:txBody>
      </p:sp>
    </p:spTree>
    <p:extLst>
      <p:ext uri="{BB962C8B-B14F-4D97-AF65-F5344CB8AC3E}">
        <p14:creationId xmlns:p14="http://schemas.microsoft.com/office/powerpoint/2010/main" val="37041407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B49B3-2312-13C0-EE7C-EB21EE657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9"/>
            <a:ext cx="10515600" cy="1325563"/>
          </a:xfrm>
        </p:spPr>
        <p:txBody>
          <a:bodyPr/>
          <a:lstStyle/>
          <a:p>
            <a:r>
              <a:rPr lang="en-US" dirty="0"/>
              <a:t>Proving Logical equivalence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FE763-F275-A0CF-66A5-C981E5E8A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075098"/>
            <a:ext cx="12192000" cy="10007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If two columns of a truth table are identical – the two statements are logically equivalent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A594B53-EDF8-CFE6-4BCD-AEB69D7576C5}"/>
              </a:ext>
            </a:extLst>
          </p:cNvPr>
          <p:cNvGraphicFramePr>
            <a:graphicFrameLocks noGrp="1"/>
          </p:cNvGraphicFramePr>
          <p:nvPr/>
        </p:nvGraphicFramePr>
        <p:xfrm>
          <a:off x="803562" y="2535382"/>
          <a:ext cx="3089566" cy="1309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711">
                  <a:extLst>
                    <a:ext uri="{9D8B030D-6E8A-4147-A177-3AD203B41FA5}">
                      <a16:colId xmlns:a16="http://schemas.microsoft.com/office/drawing/2014/main" val="2763182914"/>
                    </a:ext>
                  </a:extLst>
                </a:gridCol>
                <a:gridCol w="1039091">
                  <a:extLst>
                    <a:ext uri="{9D8B030D-6E8A-4147-A177-3AD203B41FA5}">
                      <a16:colId xmlns:a16="http://schemas.microsoft.com/office/drawing/2014/main" val="754453862"/>
                    </a:ext>
                  </a:extLst>
                </a:gridCol>
                <a:gridCol w="1260764">
                  <a:extLst>
                    <a:ext uri="{9D8B030D-6E8A-4147-A177-3AD203B41FA5}">
                      <a16:colId xmlns:a16="http://schemas.microsoft.com/office/drawing/2014/main" val="2406216806"/>
                    </a:ext>
                  </a:extLst>
                </a:gridCol>
              </a:tblGrid>
              <a:tr h="568036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¬p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¬(¬p)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5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7324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80894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9795C29-0970-93A5-7EFF-773BBC2458CD}"/>
              </a:ext>
            </a:extLst>
          </p:cNvPr>
          <p:cNvSpPr txBox="1"/>
          <p:nvPr/>
        </p:nvSpPr>
        <p:spPr>
          <a:xfrm>
            <a:off x="803562" y="4304680"/>
            <a:ext cx="398987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 and ¬¬P end up looking identical</a:t>
            </a:r>
          </a:p>
          <a:p>
            <a:endParaRPr lang="en-US" dirty="0"/>
          </a:p>
          <a:p>
            <a:r>
              <a:rPr lang="en-US" dirty="0"/>
              <a:t>Therefore they are logically equivalent.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We shorthand this as P ≡ ¬¬P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A63C67A-3DDA-475A-8D63-47C4A319CC7F}"/>
              </a:ext>
            </a:extLst>
          </p:cNvPr>
          <p:cNvSpPr/>
          <p:nvPr/>
        </p:nvSpPr>
        <p:spPr>
          <a:xfrm>
            <a:off x="803562" y="2553319"/>
            <a:ext cx="692729" cy="13952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F3D334-A4AD-0664-AC97-66BCD556A955}"/>
              </a:ext>
            </a:extLst>
          </p:cNvPr>
          <p:cNvSpPr/>
          <p:nvPr/>
        </p:nvSpPr>
        <p:spPr>
          <a:xfrm>
            <a:off x="2615244" y="2535382"/>
            <a:ext cx="692729" cy="1395225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237F63-E103-117A-0CA7-ED9EFBD98434}"/>
              </a:ext>
            </a:extLst>
          </p:cNvPr>
          <p:cNvSpPr txBox="1"/>
          <p:nvPr/>
        </p:nvSpPr>
        <p:spPr>
          <a:xfrm>
            <a:off x="5486400" y="2618509"/>
            <a:ext cx="373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is actually a law we can rely on!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79CA90F-4ACF-1F30-F0BE-67ACBA3C1AA8}"/>
              </a:ext>
            </a:extLst>
          </p:cNvPr>
          <p:cNvSpPr txBox="1"/>
          <p:nvPr/>
        </p:nvSpPr>
        <p:spPr>
          <a:xfrm>
            <a:off x="5486400" y="3250931"/>
            <a:ext cx="62206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Double Negative Law</a:t>
            </a:r>
          </a:p>
          <a:p>
            <a:r>
              <a:rPr lang="en-US" dirty="0"/>
              <a:t>If you ever see ¬¬P , you can safely just transform that to P and your logical statement will not change</a:t>
            </a:r>
          </a:p>
        </p:txBody>
      </p:sp>
    </p:spTree>
    <p:extLst>
      <p:ext uri="{BB962C8B-B14F-4D97-AF65-F5344CB8AC3E}">
        <p14:creationId xmlns:p14="http://schemas.microsoft.com/office/powerpoint/2010/main" val="133080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1" grpId="0"/>
      <p:bldP spid="1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FFA4C-5AB2-AF4A-10F5-41DDB343F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E7C7E-73C1-CDBF-16AA-30202D3E8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67121"/>
            <a:ext cx="9906000" cy="231688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A = P ∧ (Q V  R) </a:t>
            </a:r>
          </a:p>
          <a:p>
            <a:pPr marL="457200" lvl="1" indent="0">
              <a:buNone/>
            </a:pPr>
            <a:r>
              <a:rPr lang="en-US" b="1" dirty="0"/>
              <a:t>B = (P V Q) ∧ (P V  R) 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Is A logically equivalent to B?</a:t>
            </a:r>
          </a:p>
          <a:p>
            <a:pPr marL="457200" lvl="1" indent="0">
              <a:buNone/>
            </a:pPr>
            <a:r>
              <a:rPr lang="en-US" dirty="0"/>
              <a:t>Prove with a truth table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586D92C-54A1-07D0-5494-600CEA93ED2B}"/>
              </a:ext>
            </a:extLst>
          </p:cNvPr>
          <p:cNvGraphicFramePr>
            <a:graphicFrameLocks noGrp="1"/>
          </p:cNvGraphicFramePr>
          <p:nvPr/>
        </p:nvGraphicFramePr>
        <p:xfrm>
          <a:off x="1408546" y="2682874"/>
          <a:ext cx="89408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60">
                  <a:extLst>
                    <a:ext uri="{9D8B030D-6E8A-4147-A177-3AD203B41FA5}">
                      <a16:colId xmlns:a16="http://schemas.microsoft.com/office/drawing/2014/main" val="1954967606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494324751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2666849956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3706622575"/>
                    </a:ext>
                  </a:extLst>
                </a:gridCol>
                <a:gridCol w="1788160">
                  <a:extLst>
                    <a:ext uri="{9D8B030D-6E8A-4147-A177-3AD203B41FA5}">
                      <a16:colId xmlns:a16="http://schemas.microsoft.com/office/drawing/2014/main" val="155674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 ∧ (Q V  R)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(P V A) ∧ (P V  R)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6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5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88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4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73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8313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147948E-0080-F85F-1F6B-F69A99BE5B9B}"/>
              </a:ext>
            </a:extLst>
          </p:cNvPr>
          <p:cNvSpPr txBox="1"/>
          <p:nvPr/>
        </p:nvSpPr>
        <p:spPr>
          <a:xfrm>
            <a:off x="0" y="6506213"/>
            <a:ext cx="499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to keep track of or submit this problem! </a:t>
            </a:r>
          </a:p>
        </p:txBody>
      </p:sp>
    </p:spTree>
    <p:extLst>
      <p:ext uri="{BB962C8B-B14F-4D97-AF65-F5344CB8AC3E}">
        <p14:creationId xmlns:p14="http://schemas.microsoft.com/office/powerpoint/2010/main" val="34500890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46E3C-FF92-C056-EB4C-E0A56B657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through it…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FBDD83-1C20-D1A3-9B1B-A8837968DD10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10515600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2673">
                  <a:extLst>
                    <a:ext uri="{9D8B030D-6E8A-4147-A177-3AD203B41FA5}">
                      <a16:colId xmlns:a16="http://schemas.microsoft.com/office/drawing/2014/main" val="1954967606"/>
                    </a:ext>
                  </a:extLst>
                </a:gridCol>
                <a:gridCol w="706582">
                  <a:extLst>
                    <a:ext uri="{9D8B030D-6E8A-4147-A177-3AD203B41FA5}">
                      <a16:colId xmlns:a16="http://schemas.microsoft.com/office/drawing/2014/main" val="2494324751"/>
                    </a:ext>
                  </a:extLst>
                </a:gridCol>
                <a:gridCol w="803563">
                  <a:extLst>
                    <a:ext uri="{9D8B030D-6E8A-4147-A177-3AD203B41FA5}">
                      <a16:colId xmlns:a16="http://schemas.microsoft.com/office/drawing/2014/main" val="2666849956"/>
                    </a:ext>
                  </a:extLst>
                </a:gridCol>
                <a:gridCol w="858982">
                  <a:extLst>
                    <a:ext uri="{9D8B030D-6E8A-4147-A177-3AD203B41FA5}">
                      <a16:colId xmlns:a16="http://schemas.microsoft.com/office/drawing/2014/main" val="1532272949"/>
                    </a:ext>
                  </a:extLst>
                </a:gridCol>
                <a:gridCol w="1579418">
                  <a:extLst>
                    <a:ext uri="{9D8B030D-6E8A-4147-A177-3AD203B41FA5}">
                      <a16:colId xmlns:a16="http://schemas.microsoft.com/office/drawing/2014/main" val="3706622575"/>
                    </a:ext>
                  </a:extLst>
                </a:gridCol>
                <a:gridCol w="5964382">
                  <a:extLst>
                    <a:ext uri="{9D8B030D-6E8A-4147-A177-3AD203B41FA5}">
                      <a16:colId xmlns:a16="http://schemas.microsoft.com/office/drawing/2014/main" val="155674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 V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 ∧ (Q V  R)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(P V Q) ∧ (P V  R)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6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5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88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4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73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83135"/>
                  </a:ext>
                </a:extLst>
              </a:tr>
            </a:tbl>
          </a:graphicData>
        </a:graphic>
      </p:graphicFrame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BD1783-46EE-6490-4FA4-E0C8C7D5DB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5281" y="2438400"/>
            <a:ext cx="304580" cy="30042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0CF80A7-6008-067E-E5DC-209744790C55}"/>
              </a:ext>
            </a:extLst>
          </p:cNvPr>
          <p:cNvSpPr/>
          <p:nvPr/>
        </p:nvSpPr>
        <p:spPr>
          <a:xfrm>
            <a:off x="838200" y="1825625"/>
            <a:ext cx="547255" cy="36068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BB1E36-0194-4B20-78F4-80E22242DF11}"/>
              </a:ext>
            </a:extLst>
          </p:cNvPr>
          <p:cNvSpPr/>
          <p:nvPr/>
        </p:nvSpPr>
        <p:spPr>
          <a:xfrm>
            <a:off x="3005281" y="1825625"/>
            <a:ext cx="777010" cy="360680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1E428B-A2DD-8EA4-8146-05A55C6C0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381" y="2486442"/>
            <a:ext cx="305338" cy="295622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2071E4-4A9D-6D11-D9DE-ED0DCA6E861C}"/>
              </a:ext>
            </a:extLst>
          </p:cNvPr>
          <p:cNvSpPr txBox="1"/>
          <p:nvPr/>
        </p:nvSpPr>
        <p:spPr>
          <a:xfrm>
            <a:off x="785242" y="6211669"/>
            <a:ext cx="8140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Again – I prefer to break these down into smaller pieces </a:t>
            </a:r>
            <a:br>
              <a:rPr lang="en-US" dirty="0"/>
            </a:br>
            <a:r>
              <a:rPr lang="en-US" dirty="0"/>
              <a:t>If you can hold everything in your head without getting anything mixed up  go for it</a:t>
            </a:r>
          </a:p>
        </p:txBody>
      </p:sp>
    </p:spTree>
    <p:extLst>
      <p:ext uri="{BB962C8B-B14F-4D97-AF65-F5344CB8AC3E}">
        <p14:creationId xmlns:p14="http://schemas.microsoft.com/office/powerpoint/2010/main" val="258194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55C4E-9181-290C-8870-34523140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41A1-3117-500A-D7D1-958D90C61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Going through it…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A55E6CB-E373-F480-4F95-95F35401867B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7349836" cy="4034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1954967606"/>
                    </a:ext>
                  </a:extLst>
                </a:gridCol>
                <a:gridCol w="443345">
                  <a:extLst>
                    <a:ext uri="{9D8B030D-6E8A-4147-A177-3AD203B41FA5}">
                      <a16:colId xmlns:a16="http://schemas.microsoft.com/office/drawing/2014/main" val="2494324751"/>
                    </a:ext>
                  </a:extLst>
                </a:gridCol>
                <a:gridCol w="1052946">
                  <a:extLst>
                    <a:ext uri="{9D8B030D-6E8A-4147-A177-3AD203B41FA5}">
                      <a16:colId xmlns:a16="http://schemas.microsoft.com/office/drawing/2014/main" val="2666849956"/>
                    </a:ext>
                  </a:extLst>
                </a:gridCol>
                <a:gridCol w="1246909">
                  <a:extLst>
                    <a:ext uri="{9D8B030D-6E8A-4147-A177-3AD203B41FA5}">
                      <a16:colId xmlns:a16="http://schemas.microsoft.com/office/drawing/2014/main" val="1433789827"/>
                    </a:ext>
                  </a:extLst>
                </a:gridCol>
                <a:gridCol w="2008909">
                  <a:extLst>
                    <a:ext uri="{9D8B030D-6E8A-4147-A177-3AD203B41FA5}">
                      <a16:colId xmlns:a16="http://schemas.microsoft.com/office/drawing/2014/main" val="1556749092"/>
                    </a:ext>
                  </a:extLst>
                </a:gridCol>
                <a:gridCol w="2216727">
                  <a:extLst>
                    <a:ext uri="{9D8B030D-6E8A-4147-A177-3AD203B41FA5}">
                      <a16:colId xmlns:a16="http://schemas.microsoft.com/office/drawing/2014/main" val="1036505839"/>
                    </a:ext>
                  </a:extLst>
                </a:gridCol>
              </a:tblGrid>
              <a:tr h="950619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V 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 V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(P V Q) ∧ (P V  R)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65984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34625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50410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881168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43489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8890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8418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736059"/>
                  </a:ext>
                </a:extLst>
              </a:tr>
              <a:tr h="385529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83135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FC2D5CD4-5DCA-7072-2484-88C581A53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794" y="1825625"/>
            <a:ext cx="2907875" cy="403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69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808EA-F052-9F7B-15E3-3870EBC52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C2778-3E18-4A5D-66A1-40F6BF1C3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8E199-8D4D-52EB-10C6-D613B9674A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0" y="167121"/>
            <a:ext cx="9906000" cy="2316883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b="1" dirty="0"/>
              <a:t>A = p ∧ (q V  r) </a:t>
            </a:r>
          </a:p>
          <a:p>
            <a:pPr marL="457200" lvl="1" indent="0">
              <a:buNone/>
            </a:pPr>
            <a:r>
              <a:rPr lang="en-US" b="1" dirty="0"/>
              <a:t>B = (p V q) ∧ (p V  r) </a:t>
            </a:r>
          </a:p>
          <a:p>
            <a:pPr marL="457200" lvl="1" indent="0">
              <a:buNone/>
            </a:pPr>
            <a:endParaRPr lang="en-US" b="1" dirty="0"/>
          </a:p>
          <a:p>
            <a:pPr marL="457200" lvl="1" indent="0">
              <a:buNone/>
            </a:pPr>
            <a:r>
              <a:rPr lang="en-US" dirty="0"/>
              <a:t>Is A logically equivalent to B?</a:t>
            </a:r>
          </a:p>
          <a:p>
            <a:pPr marL="457200" lvl="1" indent="0">
              <a:buNone/>
            </a:pPr>
            <a:r>
              <a:rPr lang="en-US" dirty="0"/>
              <a:t>Prove with a truth table</a:t>
            </a:r>
          </a:p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4C5195E-54A9-447F-6A0B-0301D88569D5}"/>
              </a:ext>
            </a:extLst>
          </p:cNvPr>
          <p:cNvGraphicFramePr>
            <a:graphicFrameLocks noGrp="1"/>
          </p:cNvGraphicFramePr>
          <p:nvPr/>
        </p:nvGraphicFramePr>
        <p:xfrm>
          <a:off x="1408546" y="2682874"/>
          <a:ext cx="8746835" cy="360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9367">
                  <a:extLst>
                    <a:ext uri="{9D8B030D-6E8A-4147-A177-3AD203B41FA5}">
                      <a16:colId xmlns:a16="http://schemas.microsoft.com/office/drawing/2014/main" val="1954967606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2494324751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2666849956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3706622575"/>
                    </a:ext>
                  </a:extLst>
                </a:gridCol>
                <a:gridCol w="1749367">
                  <a:extLst>
                    <a:ext uri="{9D8B030D-6E8A-4147-A177-3AD203B41FA5}">
                      <a16:colId xmlns:a16="http://schemas.microsoft.com/office/drawing/2014/main" val="15567490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P ∧ (Q V  R)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(P V Q) ∧ (P V R) 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4765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5334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3504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5881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94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7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08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7360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98313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23287844-6640-8EDF-B7AD-934D81385C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3347302"/>
            <a:ext cx="305338" cy="29562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1DB9EF-CF40-EFC4-5FB8-C25B335D6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2944" y="3347302"/>
            <a:ext cx="305338" cy="295622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48B044-8A18-9B02-9236-36D1CE5FC81C}"/>
              </a:ext>
            </a:extLst>
          </p:cNvPr>
          <p:cNvSpPr txBox="1"/>
          <p:nvPr/>
        </p:nvSpPr>
        <p:spPr>
          <a:xfrm>
            <a:off x="6963709" y="6506213"/>
            <a:ext cx="5228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Then yes these are logically equivalent statements!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540430-3149-BAAE-5CA1-6A79AFA70889}"/>
              </a:ext>
            </a:extLst>
          </p:cNvPr>
          <p:cNvSpPr txBox="1"/>
          <p:nvPr/>
        </p:nvSpPr>
        <p:spPr>
          <a:xfrm>
            <a:off x="0" y="6506213"/>
            <a:ext cx="499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to keep track of or submit this problem! </a:t>
            </a:r>
          </a:p>
        </p:txBody>
      </p:sp>
    </p:spTree>
    <p:extLst>
      <p:ext uri="{BB962C8B-B14F-4D97-AF65-F5344CB8AC3E}">
        <p14:creationId xmlns:p14="http://schemas.microsoft.com/office/powerpoint/2010/main" val="1108730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714F3-69F1-A44F-26BD-8122F57FA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161" y="365125"/>
            <a:ext cx="10515600" cy="1325563"/>
          </a:xfrm>
        </p:spPr>
        <p:txBody>
          <a:bodyPr/>
          <a:lstStyle/>
          <a:p>
            <a:r>
              <a:rPr lang="en-US" b="1" dirty="0"/>
              <a:t>P ∧ (Q V  R) </a:t>
            </a:r>
            <a:r>
              <a:rPr lang="en-US" dirty="0"/>
              <a:t>≡ </a:t>
            </a:r>
            <a:r>
              <a:rPr lang="en-US" b="1" dirty="0"/>
              <a:t>(P V Q) ∧ (P V  R)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40CD-BEA6-1AF7-4CC2-5CA41A931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161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This is another law we can rely on!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Distributive laws: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B6F36D-C5BE-B037-F8F5-F53174024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61" y="3521061"/>
            <a:ext cx="6616174" cy="14270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5B836D-E3AC-1145-1AFD-DD27ECF83CD1}"/>
              </a:ext>
            </a:extLst>
          </p:cNvPr>
          <p:cNvSpPr txBox="1"/>
          <p:nvPr/>
        </p:nvSpPr>
        <p:spPr>
          <a:xfrm>
            <a:off x="6698672" y="2016632"/>
            <a:ext cx="540844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You can enter the building if you have an ID and a keycard or code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P = Have ID</a:t>
            </a:r>
          </a:p>
          <a:p>
            <a:r>
              <a:rPr lang="en-US" dirty="0"/>
              <a:t>Q = Have keycard</a:t>
            </a:r>
            <a:br>
              <a:rPr lang="en-US" dirty="0"/>
            </a:br>
            <a:r>
              <a:rPr lang="en-US" dirty="0"/>
              <a:t>R = Have code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ID and (keycard or code) </a:t>
            </a:r>
          </a:p>
          <a:p>
            <a:endParaRPr lang="en-US" dirty="0"/>
          </a:p>
          <a:p>
            <a:r>
              <a:rPr lang="en-US" dirty="0"/>
              <a:t>is the same as</a:t>
            </a:r>
            <a:br>
              <a:rPr lang="en-US" dirty="0"/>
            </a:br>
            <a:endParaRPr lang="en-US" dirty="0"/>
          </a:p>
          <a:p>
            <a:r>
              <a:rPr lang="en-US" dirty="0"/>
              <a:t>(ID and keycard) or (ID and code)</a:t>
            </a:r>
          </a:p>
        </p:txBody>
      </p:sp>
    </p:spTree>
    <p:extLst>
      <p:ext uri="{BB962C8B-B14F-4D97-AF65-F5344CB8AC3E}">
        <p14:creationId xmlns:p14="http://schemas.microsoft.com/office/powerpoint/2010/main" val="416621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8BC6E-9ECF-5601-CA60-3AF735B0B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Practice 4  </a:t>
            </a:r>
            <a:br>
              <a:rPr lang="en-US" dirty="0"/>
            </a:br>
            <a:r>
              <a:rPr lang="en-US" dirty="0"/>
              <a:t>¬(P∨Q)≡(¬P∧¬Q)</a:t>
            </a:r>
            <a:br>
              <a:rPr lang="en-US" dirty="0"/>
            </a:br>
            <a:r>
              <a:rPr lang="en-US" dirty="0"/>
              <a:t>Using a truth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4E18B-4115-6CE9-AB39-DD1609BD8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Remember </a:t>
            </a:r>
          </a:p>
          <a:p>
            <a:pPr lvl="1"/>
            <a:r>
              <a:rPr lang="en-US" dirty="0"/>
              <a:t>V represents logical OR</a:t>
            </a:r>
          </a:p>
          <a:p>
            <a:pPr lvl="1"/>
            <a:r>
              <a:rPr lang="en-US" dirty="0"/>
              <a:t>∧ represents logical AND</a:t>
            </a:r>
          </a:p>
          <a:p>
            <a:pPr lvl="1"/>
            <a:r>
              <a:rPr lang="en-US" dirty="0"/>
              <a:t>Both are used in the above statement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E9C86F-7ABB-64AA-0D1A-E1C24117C739}"/>
              </a:ext>
            </a:extLst>
          </p:cNvPr>
          <p:cNvSpPr txBox="1"/>
          <p:nvPr/>
        </p:nvSpPr>
        <p:spPr>
          <a:xfrm>
            <a:off x="0" y="6506213"/>
            <a:ext cx="4994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need to keep track of or submit this problem! </a:t>
            </a:r>
          </a:p>
        </p:txBody>
      </p:sp>
    </p:spTree>
    <p:extLst>
      <p:ext uri="{BB962C8B-B14F-4D97-AF65-F5344CB8AC3E}">
        <p14:creationId xmlns:p14="http://schemas.microsoft.com/office/powerpoint/2010/main" val="55393598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AF311D-1361-3A38-BF90-7A59752D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91" y="0"/>
            <a:ext cx="10515600" cy="1325563"/>
          </a:xfrm>
        </p:spPr>
        <p:txBody>
          <a:bodyPr/>
          <a:lstStyle/>
          <a:p>
            <a:r>
              <a:rPr lang="en-US" dirty="0"/>
              <a:t>De Morgan’s law (another logical equivalence)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D30089E-9E56-9812-8674-C5B3A6981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764" y="1607994"/>
            <a:ext cx="5936673" cy="2053648"/>
          </a:xfrm>
        </p:spPr>
        <p:txBody>
          <a:bodyPr/>
          <a:lstStyle/>
          <a:p>
            <a:pPr lvl="1"/>
            <a:r>
              <a:rPr lang="en-US" dirty="0"/>
              <a:t>¬(p V q ) ≡ ¬p ∧ ¬ q </a:t>
            </a:r>
          </a:p>
          <a:p>
            <a:pPr lvl="2"/>
            <a:r>
              <a:rPr lang="en-US" dirty="0"/>
              <a:t>Not (p or q) is the same as not p and not q</a:t>
            </a:r>
          </a:p>
          <a:p>
            <a:pPr lvl="1"/>
            <a:r>
              <a:rPr lang="en-US" dirty="0"/>
              <a:t>¬(p ∧ q ) ≡  ¬p V ¬ q </a:t>
            </a:r>
          </a:p>
          <a:p>
            <a:pPr lvl="2"/>
            <a:r>
              <a:rPr lang="en-US" dirty="0"/>
              <a:t>Not (p or q) is the same as not p and not q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EAE673-7016-1373-BCA5-1AF824B3288A}"/>
              </a:ext>
            </a:extLst>
          </p:cNvPr>
          <p:cNvGraphicFramePr>
            <a:graphicFrameLocks noGrp="1"/>
          </p:cNvGraphicFramePr>
          <p:nvPr/>
        </p:nvGraphicFramePr>
        <p:xfrm>
          <a:off x="7744151" y="4114800"/>
          <a:ext cx="4447849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082">
                  <a:extLst>
                    <a:ext uri="{9D8B030D-6E8A-4147-A177-3AD203B41FA5}">
                      <a16:colId xmlns:a16="http://schemas.microsoft.com/office/drawing/2014/main" val="2081908933"/>
                    </a:ext>
                  </a:extLst>
                </a:gridCol>
                <a:gridCol w="538536">
                  <a:extLst>
                    <a:ext uri="{9D8B030D-6E8A-4147-A177-3AD203B41FA5}">
                      <a16:colId xmlns:a16="http://schemas.microsoft.com/office/drawing/2014/main" val="2175960766"/>
                    </a:ext>
                  </a:extLst>
                </a:gridCol>
                <a:gridCol w="1368743">
                  <a:extLst>
                    <a:ext uri="{9D8B030D-6E8A-4147-A177-3AD203B41FA5}">
                      <a16:colId xmlns:a16="http://schemas.microsoft.com/office/drawing/2014/main" val="1069489339"/>
                    </a:ext>
                  </a:extLst>
                </a:gridCol>
                <a:gridCol w="1963488">
                  <a:extLst>
                    <a:ext uri="{9D8B030D-6E8A-4147-A177-3AD203B41FA5}">
                      <a16:colId xmlns:a16="http://schemas.microsoft.com/office/drawing/2014/main" val="1830326779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lang="en-US" sz="2400" dirty="0"/>
                        <a:t>P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 (P V 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¬P ∧ ¬ Q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414656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556083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8719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288447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2275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894967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D1A6-BA50-8FB7-E7CC-776AAA9EB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Negation, Identity, and Domination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EA5A5-C444-49A6-E897-A2A241619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lang="en-US" dirty="0"/>
              <a:t>Negation laws</a:t>
            </a:r>
          </a:p>
          <a:p>
            <a:pPr lvl="1"/>
            <a:r>
              <a:rPr lang="en-US" dirty="0"/>
              <a:t>p ∨ ¬p ≡ T </a:t>
            </a:r>
          </a:p>
          <a:p>
            <a:pPr lvl="2"/>
            <a:r>
              <a:rPr lang="en-US" dirty="0"/>
              <a:t>P or not P is always true (a tautology)</a:t>
            </a:r>
          </a:p>
          <a:p>
            <a:pPr lvl="1"/>
            <a:r>
              <a:rPr lang="en-US" dirty="0"/>
              <a:t>p ∧ ¬p ≡ F</a:t>
            </a:r>
          </a:p>
          <a:p>
            <a:pPr lvl="2"/>
            <a:r>
              <a:rPr lang="en-US" dirty="0"/>
              <a:t>P and not p is always false (a contradiction)</a:t>
            </a:r>
          </a:p>
          <a:p>
            <a:r>
              <a:rPr lang="en-US" dirty="0"/>
              <a:t>Identity – it all depends on P</a:t>
            </a:r>
          </a:p>
          <a:p>
            <a:pPr lvl="1"/>
            <a:r>
              <a:rPr lang="en-US" dirty="0"/>
              <a:t>p ∧ True ≡ p </a:t>
            </a:r>
          </a:p>
          <a:p>
            <a:pPr lvl="1"/>
            <a:r>
              <a:rPr lang="en-US" dirty="0"/>
              <a:t>p V False  ≡  p</a:t>
            </a:r>
          </a:p>
          <a:p>
            <a:r>
              <a:rPr lang="en-US" dirty="0"/>
              <a:t>Annihilator laws – P is irrelevant</a:t>
            </a:r>
          </a:p>
          <a:p>
            <a:pPr lvl="1"/>
            <a:r>
              <a:rPr lang="en-US" dirty="0"/>
              <a:t>p ∨ True ≡ True</a:t>
            </a:r>
          </a:p>
          <a:p>
            <a:pPr lvl="1"/>
            <a:r>
              <a:rPr lang="en-US" dirty="0"/>
              <a:t>p ∧ False  ≡  False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11602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8EE6BFB-CE99-D8E2-1654-A795CDB60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11" y="623275"/>
            <a:ext cx="5453664" cy="56078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E7F875-4B9F-6BCD-1D88-393A01367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2497" y="1056640"/>
            <a:ext cx="3197660" cy="31257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There are many laws we can talk about…</a:t>
            </a:r>
            <a:br>
              <a:rPr lang="en-US" sz="4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E27B8C-24BE-8FD9-DE1B-C2B60A4C3EF8}"/>
              </a:ext>
            </a:extLst>
          </p:cNvPr>
          <p:cNvSpPr txBox="1"/>
          <p:nvPr/>
        </p:nvSpPr>
        <p:spPr>
          <a:xfrm>
            <a:off x="1189611" y="6231157"/>
            <a:ext cx="56960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Don’t memorize this – just keep this table as a reference</a:t>
            </a:r>
            <a:br>
              <a:rPr lang="en-US" dirty="0"/>
            </a:br>
            <a:r>
              <a:rPr lang="en-US" dirty="0"/>
              <a:t>And be ready to add to it later</a:t>
            </a:r>
          </a:p>
        </p:txBody>
      </p:sp>
    </p:spTree>
    <p:extLst>
      <p:ext uri="{BB962C8B-B14F-4D97-AF65-F5344CB8AC3E}">
        <p14:creationId xmlns:p14="http://schemas.microsoft.com/office/powerpoint/2010/main" val="35177985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1F0D141-3BA9-4C7E-6D86-F391175D3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way to prove logical equivalence:</a:t>
            </a:r>
            <a:br>
              <a:rPr lang="en-US" dirty="0"/>
            </a:br>
            <a:r>
              <a:rPr lang="en-US" dirty="0"/>
              <a:t>Equivalence Proofs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1D4E0C-55F0-7944-F343-4C3ED4ECD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199" y="1825625"/>
            <a:ext cx="9663545" cy="1603375"/>
          </a:xfrm>
        </p:spPr>
        <p:txBody>
          <a:bodyPr>
            <a:normAutofit fontScale="92500"/>
          </a:bodyPr>
          <a:lstStyle/>
          <a:p>
            <a:r>
              <a:rPr lang="en-US" dirty="0"/>
              <a:t>Rather than truth tables we could prove </a:t>
            </a:r>
          </a:p>
          <a:p>
            <a:pPr lvl="1"/>
            <a:r>
              <a:rPr lang="en-US" dirty="0"/>
              <a:t>statement A ≡ statement B</a:t>
            </a:r>
          </a:p>
          <a:p>
            <a:r>
              <a:rPr lang="en-US" dirty="0"/>
              <a:t>By transforming statement A into statement B using these rules</a:t>
            </a:r>
          </a:p>
        </p:txBody>
      </p:sp>
    </p:spTree>
    <p:extLst>
      <p:ext uri="{BB962C8B-B14F-4D97-AF65-F5344CB8AC3E}">
        <p14:creationId xmlns:p14="http://schemas.microsoft.com/office/powerpoint/2010/main" val="12644241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93429-3BA0-EACB-C7E5-E0C0A8B7D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91" y="5555"/>
            <a:ext cx="10515600" cy="1325563"/>
          </a:xfrm>
        </p:spPr>
        <p:txBody>
          <a:bodyPr/>
          <a:lstStyle/>
          <a:p>
            <a:r>
              <a:rPr lang="en-US" dirty="0"/>
              <a:t>Ex. Let’s Prove…</a:t>
            </a:r>
            <a:br>
              <a:rPr lang="en-US" dirty="0"/>
            </a:br>
            <a:r>
              <a:rPr lang="en-US" dirty="0"/>
              <a:t>¬(p ∨  (¬p ∧ q )) ≡ ¬p ∨ ¬q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B847CD-7F83-2CCB-6EA2-94360FAE2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872663"/>
            <a:ext cx="5157787" cy="823912"/>
          </a:xfrm>
        </p:spPr>
        <p:txBody>
          <a:bodyPr/>
          <a:lstStyle/>
          <a:p>
            <a:endParaRPr lang="en-US" dirty="0"/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2ACC00A4-B499-61BF-9CBF-2CF70D92CBA2}"/>
              </a:ext>
            </a:extLst>
          </p:cNvPr>
          <p:cNvGraphicFramePr>
            <a:graphicFrameLocks/>
          </p:cNvGraphicFramePr>
          <p:nvPr/>
        </p:nvGraphicFramePr>
        <p:xfrm>
          <a:off x="89879" y="2771047"/>
          <a:ext cx="8042739" cy="39561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147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335438">
                  <a:extLst>
                    <a:ext uri="{9D8B030D-6E8A-4147-A177-3AD203B41FA5}">
                      <a16:colId xmlns:a16="http://schemas.microsoft.com/office/drawing/2014/main" val="2182427334"/>
                    </a:ext>
                  </a:extLst>
                </a:gridCol>
                <a:gridCol w="2275828">
                  <a:extLst>
                    <a:ext uri="{9D8B030D-6E8A-4147-A177-3AD203B41FA5}">
                      <a16:colId xmlns:a16="http://schemas.microsoft.com/office/drawing/2014/main" val="2870661997"/>
                    </a:ext>
                  </a:extLst>
                </a:gridCol>
              </a:tblGrid>
              <a:tr h="775855">
                <a:tc>
                  <a:txBody>
                    <a:bodyPr/>
                    <a:lstStyle/>
                    <a:p>
                      <a:r>
                        <a:rPr lang="en-US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 used _____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380571">
                <a:tc>
                  <a:txBody>
                    <a:bodyPr/>
                    <a:lstStyle/>
                    <a:p>
                      <a:r>
                        <a:rPr lang="en-US" dirty="0"/>
                        <a:t>¬(p ∨  (¬p ∧ q ))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  <a:tr h="42949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5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457794"/>
                  </a:ext>
                </a:extLst>
              </a:tr>
              <a:tr h="41009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57517"/>
                  </a:ext>
                </a:extLst>
              </a:tr>
              <a:tr h="41009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2981175"/>
                  </a:ext>
                </a:extLst>
              </a:tr>
              <a:tr h="42117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004124"/>
                  </a:ext>
                </a:extLst>
              </a:tr>
              <a:tr h="763083">
                <a:tc gridSpan="3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420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59E1B7B-35C5-61E1-1147-AC648A2E7E73}"/>
              </a:ext>
            </a:extLst>
          </p:cNvPr>
          <p:cNvSpPr txBox="1"/>
          <p:nvPr/>
        </p:nvSpPr>
        <p:spPr>
          <a:xfrm>
            <a:off x="2641129" y="3585945"/>
            <a:ext cx="1850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 Morgan’s law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D88A0D-0844-974E-3D05-0B11DC3F3BF1}"/>
              </a:ext>
            </a:extLst>
          </p:cNvPr>
          <p:cNvSpPr txBox="1"/>
          <p:nvPr/>
        </p:nvSpPr>
        <p:spPr>
          <a:xfrm>
            <a:off x="5976572" y="3555638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¬(¬p ∧  q 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20A4E6-10A7-5FBF-7178-529F2FC57994}"/>
              </a:ext>
            </a:extLst>
          </p:cNvPr>
          <p:cNvSpPr txBox="1"/>
          <p:nvPr/>
        </p:nvSpPr>
        <p:spPr>
          <a:xfrm>
            <a:off x="-1919" y="3972584"/>
            <a:ext cx="16770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¬(¬p ∧  q 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3F1F7C-CB2E-0FFB-FE5B-2FCDAA52502D}"/>
              </a:ext>
            </a:extLst>
          </p:cNvPr>
          <p:cNvSpPr txBox="1"/>
          <p:nvPr/>
        </p:nvSpPr>
        <p:spPr>
          <a:xfrm>
            <a:off x="2641129" y="3955277"/>
            <a:ext cx="256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 Morgan’s law (again)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BFA753-B7F1-9568-02CE-17B25391C4B5}"/>
              </a:ext>
            </a:extLst>
          </p:cNvPr>
          <p:cNvSpPr txBox="1"/>
          <p:nvPr/>
        </p:nvSpPr>
        <p:spPr>
          <a:xfrm>
            <a:off x="5966611" y="3966556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(¬¬p V ¬q 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F2878F-A066-A2F2-3404-4C0AC0D79884}"/>
              </a:ext>
            </a:extLst>
          </p:cNvPr>
          <p:cNvSpPr txBox="1"/>
          <p:nvPr/>
        </p:nvSpPr>
        <p:spPr>
          <a:xfrm>
            <a:off x="0" y="440735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(¬¬p V ¬q 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699FAE-2743-697C-18E0-D1592A87B869}"/>
              </a:ext>
            </a:extLst>
          </p:cNvPr>
          <p:cNvSpPr txBox="1"/>
          <p:nvPr/>
        </p:nvSpPr>
        <p:spPr>
          <a:xfrm>
            <a:off x="2643491" y="4379779"/>
            <a:ext cx="1826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Double Negative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7784E0-5EB5-F57E-F6DC-E40E3707728D}"/>
              </a:ext>
            </a:extLst>
          </p:cNvPr>
          <p:cNvSpPr txBox="1"/>
          <p:nvPr/>
        </p:nvSpPr>
        <p:spPr>
          <a:xfrm>
            <a:off x="5976572" y="4371561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(p V ¬q 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20626-D580-5C5E-FF8B-9483EEE4513F}"/>
              </a:ext>
            </a:extLst>
          </p:cNvPr>
          <p:cNvSpPr txBox="1"/>
          <p:nvPr/>
        </p:nvSpPr>
        <p:spPr>
          <a:xfrm>
            <a:off x="0" y="4796496"/>
            <a:ext cx="1505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¬p ∧  (p V ¬q 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173290B-5EA3-442E-48B6-C70088F43522}"/>
              </a:ext>
            </a:extLst>
          </p:cNvPr>
          <p:cNvSpPr txBox="1"/>
          <p:nvPr/>
        </p:nvSpPr>
        <p:spPr>
          <a:xfrm>
            <a:off x="2657346" y="4770425"/>
            <a:ext cx="1722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Distributive law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6F1C4-AC08-8E0A-2390-10E57094B445}"/>
              </a:ext>
            </a:extLst>
          </p:cNvPr>
          <p:cNvSpPr txBox="1"/>
          <p:nvPr/>
        </p:nvSpPr>
        <p:spPr>
          <a:xfrm>
            <a:off x="5976572" y="4770425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(¬p ∧ p) V  (¬ p ∧ ¬q 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8B50AE-6024-48AB-3E7C-7FE38602575C}"/>
              </a:ext>
            </a:extLst>
          </p:cNvPr>
          <p:cNvSpPr txBox="1"/>
          <p:nvPr/>
        </p:nvSpPr>
        <p:spPr>
          <a:xfrm>
            <a:off x="546672" y="5192004"/>
            <a:ext cx="699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(¬p ∧ p)  is always going to be false so we can replace that with FALSE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DCE237-4230-90BC-DC9F-F6B96B0F0927}"/>
              </a:ext>
            </a:extLst>
          </p:cNvPr>
          <p:cNvSpPr txBox="1"/>
          <p:nvPr/>
        </p:nvSpPr>
        <p:spPr>
          <a:xfrm>
            <a:off x="76200" y="5620299"/>
            <a:ext cx="1999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dirty="0"/>
              <a:t>FALSE V (¬ p ∧ ¬q 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D61F137-7DBE-88E5-0868-7E208A7EFC31}"/>
              </a:ext>
            </a:extLst>
          </p:cNvPr>
          <p:cNvSpPr txBox="1"/>
          <p:nvPr/>
        </p:nvSpPr>
        <p:spPr>
          <a:xfrm>
            <a:off x="2657346" y="5627016"/>
            <a:ext cx="138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Identity Law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7B7B3-970E-F893-9C9B-09B757BBB22E}"/>
              </a:ext>
            </a:extLst>
          </p:cNvPr>
          <p:cNvSpPr txBox="1"/>
          <p:nvPr/>
        </p:nvSpPr>
        <p:spPr>
          <a:xfrm>
            <a:off x="6155306" y="5543109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(¬ p ∧ ¬q 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F5F189-18A4-F19F-D70B-7378FC3C3C73}"/>
              </a:ext>
            </a:extLst>
          </p:cNvPr>
          <p:cNvSpPr txBox="1"/>
          <p:nvPr/>
        </p:nvSpPr>
        <p:spPr>
          <a:xfrm>
            <a:off x="2814258" y="6062028"/>
            <a:ext cx="25939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en-US" dirty="0"/>
              <a:t>Therefore:  </a:t>
            </a:r>
            <a:br>
              <a:rPr lang="en-US" dirty="0"/>
            </a:br>
            <a:r>
              <a:rPr lang="en-US" dirty="0"/>
              <a:t>¬(p ∨  (¬p ∧ q )) ≡ ¬p ∨ ¬q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3ED6228-BA8D-1654-188D-668AE2519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377" y="-23977"/>
            <a:ext cx="4889500" cy="10541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11548976-D316-F83F-848C-59E3000495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2500" y="998331"/>
            <a:ext cx="4889500" cy="8255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24240266-29B1-8CC6-8525-63FC7C5892A5}"/>
              </a:ext>
            </a:extLst>
          </p:cNvPr>
          <p:cNvSpPr txBox="1"/>
          <p:nvPr/>
        </p:nvSpPr>
        <p:spPr>
          <a:xfrm>
            <a:off x="7302500" y="1889036"/>
            <a:ext cx="4778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We’ll only need these laws to solve this one</a:t>
            </a:r>
          </a:p>
        </p:txBody>
      </p:sp>
    </p:spTree>
    <p:extLst>
      <p:ext uri="{BB962C8B-B14F-4D97-AF65-F5344CB8AC3E}">
        <p14:creationId xmlns:p14="http://schemas.microsoft.com/office/powerpoint/2010/main" val="1029314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0AE9-7FC5-DA21-6EAB-3DF568F39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82" y="157306"/>
            <a:ext cx="8369427" cy="1325563"/>
          </a:xfrm>
        </p:spPr>
        <p:txBody>
          <a:bodyPr>
            <a:normAutofit/>
          </a:bodyPr>
          <a:lstStyle/>
          <a:p>
            <a:r>
              <a:rPr lang="en-US" sz="3600" dirty="0"/>
              <a:t>Some quick unrelated transformations: </a:t>
            </a:r>
            <a:br>
              <a:rPr lang="en-US" sz="3600" dirty="0"/>
            </a:br>
            <a:r>
              <a:rPr lang="en-US" sz="3600" dirty="0"/>
              <a:t>Fill in the blank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3080B3B-D3EB-30EB-D034-8B893F271F7A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0" y="1676401"/>
          <a:ext cx="7481455" cy="517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998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2962119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2218338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¬(T ∧ 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¬T V ¬R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r>
                        <a:rPr lang="en-US" sz="2400" dirty="0"/>
                        <a:t>R V (S V 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(R V S) V 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745211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r>
                        <a:rPr lang="en-US" sz="2400" dirty="0"/>
                        <a:t>¬ A V ¬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 (A ∧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8457794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r>
                        <a:rPr lang="en-US" sz="2400" dirty="0"/>
                        <a:t>(S V P ) ∧ (S V Q)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Distributive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3957517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Double Negative Law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¬(¬R)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004124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r>
                        <a:rPr lang="en-US" sz="2400" dirty="0"/>
                        <a:t>(A ∧ B) V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TRUE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42030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75B50D2-1B8A-E3F2-41FF-03E0A74C3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1737" y="0"/>
            <a:ext cx="4726415" cy="48768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3BBBAD-6F5D-E359-D5DE-1EC95C978AE7}"/>
              </a:ext>
            </a:extLst>
          </p:cNvPr>
          <p:cNvSpPr txBox="1"/>
          <p:nvPr/>
        </p:nvSpPr>
        <p:spPr>
          <a:xfrm>
            <a:off x="2286001" y="2604655"/>
            <a:ext cx="2420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 Morgan’s Law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6D3F4-6CB3-9A9E-55F0-BEDD8DE0BFCB}"/>
              </a:ext>
            </a:extLst>
          </p:cNvPr>
          <p:cNvSpPr txBox="1"/>
          <p:nvPr/>
        </p:nvSpPr>
        <p:spPr>
          <a:xfrm>
            <a:off x="2286001" y="3429000"/>
            <a:ext cx="2310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Associative Law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42967-6B8E-B42B-12E0-BC2C53F68A23}"/>
              </a:ext>
            </a:extLst>
          </p:cNvPr>
          <p:cNvSpPr txBox="1"/>
          <p:nvPr/>
        </p:nvSpPr>
        <p:spPr>
          <a:xfrm>
            <a:off x="2286001" y="4084197"/>
            <a:ext cx="2420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De Morgan’s Law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BDFCA3-040F-812A-9CCE-394960B5F4EA}"/>
              </a:ext>
            </a:extLst>
          </p:cNvPr>
          <p:cNvSpPr txBox="1"/>
          <p:nvPr/>
        </p:nvSpPr>
        <p:spPr>
          <a:xfrm>
            <a:off x="5292438" y="4839499"/>
            <a:ext cx="16161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 V (P ∧ Q)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213F5B-796B-6A38-F248-8E8C72765ADC}"/>
              </a:ext>
            </a:extLst>
          </p:cNvPr>
          <p:cNvSpPr txBox="1"/>
          <p:nvPr/>
        </p:nvSpPr>
        <p:spPr>
          <a:xfrm>
            <a:off x="2286000" y="6219530"/>
            <a:ext cx="2301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Annihilator Law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08DAFA-5C33-FFBB-E43B-2EA56BFEECE2}"/>
              </a:ext>
            </a:extLst>
          </p:cNvPr>
          <p:cNvSpPr txBox="1"/>
          <p:nvPr/>
        </p:nvSpPr>
        <p:spPr>
          <a:xfrm>
            <a:off x="60524" y="5532226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 </a:t>
            </a:r>
          </a:p>
        </p:txBody>
      </p:sp>
    </p:spTree>
    <p:extLst>
      <p:ext uri="{BB962C8B-B14F-4D97-AF65-F5344CB8AC3E}">
        <p14:creationId xmlns:p14="http://schemas.microsoft.com/office/powerpoint/2010/main" val="79403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DDD-AFC5-C157-870E-DEFC4B15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US" dirty="0"/>
              <a:t>More practice: </a:t>
            </a:r>
            <a:br>
              <a:rPr lang="en-US" dirty="0"/>
            </a:br>
            <a:r>
              <a:rPr lang="en-US" dirty="0"/>
              <a:t>Use our logical equivalence laws to prove…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27C122-AE19-8A01-8C98-F8E745BF0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1200"/>
            <a:ext cx="4726415" cy="4876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C6441D-6476-6317-42C2-6BBF607C23C7}"/>
              </a:ext>
            </a:extLst>
          </p:cNvPr>
          <p:cNvSpPr txBox="1"/>
          <p:nvPr/>
        </p:nvSpPr>
        <p:spPr>
          <a:xfrm>
            <a:off x="5597236" y="1710832"/>
            <a:ext cx="41403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1. ¬¬A V (A ∧ B) ≡ A 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F8E713-DE57-E4EB-4E5B-39BC365A4BD8}"/>
              </a:ext>
            </a:extLst>
          </p:cNvPr>
          <p:cNvSpPr txBox="1"/>
          <p:nvPr/>
        </p:nvSpPr>
        <p:spPr>
          <a:xfrm>
            <a:off x="5597236" y="5030104"/>
            <a:ext cx="647284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/>
              <a:t>Optional Challenge if you finish before your peers…</a:t>
            </a:r>
            <a:br>
              <a:rPr lang="en-US" dirty="0"/>
            </a:br>
            <a:r>
              <a:rPr lang="en-US" dirty="0"/>
              <a:t>Are the following 2 statements logically equivalent? </a:t>
            </a:r>
            <a:br>
              <a:rPr lang="en-US" dirty="0"/>
            </a:br>
            <a:r>
              <a:rPr lang="en-US" dirty="0"/>
              <a:t>Prove it.</a:t>
            </a:r>
            <a:br>
              <a:rPr lang="en-US" dirty="0"/>
            </a:br>
            <a:r>
              <a:rPr lang="en-US" dirty="0"/>
              <a:t>Statement 1: ¬((X  V Y ) ∧ (¬X V Z)) </a:t>
            </a:r>
            <a:br>
              <a:rPr lang="en-US" dirty="0"/>
            </a:br>
            <a:r>
              <a:rPr lang="en-US" dirty="0"/>
              <a:t>Statement 2: (¬Y ∧ ¬Z) V (¬X  V ¬Y )    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F96DD4-9449-DC98-1DD1-249DF7066BBD}"/>
              </a:ext>
            </a:extLst>
          </p:cNvPr>
          <p:cNvSpPr txBox="1"/>
          <p:nvPr/>
        </p:nvSpPr>
        <p:spPr>
          <a:xfrm>
            <a:off x="5597235" y="2447999"/>
            <a:ext cx="522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2. ¬(R  V ¬R )  ≡ False (contradiction) 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D70A18-31A6-24E8-A80F-3553C86FDDD4}"/>
              </a:ext>
            </a:extLst>
          </p:cNvPr>
          <p:cNvSpPr txBox="1"/>
          <p:nvPr/>
        </p:nvSpPr>
        <p:spPr>
          <a:xfrm>
            <a:off x="5597235" y="3308701"/>
            <a:ext cx="60264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3. (¬C ∧ ¬D) ∨ ((¬C ∨ C) ∧ D) ≡ D ∨ ¬C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87325-7240-1302-E7B3-E02D6A36DF44}"/>
              </a:ext>
            </a:extLst>
          </p:cNvPr>
          <p:cNvSpPr txBox="1"/>
          <p:nvPr/>
        </p:nvSpPr>
        <p:spPr>
          <a:xfrm>
            <a:off x="5597235" y="4030903"/>
            <a:ext cx="5497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There are possibly more than one way to solve these! </a:t>
            </a:r>
          </a:p>
        </p:txBody>
      </p:sp>
    </p:spTree>
    <p:extLst>
      <p:ext uri="{BB962C8B-B14F-4D97-AF65-F5344CB8AC3E}">
        <p14:creationId xmlns:p14="http://schemas.microsoft.com/office/powerpoint/2010/main" val="19288083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5810184-FD2C-E11B-0759-ACEC50F28A48}"/>
              </a:ext>
            </a:extLst>
          </p:cNvPr>
          <p:cNvGraphicFramePr>
            <a:graphicFrameLocks noGrp="1"/>
          </p:cNvGraphicFramePr>
          <p:nvPr/>
        </p:nvGraphicFramePr>
        <p:xfrm>
          <a:off x="976392" y="2550919"/>
          <a:ext cx="7481455" cy="139717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00998">
                  <a:extLst>
                    <a:ext uri="{9D8B030D-6E8A-4147-A177-3AD203B41FA5}">
                      <a16:colId xmlns:a16="http://schemas.microsoft.com/office/drawing/2014/main" val="3478164688"/>
                    </a:ext>
                  </a:extLst>
                </a:gridCol>
                <a:gridCol w="2962119">
                  <a:extLst>
                    <a:ext uri="{9D8B030D-6E8A-4147-A177-3AD203B41FA5}">
                      <a16:colId xmlns:a16="http://schemas.microsoft.com/office/drawing/2014/main" val="3519243999"/>
                    </a:ext>
                  </a:extLst>
                </a:gridCol>
                <a:gridCol w="2218338">
                  <a:extLst>
                    <a:ext uri="{9D8B030D-6E8A-4147-A177-3AD203B41FA5}">
                      <a16:colId xmlns:a16="http://schemas.microsoft.com/office/drawing/2014/main" val="497948384"/>
                    </a:ext>
                  </a:extLst>
                </a:gridCol>
              </a:tblGrid>
              <a:tr h="698588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338832"/>
                  </a:ext>
                </a:extLst>
              </a:tr>
              <a:tr h="698588">
                <a:tc>
                  <a:txBody>
                    <a:bodyPr/>
                    <a:lstStyle/>
                    <a:p>
                      <a:r>
                        <a:rPr lang="en-US" sz="2400" dirty="0"/>
                        <a:t>A V (A ∧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Absorption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814988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9161A0B-6F3C-C217-9D96-17BE36E98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5"/>
            <a:ext cx="10515600" cy="1325563"/>
          </a:xfrm>
        </p:spPr>
        <p:txBody>
          <a:bodyPr/>
          <a:lstStyle/>
          <a:p>
            <a:r>
              <a:rPr lang="en-US" dirty="0"/>
              <a:t>¬¬A V (A ∧ B) ≡ A</a:t>
            </a:r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A459A7A8-E472-55E4-40AF-025D8F1CE916}"/>
              </a:ext>
            </a:extLst>
          </p:cNvPr>
          <p:cNvGraphicFramePr>
            <a:graphicFrameLocks/>
          </p:cNvGraphicFramePr>
          <p:nvPr/>
        </p:nvGraphicFramePr>
        <p:xfrm>
          <a:off x="976392" y="1642621"/>
          <a:ext cx="7481455" cy="1599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998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2962119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2218338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¬¬A V (A ∧ 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Double Negation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 V (A ∧ 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C2511FDB-F09A-5094-6E5A-840D4F6D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92" y="4264217"/>
            <a:ext cx="6307545" cy="740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25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A2EA0-B9AE-C000-8FC2-ADF5DE9F2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F22A1FD4-6EAE-5F76-3EE0-B80AD42A7F94}"/>
              </a:ext>
            </a:extLst>
          </p:cNvPr>
          <p:cNvGraphicFramePr>
            <a:graphicFrameLocks/>
          </p:cNvGraphicFramePr>
          <p:nvPr/>
        </p:nvGraphicFramePr>
        <p:xfrm>
          <a:off x="987663" y="4049319"/>
          <a:ext cx="8559293" cy="8229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61097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652610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1945586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¬R ∧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False</a:t>
                      </a:r>
                    </a:p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0701101-75F9-BEC4-FF77-707F32928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65"/>
            <a:ext cx="10515600" cy="1325563"/>
          </a:xfrm>
        </p:spPr>
        <p:txBody>
          <a:bodyPr/>
          <a:lstStyle/>
          <a:p>
            <a:r>
              <a:rPr lang="en-US" dirty="0"/>
              <a:t> ¬(R  V ¬R )  ≡ False</a:t>
            </a:r>
          </a:p>
        </p:txBody>
      </p:sp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77E0C4D9-8D82-5005-B5DE-D711183D2DEF}"/>
              </a:ext>
            </a:extLst>
          </p:cNvPr>
          <p:cNvGraphicFramePr>
            <a:graphicFrameLocks/>
          </p:cNvGraphicFramePr>
          <p:nvPr/>
        </p:nvGraphicFramePr>
        <p:xfrm>
          <a:off x="987663" y="2449694"/>
          <a:ext cx="8559293" cy="1599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961097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652610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1945586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¬R ∧ ¬¬R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Double Negative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¬R ∧ 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AAD3284F-8539-AFE1-43A6-27FDA91A6AB5}"/>
              </a:ext>
            </a:extLst>
          </p:cNvPr>
          <p:cNvGraphicFramePr>
            <a:graphicFrameLocks/>
          </p:cNvGraphicFramePr>
          <p:nvPr/>
        </p:nvGraphicFramePr>
        <p:xfrm>
          <a:off x="987663" y="1649882"/>
          <a:ext cx="8559293" cy="1599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1097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652610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1945586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¬(R  V ¬R 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 Morgan’s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¬R ∧ ¬¬R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E2FD62C6-A41E-2645-1C89-6D1B9C6F1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63" y="5208118"/>
            <a:ext cx="6170508" cy="7585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E47964-5B48-D73A-DB7C-8331263C6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63" y="5966619"/>
            <a:ext cx="6097154" cy="74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75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1E65-3813-89AA-BE8D-00D7A1B4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ontent Placeholder 8">
            <a:extLst>
              <a:ext uri="{FF2B5EF4-FFF2-40B4-BE49-F238E27FC236}">
                <a16:creationId xmlns:a16="http://schemas.microsoft.com/office/drawing/2014/main" id="{C3704467-E35C-72CF-F31E-3174D7378702}"/>
              </a:ext>
            </a:extLst>
          </p:cNvPr>
          <p:cNvGraphicFramePr>
            <a:graphicFrameLocks/>
          </p:cNvGraphicFramePr>
          <p:nvPr/>
        </p:nvGraphicFramePr>
        <p:xfrm>
          <a:off x="987663" y="3284837"/>
          <a:ext cx="11204337" cy="1599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615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458774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3869410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(D V ¬C)  ∧ (D V ¬D)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(D V ¬C)  ∧ 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graphicFrame>
        <p:nvGraphicFramePr>
          <p:cNvPr id="8" name="Content Placeholder 8">
            <a:extLst>
              <a:ext uri="{FF2B5EF4-FFF2-40B4-BE49-F238E27FC236}">
                <a16:creationId xmlns:a16="http://schemas.microsoft.com/office/drawing/2014/main" id="{2353CCAF-C25A-62E1-F6DC-7BC7BCE4A7C1}"/>
              </a:ext>
            </a:extLst>
          </p:cNvPr>
          <p:cNvGraphicFramePr>
            <a:graphicFrameLocks/>
          </p:cNvGraphicFramePr>
          <p:nvPr/>
        </p:nvGraphicFramePr>
        <p:xfrm>
          <a:off x="987663" y="3305401"/>
          <a:ext cx="11204337" cy="7792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615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474272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3853912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(¬C ∧ ¬D) ∨ 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(D V ¬C)  ∧ (D V ¬D)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A4BEB8C-963E-9400-2AC0-824CEBCA7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8657"/>
            <a:ext cx="10515600" cy="1325563"/>
          </a:xfrm>
        </p:spPr>
        <p:txBody>
          <a:bodyPr/>
          <a:lstStyle/>
          <a:p>
            <a:r>
              <a:rPr lang="en-US" dirty="0"/>
              <a:t>(¬C ∧ ¬D) ∨ ((¬C ∨ C) ∧ D) ≡ D ∨ ¬C </a:t>
            </a:r>
          </a:p>
        </p:txBody>
      </p:sp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F30531DA-0AC8-E06E-976F-4456730A23CE}"/>
              </a:ext>
            </a:extLst>
          </p:cNvPr>
          <p:cNvGraphicFramePr>
            <a:graphicFrameLocks/>
          </p:cNvGraphicFramePr>
          <p:nvPr/>
        </p:nvGraphicFramePr>
        <p:xfrm>
          <a:off x="987663" y="1705776"/>
          <a:ext cx="11204337" cy="159962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615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458774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3869410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(¬C ∧ ¬D) ∨ (TRUE ∧ D)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(¬C ∧ ¬D) ∨ D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B41321E5-DB68-60E3-B752-B5E4B5AE4EF6}"/>
              </a:ext>
            </a:extLst>
          </p:cNvPr>
          <p:cNvGraphicFramePr>
            <a:graphicFrameLocks/>
          </p:cNvGraphicFramePr>
          <p:nvPr/>
        </p:nvGraphicFramePr>
        <p:xfrm>
          <a:off x="987663" y="905964"/>
          <a:ext cx="11204337" cy="1599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7615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460300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3867884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r>
                        <a:rPr lang="en-US" sz="2400" dirty="0"/>
                        <a:t>If we started with….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And used _____ rule to transform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We’d get….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  <a:tr h="776665">
                <a:tc>
                  <a:txBody>
                    <a:bodyPr/>
                    <a:lstStyle/>
                    <a:p>
                      <a:r>
                        <a:rPr lang="en-US" sz="2400" dirty="0"/>
                        <a:t>(¬C ∧ ¬D) ∨ ((¬C ∨ C) ∧ D)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Complement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(¬C ∧ ¬D) ∨ (TRUE ∧ D)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357729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50AD59DF-839F-65D7-527E-5120B8468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662" y="5692804"/>
            <a:ext cx="5439797" cy="6686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E72598-56EB-70E4-7A9E-E8D74094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37"/>
          <a:stretch>
            <a:fillRect/>
          </a:stretch>
        </p:blipFill>
        <p:spPr>
          <a:xfrm>
            <a:off x="987663" y="6268745"/>
            <a:ext cx="5439797" cy="6349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F61EDB-AEC6-E899-C931-A967D09918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" b="7358"/>
          <a:stretch>
            <a:fillRect/>
          </a:stretch>
        </p:blipFill>
        <p:spPr>
          <a:xfrm>
            <a:off x="6589830" y="5692804"/>
            <a:ext cx="5439798" cy="619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714A60C-E440-1D28-E364-E35127F498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830" y="6230349"/>
            <a:ext cx="5439797" cy="668679"/>
          </a:xfrm>
          <a:prstGeom prst="rect">
            <a:avLst/>
          </a:prstGeom>
        </p:spPr>
      </p:pic>
      <p:graphicFrame>
        <p:nvGraphicFramePr>
          <p:cNvPr id="16" name="Content Placeholder 8">
            <a:extLst>
              <a:ext uri="{FF2B5EF4-FFF2-40B4-BE49-F238E27FC236}">
                <a16:creationId xmlns:a16="http://schemas.microsoft.com/office/drawing/2014/main" id="{EE7D7DF9-D167-9368-7BA2-3BA61A52CA99}"/>
              </a:ext>
            </a:extLst>
          </p:cNvPr>
          <p:cNvGraphicFramePr>
            <a:graphicFrameLocks/>
          </p:cNvGraphicFramePr>
          <p:nvPr/>
        </p:nvGraphicFramePr>
        <p:xfrm>
          <a:off x="987663" y="4833442"/>
          <a:ext cx="11204337" cy="77924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76153">
                  <a:extLst>
                    <a:ext uri="{9D8B030D-6E8A-4147-A177-3AD203B41FA5}">
                      <a16:colId xmlns:a16="http://schemas.microsoft.com/office/drawing/2014/main" val="1161581126"/>
                    </a:ext>
                  </a:extLst>
                </a:gridCol>
                <a:gridCol w="3474272">
                  <a:extLst>
                    <a:ext uri="{9D8B030D-6E8A-4147-A177-3AD203B41FA5}">
                      <a16:colId xmlns:a16="http://schemas.microsoft.com/office/drawing/2014/main" val="3523619387"/>
                    </a:ext>
                  </a:extLst>
                </a:gridCol>
                <a:gridCol w="3853912">
                  <a:extLst>
                    <a:ext uri="{9D8B030D-6E8A-4147-A177-3AD203B41FA5}">
                      <a16:colId xmlns:a16="http://schemas.microsoft.com/office/drawing/2014/main" val="43155845"/>
                    </a:ext>
                  </a:extLst>
                </a:gridCol>
              </a:tblGrid>
              <a:tr h="7792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(D V ¬C)  ∧ 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Identity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(D V ¬C)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71226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0847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242D-9CD5-2757-83B5-B6B80672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class (I assume)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892EF54-E4A1-9CF5-5663-0561DF6D9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We’ll come back to this next week – time to continue finishing up LaTeX practice on Overleaf</a:t>
            </a:r>
          </a:p>
        </p:txBody>
      </p:sp>
    </p:spTree>
    <p:extLst>
      <p:ext uri="{BB962C8B-B14F-4D97-AF65-F5344CB8AC3E}">
        <p14:creationId xmlns:p14="http://schemas.microsoft.com/office/powerpoint/2010/main" val="30278894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4352</TotalTime>
  <Words>3885</Words>
  <Application>Microsoft Macintosh PowerPoint</Application>
  <PresentationFormat>Widescreen</PresentationFormat>
  <Paragraphs>789</Paragraphs>
  <Slides>62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8" baseType="lpstr">
      <vt:lpstr>Aptos</vt:lpstr>
      <vt:lpstr>Aptos Display</vt:lpstr>
      <vt:lpstr>Arial</vt:lpstr>
      <vt:lpstr>Calibri</vt:lpstr>
      <vt:lpstr>Wingdings</vt:lpstr>
      <vt:lpstr>Office Theme</vt:lpstr>
      <vt:lpstr>Welcome to  CS5002 Discrete Mathematics  </vt:lpstr>
      <vt:lpstr>Lets talk about Math</vt:lpstr>
      <vt:lpstr>Introduce yourself</vt:lpstr>
      <vt:lpstr>My relationship with Math/CS</vt:lpstr>
      <vt:lpstr>My relationship with Math/CS And why it matters for the ALIGN</vt:lpstr>
      <vt:lpstr>Policies</vt:lpstr>
      <vt:lpstr>Attendance</vt:lpstr>
      <vt:lpstr>Quiz / Exam policy</vt:lpstr>
      <vt:lpstr>Homework Policy</vt:lpstr>
      <vt:lpstr>Late Policy</vt:lpstr>
      <vt:lpstr>Plagiarism polices</vt:lpstr>
      <vt:lpstr>Lastly</vt:lpstr>
      <vt:lpstr>Lets get into it</vt:lpstr>
      <vt:lpstr>…what is it?</vt:lpstr>
      <vt:lpstr>Discrete Math</vt:lpstr>
      <vt:lpstr>A bit of a double meaning</vt:lpstr>
      <vt:lpstr>Today</vt:lpstr>
      <vt:lpstr>An example….</vt:lpstr>
      <vt:lpstr>Getting the answer is good But how do you KNOW it’s right</vt:lpstr>
      <vt:lpstr>PowerPoint Presentation</vt:lpstr>
      <vt:lpstr>One more (harder) Work in groups to solve </vt:lpstr>
      <vt:lpstr> Lets consider all possible outcomes</vt:lpstr>
      <vt:lpstr>This is formal logic!</vt:lpstr>
      <vt:lpstr>Formal Logic</vt:lpstr>
      <vt:lpstr>Deductive Inference</vt:lpstr>
      <vt:lpstr>Propositional logic</vt:lpstr>
      <vt:lpstr>Propositional logic</vt:lpstr>
      <vt:lpstr>We can perform operations on propositions like we can do math with numbers</vt:lpstr>
      <vt:lpstr>NOT</vt:lpstr>
      <vt:lpstr>Note - negation is not correction</vt:lpstr>
      <vt:lpstr>Combining 2 propositions: Conjunction</vt:lpstr>
      <vt:lpstr>Truth table for Conjunction</vt:lpstr>
      <vt:lpstr>Combining 2 propositions: Disjunction</vt:lpstr>
      <vt:lpstr>You now know the central pillar of computing: Circuits</vt:lpstr>
      <vt:lpstr>Making this more complex</vt:lpstr>
      <vt:lpstr>So – how about a bigger combination</vt:lpstr>
      <vt:lpstr>For the following 3 practice questions…</vt:lpstr>
      <vt:lpstr>Practice 1:</vt:lpstr>
      <vt:lpstr>Practice 2</vt:lpstr>
      <vt:lpstr>Practice 3: Write out the truth table for  ¬P V (P∧Q) V (P∧¬Q)</vt:lpstr>
      <vt:lpstr>Notably:</vt:lpstr>
      <vt:lpstr>Pause</vt:lpstr>
      <vt:lpstr>Logical equivalence</vt:lpstr>
      <vt:lpstr>Determining if two statements are true / false under the same conditions</vt:lpstr>
      <vt:lpstr>Proving Logical equivalence </vt:lpstr>
      <vt:lpstr>Practice</vt:lpstr>
      <vt:lpstr>Going through it…</vt:lpstr>
      <vt:lpstr>Going through it…</vt:lpstr>
      <vt:lpstr>Practice</vt:lpstr>
      <vt:lpstr>P ∧ (Q V  R) ≡ (P V Q) ∧ (P V  R) </vt:lpstr>
      <vt:lpstr>Practice 4   ¬(P∨Q)≡(¬P∧¬Q) Using a truth table</vt:lpstr>
      <vt:lpstr>De Morgan’s law (another logical equivalence)</vt:lpstr>
      <vt:lpstr>Negation, Identity, and Domination</vt:lpstr>
      <vt:lpstr>There are many laws we can talk about… </vt:lpstr>
      <vt:lpstr>Another way to prove logical equivalence: Equivalence Proofs</vt:lpstr>
      <vt:lpstr>Ex. Let’s Prove… ¬(p ∨  (¬p ∧ q )) ≡ ¬p ∨ ¬q</vt:lpstr>
      <vt:lpstr>Some quick unrelated transformations:  Fill in the blank</vt:lpstr>
      <vt:lpstr>More practice:  Use our logical equivalence laws to prove…</vt:lpstr>
      <vt:lpstr>¬¬A V (A ∧ B) ≡ A</vt:lpstr>
      <vt:lpstr> ¬(R  V ¬R )  ≡ False</vt:lpstr>
      <vt:lpstr>(¬C ∧ ¬D) ∨ ((¬C ∨ C) ∧ D) ≡ D ∨ ¬C </vt:lpstr>
      <vt:lpstr>End of class (I assume)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Domino, Molly</dc:creator>
  <cp:lastModifiedBy>Domino, Molly</cp:lastModifiedBy>
  <cp:revision>7</cp:revision>
  <dcterms:created xsi:type="dcterms:W3CDTF">2026-01-03T21:38:57Z</dcterms:created>
  <dcterms:modified xsi:type="dcterms:W3CDTF">2026-01-08T22:10:50Z</dcterms:modified>
</cp:coreProperties>
</file>