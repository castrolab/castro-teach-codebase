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309" r:id="rId2"/>
    <p:sldId id="256" r:id="rId3"/>
    <p:sldId id="257" r:id="rId4"/>
    <p:sldId id="314" r:id="rId5"/>
    <p:sldId id="258" r:id="rId6"/>
    <p:sldId id="262" r:id="rId7"/>
    <p:sldId id="263" r:id="rId8"/>
    <p:sldId id="267" r:id="rId9"/>
    <p:sldId id="259" r:id="rId10"/>
    <p:sldId id="260" r:id="rId11"/>
    <p:sldId id="264" r:id="rId12"/>
    <p:sldId id="261" r:id="rId13"/>
    <p:sldId id="265" r:id="rId14"/>
    <p:sldId id="266" r:id="rId15"/>
    <p:sldId id="268" r:id="rId16"/>
    <p:sldId id="269" r:id="rId17"/>
    <p:sldId id="271" r:id="rId18"/>
    <p:sldId id="272" r:id="rId19"/>
    <p:sldId id="270" r:id="rId20"/>
    <p:sldId id="273" r:id="rId21"/>
    <p:sldId id="275" r:id="rId22"/>
    <p:sldId id="274" r:id="rId23"/>
    <p:sldId id="288" r:id="rId24"/>
    <p:sldId id="277" r:id="rId25"/>
    <p:sldId id="276" r:id="rId26"/>
    <p:sldId id="278" r:id="rId27"/>
    <p:sldId id="293" r:id="rId28"/>
    <p:sldId id="294" r:id="rId29"/>
    <p:sldId id="279" r:id="rId30"/>
    <p:sldId id="280" r:id="rId31"/>
    <p:sldId id="303" r:id="rId32"/>
    <p:sldId id="304" r:id="rId33"/>
    <p:sldId id="305" r:id="rId34"/>
    <p:sldId id="306" r:id="rId35"/>
    <p:sldId id="307" r:id="rId36"/>
    <p:sldId id="295" r:id="rId37"/>
    <p:sldId id="296" r:id="rId38"/>
    <p:sldId id="298" r:id="rId39"/>
    <p:sldId id="300" r:id="rId40"/>
    <p:sldId id="301" r:id="rId41"/>
    <p:sldId id="297" r:id="rId42"/>
    <p:sldId id="308" r:id="rId43"/>
    <p:sldId id="292" r:id="rId44"/>
    <p:sldId id="281" r:id="rId45"/>
    <p:sldId id="282" r:id="rId46"/>
    <p:sldId id="284" r:id="rId47"/>
    <p:sldId id="283" r:id="rId48"/>
    <p:sldId id="285" r:id="rId49"/>
    <p:sldId id="286" r:id="rId50"/>
    <p:sldId id="290" r:id="rId51"/>
    <p:sldId id="313" r:id="rId52"/>
    <p:sldId id="287" r:id="rId53"/>
    <p:sldId id="289" r:id="rId54"/>
    <p:sldId id="291" r:id="rId55"/>
    <p:sldId id="310" r:id="rId56"/>
    <p:sldId id="311" r:id="rId57"/>
    <p:sldId id="312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2"/>
    <p:restoredTop sz="94780"/>
  </p:normalViewPr>
  <p:slideViewPr>
    <p:cSldViewPr snapToGrid="0">
      <p:cViewPr varScale="1">
        <p:scale>
          <a:sx n="113" d="100"/>
          <a:sy n="113" d="100"/>
        </p:scale>
        <p:origin x="20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8DA61-394D-0642-B34E-69DFE335D1F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FA87A3-2CB1-8B43-9812-C9FF0EBD9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192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A87A3-2CB1-8B43-9812-C9FF0EBD915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84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A87A3-2CB1-8B43-9812-C9FF0EBD915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06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62387-6F70-AB78-8930-8850310C5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B9C20E-3C72-DE5C-3CE2-1AA6A1658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C9F96-7317-1048-18C8-83651119E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24480-416F-874A-96B0-791E20F3FDE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B638C-8D6F-4C68-51C1-6C7602FDA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ACDA8-12AC-EB81-B08B-E4B154FAB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6EF6-A44D-F846-8478-4C273274D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89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21683-DF65-F6E3-9AB3-03ADDE4E5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25BA3-E830-4B64-C25A-F72A87E13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920EC-6789-556C-2523-88BE5684E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24480-416F-874A-96B0-791E20F3FDE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C06B7-19A1-6263-10D9-7DCB10C7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9A758-9521-0426-0168-2AF49C64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6EF6-A44D-F846-8478-4C273274D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82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4359E-E74C-77A7-E0CF-C59923C2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C3D28-2AC2-0180-1FEF-5C594BFB7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C42F7-773C-6350-AAA1-50B0AF5D2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24480-416F-874A-96B0-791E20F3FDE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8388A-891F-699F-18FB-FA4BD4658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4AAB7-B8C2-CBCD-A7AF-41D1381A4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6EF6-A44D-F846-8478-4C273274D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02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A5261-CC2C-2317-7527-C0AC292E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CB546-3211-06E7-0D44-06207945E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69ACD-6729-A62A-928C-3992EA472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E55231-9103-C64F-9AC0-1A845AC94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24480-416F-874A-96B0-791E20F3FDE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AA7CB-CF0C-5916-AB58-DFE52140F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B5A3E-17E1-D47C-A699-730CC6F1E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6EF6-A44D-F846-8478-4C273274D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19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44160-C93E-C724-29A1-BD7EA9C1D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B25E5-B0E7-D026-F422-CE0B6C520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1459C-B895-BF6E-6C59-E8E0ACD95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13166-460C-77E7-8DC0-A3897934D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2C8B4F-A04A-4C76-05B3-5F85141D89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426C4A-8BAF-92F7-BAC9-93BA532C6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24480-416F-874A-96B0-791E20F3FDE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71518-77E2-FBC1-9923-819FF8D36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580A83-3AB1-358F-9D1A-79E95BCE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6EF6-A44D-F846-8478-4C273274D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58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B7E95-51A6-396C-F81A-E8D1FEA8B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CBC7E-008C-B898-3926-EA34124D8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24480-416F-874A-96B0-791E20F3FDE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428AAF-3126-5971-5EC2-FF9643C84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003A63-033F-1E62-4663-5C2DF031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6EF6-A44D-F846-8478-4C273274D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249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9B1AF-8FEF-3108-6B6D-67221BB73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24480-416F-874A-96B0-791E20F3FDE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C56D57-075B-55B7-D722-E4E390CC9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822BF-A8E7-E312-97A5-5618AED9B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6EF6-A44D-F846-8478-4C273274D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63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14D16-7447-72FD-1E95-B8C73A2D1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7725C-D8E8-EE2B-B992-D14F7FF49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EA918D-2480-D66A-A367-9488E3FDC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922EB-CEAE-FC06-9A60-46B2F7F32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24480-416F-874A-96B0-791E20F3FDE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B6B03-84AD-4496-AD7E-53BCB57A8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F338F-55A0-EF6B-DDCE-BF2FD476A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6EF6-A44D-F846-8478-4C273274D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71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54606-3B32-78CD-E4DF-EB48644FC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366999-9A6E-95F0-13F7-FF7C0E0D2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B65DF5-203A-282D-B60A-93D540431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62B84-509F-3FFE-D7A7-0E3C43604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24480-416F-874A-96B0-791E20F3FDE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8C535-403F-1A11-2634-8E2C4E971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B6A118-F4D9-18CB-77C8-5DCE459A2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6EF6-A44D-F846-8478-4C273274D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563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FAEDC-6349-0485-9F4F-970363B12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707202-DCED-06A5-1608-66E5F9474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BC2A3-BD2F-6146-70D4-23205FB97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24480-416F-874A-96B0-791E20F3FDE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9D275-0961-8E80-2C15-933235AC6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8A546-CCD8-E8B5-F6C7-660DCD615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6EF6-A44D-F846-8478-4C273274D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13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CE3FBA-873F-4F59-F9C1-C9F002144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7754A3-1B32-BFB4-3593-6690485B1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DF7C3-52B6-BCF5-4F62-5B5E4F418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24480-416F-874A-96B0-791E20F3FDE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E57FF-D6AA-85EC-DF71-967BA5EE6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931DC-1480-4D01-54E4-2B1A3E2C6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6EF6-A44D-F846-8478-4C273274D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1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4B6FA1-28F9-95B3-B2EC-9B713ED54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72C1F-230F-3E02-E45C-3649A7153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E4A29-719E-0A1E-29AE-7FEC7913E4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524480-416F-874A-96B0-791E20F3FDE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6C6A3-0920-04C9-2B96-5C55027B7F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1849C-615A-B2B8-08A9-4AAF5A40F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046EF6-A44D-F846-8478-4C273274D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411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B937C-2A86-1F64-4A92-0188B61B5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week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9BCA6-1E6D-B7AD-1EB5-57FF701E1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Sets </a:t>
            </a:r>
          </a:p>
          <a:p>
            <a:pPr lvl="1"/>
            <a:r>
              <a:rPr lang="en-US" dirty="0"/>
              <a:t>A new way to phrase what we’ve been talking about already</a:t>
            </a:r>
          </a:p>
          <a:p>
            <a:r>
              <a:rPr lang="en-US" dirty="0"/>
              <a:t>Shorter lecture probably</a:t>
            </a:r>
          </a:p>
          <a:p>
            <a:endParaRPr lang="en-US" dirty="0"/>
          </a:p>
          <a:p>
            <a:r>
              <a:rPr lang="en-US" dirty="0"/>
              <a:t>Last chunk of class: pausing</a:t>
            </a:r>
          </a:p>
          <a:p>
            <a:pPr lvl="1"/>
            <a:r>
              <a:rPr lang="en-US" dirty="0"/>
              <a:t>General feedback </a:t>
            </a:r>
          </a:p>
          <a:p>
            <a:pPr lvl="1"/>
            <a:r>
              <a:rPr lang="en-US" dirty="0"/>
              <a:t>Q and A on any subject we’ve done so far</a:t>
            </a:r>
          </a:p>
        </p:txBody>
      </p:sp>
    </p:spTree>
    <p:extLst>
      <p:ext uri="{BB962C8B-B14F-4D97-AF65-F5344CB8AC3E}">
        <p14:creationId xmlns:p14="http://schemas.microsoft.com/office/powerpoint/2010/main" val="3392245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69501-98BD-6520-5FA8-EEB3D5D33E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0E14A1-1CEB-2A4A-7F80-F03AC7B5A1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199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0A122-AF4A-6A7B-FAF8-9E034DE50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3AC62-98F8-170C-C70C-F53747B8A2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Group of stuff</a:t>
            </a:r>
          </a:p>
          <a:p>
            <a:pPr lvl="1"/>
            <a:r>
              <a:rPr lang="en-US" dirty="0"/>
              <a:t>Retraction:</a:t>
            </a:r>
          </a:p>
          <a:p>
            <a:pPr lvl="2"/>
            <a:r>
              <a:rPr lang="en-US" dirty="0"/>
              <a:t>Can’t have 2 of the same thing in a set</a:t>
            </a:r>
          </a:p>
          <a:p>
            <a:pPr lvl="2"/>
            <a:r>
              <a:rPr lang="en-US" dirty="0"/>
              <a:t>No inherent ordering</a:t>
            </a:r>
          </a:p>
          <a:p>
            <a:pPr lvl="3"/>
            <a:r>
              <a:rPr lang="en-US" dirty="0"/>
              <a:t>no first item in a set</a:t>
            </a:r>
          </a:p>
          <a:p>
            <a:endParaRPr lang="en-US" dirty="0"/>
          </a:p>
          <a:p>
            <a:r>
              <a:rPr lang="en-US" dirty="0"/>
              <a:t>Set of friends you have</a:t>
            </a:r>
          </a:p>
          <a:p>
            <a:pPr lvl="1"/>
            <a:r>
              <a:rPr lang="en-US" dirty="0"/>
              <a:t>You don’t count the same friend twice</a:t>
            </a:r>
          </a:p>
          <a:p>
            <a:pPr lvl="1"/>
            <a:r>
              <a:rPr lang="en-US" dirty="0"/>
              <a:t>You don’t have a ”first” friend or a “second”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E9F53-2E91-2F67-24D5-62E8F20811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Denoted with {}</a:t>
            </a:r>
          </a:p>
          <a:p>
            <a:pPr lvl="1"/>
            <a:r>
              <a:rPr lang="en-US" dirty="0"/>
              <a:t>Ex X = {1, 2, 3}</a:t>
            </a:r>
          </a:p>
          <a:p>
            <a:pPr lvl="1"/>
            <a:endParaRPr lang="en-US" dirty="0"/>
          </a:p>
          <a:p>
            <a:r>
              <a:rPr lang="en-US" dirty="0"/>
              <a:t>Cardinality (size)</a:t>
            </a:r>
          </a:p>
          <a:p>
            <a:pPr lvl="1"/>
            <a:r>
              <a:rPr lang="en-US" dirty="0"/>
              <a:t>X = {1, 2, 3}</a:t>
            </a:r>
          </a:p>
          <a:p>
            <a:pPr lvl="1"/>
            <a:r>
              <a:rPr lang="en-US" dirty="0"/>
              <a:t>3 items</a:t>
            </a:r>
          </a:p>
          <a:p>
            <a:pPr lvl="1"/>
            <a:r>
              <a:rPr lang="en-US" dirty="0"/>
              <a:t>|X| is 3 </a:t>
            </a:r>
          </a:p>
          <a:p>
            <a:pPr lvl="1"/>
            <a:r>
              <a:rPr lang="en-US" dirty="0"/>
              <a:t>Pipe (|) is right by my enter key </a:t>
            </a:r>
          </a:p>
        </p:txBody>
      </p:sp>
    </p:spTree>
    <p:extLst>
      <p:ext uri="{BB962C8B-B14F-4D97-AF65-F5344CB8AC3E}">
        <p14:creationId xmlns:p14="http://schemas.microsoft.com/office/powerpoint/2010/main" val="680923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5F90B-DC13-569D-431B-8C6CD1E29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Thoughts on Set Cardinality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1B35B-7746-5002-0221-5A72F90B6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Adding set cardinalities - intersection</a:t>
            </a:r>
          </a:p>
          <a:p>
            <a:pPr lvl="1"/>
            <a:r>
              <a:rPr lang="en-US" dirty="0"/>
              <a:t>A = {1, 2, 3, 4}</a:t>
            </a:r>
          </a:p>
          <a:p>
            <a:pPr lvl="1"/>
            <a:r>
              <a:rPr lang="en-US" dirty="0"/>
              <a:t>B = {a, b, c, d}</a:t>
            </a:r>
          </a:p>
          <a:p>
            <a:pPr lvl="1"/>
            <a:r>
              <a:rPr lang="en-US" dirty="0"/>
              <a:t>|A ∪ B| </a:t>
            </a:r>
          </a:p>
          <a:p>
            <a:pPr lvl="2"/>
            <a:r>
              <a:rPr lang="en-US" dirty="0"/>
              <a:t>{1, 2, 3, 4, a, b, c, d}</a:t>
            </a:r>
          </a:p>
          <a:p>
            <a:pPr lvl="2"/>
            <a:r>
              <a:rPr lang="en-US" dirty="0"/>
              <a:t>|A| + |B| = 8</a:t>
            </a:r>
          </a:p>
          <a:p>
            <a:endParaRPr lang="en-US" dirty="0"/>
          </a:p>
          <a:p>
            <a:r>
              <a:rPr lang="en-US" dirty="0"/>
              <a:t>Does this always work</a:t>
            </a:r>
          </a:p>
          <a:p>
            <a:pPr lvl="1"/>
            <a:r>
              <a:rPr lang="en-US" dirty="0"/>
              <a:t>At least with union?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B015AE-872F-0BF4-4725-B9311EAD3668}"/>
              </a:ext>
            </a:extLst>
          </p:cNvPr>
          <p:cNvSpPr txBox="1"/>
          <p:nvPr/>
        </p:nvSpPr>
        <p:spPr>
          <a:xfrm>
            <a:off x="9250747" y="5682132"/>
            <a:ext cx="2941254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 = {1, 2, 3, 4}</a:t>
            </a:r>
            <a:br>
              <a:rPr lang="en-US" sz="2400" dirty="0"/>
            </a:br>
            <a:r>
              <a:rPr lang="en-US" sz="2400" dirty="0"/>
              <a:t>B = {1, 2, 5, 8}</a:t>
            </a:r>
            <a:br>
              <a:rPr lang="en-US" sz="2400" dirty="0"/>
            </a:br>
            <a:r>
              <a:rPr lang="en-US" sz="2400" dirty="0"/>
              <a:t>| A U B | = 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660C51-0E5E-23B3-BB00-7A6FD9C5A102}"/>
              </a:ext>
            </a:extLst>
          </p:cNvPr>
          <p:cNvSpPr txBox="1"/>
          <p:nvPr/>
        </p:nvSpPr>
        <p:spPr>
          <a:xfrm>
            <a:off x="9250746" y="5035801"/>
            <a:ext cx="294125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| A U B | = |A| + |B| </a:t>
            </a:r>
            <a:br>
              <a:rPr lang="en-US" dirty="0"/>
            </a:br>
            <a:r>
              <a:rPr lang="en-US" dirty="0"/>
              <a:t>ONLY when sets are disjoint</a:t>
            </a:r>
          </a:p>
        </p:txBody>
      </p:sp>
    </p:spTree>
    <p:extLst>
      <p:ext uri="{BB962C8B-B14F-4D97-AF65-F5344CB8AC3E}">
        <p14:creationId xmlns:p14="http://schemas.microsoft.com/office/powerpoint/2010/main" val="3008909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3EA08-EDBF-6BBA-0909-A66FD10C9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Inclusion Exclusion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776FC-1999-F3ED-06CC-41DF446C7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Lets look at a practical example…</a:t>
            </a:r>
          </a:p>
          <a:p>
            <a:pPr lvl="1"/>
            <a:r>
              <a:rPr lang="en-US" dirty="0"/>
              <a:t>I want you to tell me the number 6-letter of words in the dictionary that start with “A” or end with “Z” (or both)</a:t>
            </a:r>
          </a:p>
          <a:p>
            <a:pPr lvl="2"/>
            <a:r>
              <a:rPr lang="en-US" dirty="0"/>
              <a:t>Or – more precisely I want a formula to determine how I could count this</a:t>
            </a:r>
          </a:p>
          <a:p>
            <a:r>
              <a:rPr lang="en-US" dirty="0"/>
              <a:t>How could we frame this as a set operation</a:t>
            </a:r>
          </a:p>
          <a:p>
            <a:endParaRPr lang="en-US" dirty="0"/>
          </a:p>
          <a:p>
            <a:pPr lvl="1"/>
            <a:r>
              <a:rPr lang="en-US" dirty="0"/>
              <a:t>A = set of all 6- letter words that start with A</a:t>
            </a:r>
          </a:p>
          <a:p>
            <a:pPr lvl="1"/>
            <a:r>
              <a:rPr lang="en-US" dirty="0"/>
              <a:t>B = set of all 6 letter words that end with Z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DD7A4-C7B0-6FFA-FA2A-A43443DD761B}"/>
              </a:ext>
            </a:extLst>
          </p:cNvPr>
          <p:cNvSpPr txBox="1"/>
          <p:nvPr/>
        </p:nvSpPr>
        <p:spPr>
          <a:xfrm>
            <a:off x="1618785" y="5296828"/>
            <a:ext cx="3867615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| A U B| = |A| + |B| - | A ∩ B |</a:t>
            </a:r>
          </a:p>
        </p:txBody>
      </p:sp>
    </p:spTree>
    <p:extLst>
      <p:ext uri="{BB962C8B-B14F-4D97-AF65-F5344CB8AC3E}">
        <p14:creationId xmlns:p14="http://schemas.microsoft.com/office/powerpoint/2010/main" val="1630824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BFDD0-F158-63C1-62F5-BFDD00748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ordering but sets can be equal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12B78-3AB4-98DA-C74E-0924D6192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dirty="0"/>
              <a:t>2 sets that have the same elements and same cardinality</a:t>
            </a:r>
          </a:p>
          <a:p>
            <a:pPr lvl="1"/>
            <a:endParaRPr lang="en-US" dirty="0"/>
          </a:p>
          <a:p>
            <a:r>
              <a:rPr lang="en-US" dirty="0"/>
              <a:t>{1, 2, 3} = {2, 3, 1}</a:t>
            </a:r>
          </a:p>
          <a:p>
            <a:pPr lvl="1"/>
            <a:endParaRPr lang="en-US" dirty="0"/>
          </a:p>
          <a:p>
            <a:r>
              <a:rPr lang="en-US" dirty="0"/>
              <a:t>{1, 2, 3, 4} != {1, 2, 3, 5}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841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6F89F-7517-48DA-6CAA-B3130B4F0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sets of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66A34-534A-9FAA-09A4-FBD8DE4D98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8EFFB-6464-CA43-0983-8EC882C7A4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BEAC5094-7CD6-067E-85CE-A0927AF5AB3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200832284"/>
                  </p:ext>
                </p:extLst>
              </p:nvPr>
            </p:nvGraphicFramePr>
            <p:xfrm>
              <a:off x="838200" y="1825625"/>
              <a:ext cx="10515599" cy="4351337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847200756"/>
                        </a:ext>
                      </a:extLst>
                    </a:gridCol>
                    <a:gridCol w="1927349">
                      <a:extLst>
                        <a:ext uri="{9D8B030D-6E8A-4147-A177-3AD203B41FA5}">
                          <a16:colId xmlns:a16="http://schemas.microsoft.com/office/drawing/2014/main" val="1948832487"/>
                        </a:ext>
                      </a:extLst>
                    </a:gridCol>
                    <a:gridCol w="3330450">
                      <a:extLst>
                        <a:ext uri="{9D8B030D-6E8A-4147-A177-3AD203B41FA5}">
                          <a16:colId xmlns:a16="http://schemas.microsoft.com/office/drawing/2014/main" val="2744395489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904331429"/>
                        </a:ext>
                      </a:extLst>
                    </a:gridCol>
                  </a:tblGrid>
                  <a:tr h="8116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Symbol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Ex.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78781"/>
                      </a:ext>
                    </a:extLst>
                  </a:tr>
                  <a:tr h="81169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Natural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b="0" dirty="0" err="1"/>
                            <a:t>ℕ</a:t>
                          </a:r>
                          <a:r>
                            <a:rPr lang="en-US" sz="40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Positive Whole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1, 2, 3 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083090"/>
                      </a:ext>
                    </a:extLst>
                  </a:tr>
                  <a:tr h="1104577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Integers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4000" b="0" dirty="0" err="1"/>
                            <a:t>ℤ</a:t>
                          </a:r>
                          <a:endParaRPr lang="en-US" sz="40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Positive whole numbers, negative whole numbers, and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-3, -2, -1, 0, 1, 2, 3…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483005"/>
                      </a:ext>
                    </a:extLst>
                  </a:tr>
                  <a:tr h="81169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Rational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 err="1"/>
                            <a:t>ℚ</a:t>
                          </a:r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Any number that can be expressed as a fraction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5, 1/10, 2/3, 0.25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3513648"/>
                      </a:ext>
                    </a:extLst>
                  </a:tr>
                  <a:tr h="81169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Real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 err="1"/>
                            <a:t>ℝ</a:t>
                          </a:r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Any number on the number 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2000" dirty="0"/>
                            <a:t>π</a:t>
                          </a:r>
                          <a:r>
                            <a:rPr lang="en-US" sz="2000" dirty="0"/>
                            <a:t>,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180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kern="1200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</a:rPr>
                            <a:t>, </a:t>
                          </a:r>
                          <a:r>
                            <a:rPr lang="en-US" sz="2000" dirty="0"/>
                            <a:t>3/10, 400,</a:t>
                          </a:r>
                          <a:r>
                            <a:rPr lang="en-US" sz="2000" baseline="0" dirty="0"/>
                            <a:t> 0, -3</a:t>
                          </a:r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95014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BEAC5094-7CD6-067E-85CE-A0927AF5AB3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200832284"/>
                  </p:ext>
                </p:extLst>
              </p:nvPr>
            </p:nvGraphicFramePr>
            <p:xfrm>
              <a:off x="838200" y="1825625"/>
              <a:ext cx="10515599" cy="4351337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847200756"/>
                        </a:ext>
                      </a:extLst>
                    </a:gridCol>
                    <a:gridCol w="1927349">
                      <a:extLst>
                        <a:ext uri="{9D8B030D-6E8A-4147-A177-3AD203B41FA5}">
                          <a16:colId xmlns:a16="http://schemas.microsoft.com/office/drawing/2014/main" val="1948832487"/>
                        </a:ext>
                      </a:extLst>
                    </a:gridCol>
                    <a:gridCol w="3330450">
                      <a:extLst>
                        <a:ext uri="{9D8B030D-6E8A-4147-A177-3AD203B41FA5}">
                          <a16:colId xmlns:a16="http://schemas.microsoft.com/office/drawing/2014/main" val="2744395489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904331429"/>
                        </a:ext>
                      </a:extLst>
                    </a:gridCol>
                  </a:tblGrid>
                  <a:tr h="8116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Symbol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Ex.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78781"/>
                      </a:ext>
                    </a:extLst>
                  </a:tr>
                  <a:tr h="81169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Natural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b="0" dirty="0" err="1"/>
                            <a:t>ℕ</a:t>
                          </a:r>
                          <a:r>
                            <a:rPr lang="en-US" sz="40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Positive Whole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1, 2, 3 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083090"/>
                      </a:ext>
                    </a:extLst>
                  </a:tr>
                  <a:tr h="1104577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Integers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4000" b="0" dirty="0" err="1"/>
                            <a:t>ℤ</a:t>
                          </a:r>
                          <a:endParaRPr lang="en-US" sz="40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Positive whole numbers, negative whole numbers, and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-3, -2, -1, 0, 1, 2, 3…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483005"/>
                      </a:ext>
                    </a:extLst>
                  </a:tr>
                  <a:tr h="81169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Rational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 err="1"/>
                            <a:t>ℚ</a:t>
                          </a:r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Any number that can be expressed as a fraction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5, 1/10, 2/3, 0.25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3513648"/>
                      </a:ext>
                    </a:extLst>
                  </a:tr>
                  <a:tr h="81169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Real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 err="1"/>
                            <a:t>ℝ</a:t>
                          </a:r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Any number on the number 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83" t="-446875" r="-1449" b="-1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95014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05738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9425D-B29F-FB1E-6944-3FFBD099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don’t have to be numbers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B9286-84F6-D72D-AAE1-6135D8403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59836" cy="4351338"/>
          </a:xfrm>
        </p:spPr>
        <p:txBody>
          <a:bodyPr/>
          <a:lstStyle/>
          <a:p>
            <a:r>
              <a:rPr lang="en-US" dirty="0"/>
              <a:t>Don’t have to be numbers</a:t>
            </a:r>
          </a:p>
          <a:p>
            <a:pPr lvl="1"/>
            <a:r>
              <a:rPr lang="en-US" dirty="0"/>
              <a:t>Letters = {a, b, c, d, e, f, g, h, </a:t>
            </a:r>
            <a:r>
              <a:rPr lang="en-US" dirty="0" err="1"/>
              <a:t>i</a:t>
            </a:r>
            <a:r>
              <a:rPr lang="en-US" dirty="0"/>
              <a:t>, j, k, l, m, n, o, p, q, r, s, t, u, v, w, x, y, z}</a:t>
            </a:r>
          </a:p>
          <a:p>
            <a:pPr lvl="1"/>
            <a:r>
              <a:rPr lang="en-US" dirty="0"/>
              <a:t>Beatles = {John, Paul, George, Ringo}</a:t>
            </a:r>
          </a:p>
          <a:p>
            <a:r>
              <a:rPr lang="en-US" dirty="0"/>
              <a:t>Don’t have to be in decimal</a:t>
            </a:r>
          </a:p>
          <a:p>
            <a:pPr lvl="1"/>
            <a:r>
              <a:rPr lang="en-US" dirty="0"/>
              <a:t>bin = {0000, 0001, 0010, 0011, 0100, 0101}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215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8AD33-78B4-5EA8-0D49-F59EE110B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∅ The Empty set (aka null set)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64BE0-1137-B047-420B-CD3287EA3B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US" dirty="0"/>
              <a:t>A set with nothing in it</a:t>
            </a:r>
            <a:br>
              <a:rPr lang="en-US" dirty="0"/>
            </a:br>
            <a:endParaRPr lang="en-US" dirty="0"/>
          </a:p>
          <a:p>
            <a:r>
              <a:rPr lang="en-US" dirty="0"/>
              <a:t>{}</a:t>
            </a:r>
          </a:p>
          <a:p>
            <a:pPr lvl="1"/>
            <a:r>
              <a:rPr lang="en-US" dirty="0"/>
              <a:t>|∅| = 0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Still counts as a thing</a:t>
            </a:r>
          </a:p>
          <a:p>
            <a:pPr lvl="1"/>
            <a:r>
              <a:rPr lang="en-US" dirty="0"/>
              <a:t>∅ is not equal to {∅}</a:t>
            </a:r>
          </a:p>
          <a:p>
            <a:pPr lvl="1"/>
            <a:r>
              <a:rPr lang="en-US" dirty="0"/>
              <a:t>| {∅} | = 1 </a:t>
            </a:r>
          </a:p>
          <a:p>
            <a:pPr lvl="2"/>
            <a:r>
              <a:rPr lang="en-US" dirty="0"/>
              <a:t>There’s one thing in this set – the empty set!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466CD-FFC8-1E68-325B-B858EF89DA5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Think of it this way</a:t>
            </a:r>
          </a:p>
          <a:p>
            <a:pPr lvl="1"/>
            <a:r>
              <a:rPr lang="en-US" dirty="0"/>
              <a:t>1 empty cardboard box</a:t>
            </a:r>
          </a:p>
          <a:p>
            <a:pPr lvl="2"/>
            <a:r>
              <a:rPr lang="en-US" dirty="0"/>
              <a:t>Cardinality of 0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1 box that contains an empty cardboard box</a:t>
            </a:r>
          </a:p>
          <a:p>
            <a:pPr lvl="2"/>
            <a:r>
              <a:rPr lang="en-US" dirty="0"/>
              <a:t>Cardinality of 1</a:t>
            </a:r>
          </a:p>
        </p:txBody>
      </p:sp>
      <p:pic>
        <p:nvPicPr>
          <p:cNvPr id="6" name="Graphic 5" descr="Packing Box Open outline">
            <a:extLst>
              <a:ext uri="{FF2B5EF4-FFF2-40B4-BE49-F238E27FC236}">
                <a16:creationId xmlns:a16="http://schemas.microsoft.com/office/drawing/2014/main" id="{8AE523B4-B892-35B8-B987-E3806F9F98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0" y="2033155"/>
            <a:ext cx="2119745" cy="2119745"/>
          </a:xfrm>
          <a:prstGeom prst="rect">
            <a:avLst/>
          </a:prstGeom>
        </p:spPr>
      </p:pic>
      <p:pic>
        <p:nvPicPr>
          <p:cNvPr id="8" name="Graphic 7" descr="Packing Box Open outline">
            <a:extLst>
              <a:ext uri="{FF2B5EF4-FFF2-40B4-BE49-F238E27FC236}">
                <a16:creationId xmlns:a16="http://schemas.microsoft.com/office/drawing/2014/main" id="{4992CE6B-A525-2108-F0C3-D201062573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64436" y="4450487"/>
            <a:ext cx="2646219" cy="2646219"/>
          </a:xfrm>
          <a:prstGeom prst="rect">
            <a:avLst/>
          </a:prstGeom>
        </p:spPr>
      </p:pic>
      <p:pic>
        <p:nvPicPr>
          <p:cNvPr id="11" name="Graphic 10" descr="Packing Box Open outline">
            <a:extLst>
              <a:ext uri="{FF2B5EF4-FFF2-40B4-BE49-F238E27FC236}">
                <a16:creationId xmlns:a16="http://schemas.microsoft.com/office/drawing/2014/main" id="{1838F373-CB49-8D81-B7E1-6DC81BF79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0345" y="515014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85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072FBA3-8067-8BE3-F4FC-6E3AFC16E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0" y="4568466"/>
            <a:ext cx="4953000" cy="533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A8AC62-F83A-A738-4877-737A6C0E13A0}"/>
              </a:ext>
            </a:extLst>
          </p:cNvPr>
          <p:cNvSpPr txBox="1"/>
          <p:nvPr/>
        </p:nvSpPr>
        <p:spPr>
          <a:xfrm>
            <a:off x="0" y="5049841"/>
            <a:ext cx="10662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Book of Proof                                            </a:t>
            </a:r>
            <a:r>
              <a:rPr lang="en-US" dirty="0">
                <a:sym typeface="Wingdings" pitchFamily="2" charset="2"/>
              </a:rPr>
              <a:t>   </a:t>
            </a:r>
            <a:r>
              <a:rPr lang="en-US" dirty="0"/>
              <a:t>{2n : n ∈ </a:t>
            </a:r>
            <a:r>
              <a:rPr lang="en-US" dirty="0" err="1"/>
              <a:t>ℤ</a:t>
            </a:r>
            <a:r>
              <a:rPr lang="en-US" dirty="0"/>
              <a:t>}                   or     {n ∈ </a:t>
            </a:r>
            <a:r>
              <a:rPr lang="en-US" dirty="0" err="1"/>
              <a:t>ℤ</a:t>
            </a:r>
            <a:r>
              <a:rPr lang="en-US" dirty="0"/>
              <a:t> : n is even} </a:t>
            </a:r>
          </a:p>
        </p:txBody>
      </p:sp>
      <p:pic>
        <p:nvPicPr>
          <p:cNvPr id="1026" name="Picture 2" descr="Representation of a Set - GeeksforGeeks">
            <a:extLst>
              <a:ext uri="{FF2B5EF4-FFF2-40B4-BE49-F238E27FC236}">
                <a16:creationId xmlns:a16="http://schemas.microsoft.com/office/drawing/2014/main" id="{6FB37A68-0194-15A5-4ABC-4F0F35F3C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696036" cy="4348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102184-ABCC-EA54-371F-8A22515C2368}"/>
              </a:ext>
            </a:extLst>
          </p:cNvPr>
          <p:cNvSpPr txBox="1"/>
          <p:nvPr/>
        </p:nvSpPr>
        <p:spPr>
          <a:xfrm>
            <a:off x="0" y="4650500"/>
            <a:ext cx="382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Discrete structures textbook says </a:t>
            </a:r>
            <a:r>
              <a:rPr lang="en-US" dirty="0">
                <a:sym typeface="Wingdings" pitchFamily="2" charset="2"/>
              </a:rPr>
              <a:t> 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C2991A-A339-7317-179D-EB78E3B72F67}"/>
              </a:ext>
            </a:extLst>
          </p:cNvPr>
          <p:cNvSpPr txBox="1"/>
          <p:nvPr/>
        </p:nvSpPr>
        <p:spPr>
          <a:xfrm>
            <a:off x="0" y="5900548"/>
            <a:ext cx="11485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too many possible ways to phrase the same thing</a:t>
            </a:r>
          </a:p>
          <a:p>
            <a:r>
              <a:rPr lang="en-US" dirty="0"/>
              <a:t>Pick one and be consistent</a:t>
            </a:r>
            <a:br>
              <a:rPr lang="en-US" dirty="0"/>
            </a:b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1D4CAE-8945-2E22-17AD-AC387C3D1125}"/>
              </a:ext>
            </a:extLst>
          </p:cNvPr>
          <p:cNvSpPr txBox="1"/>
          <p:nvPr/>
        </p:nvSpPr>
        <p:spPr>
          <a:xfrm>
            <a:off x="9020851" y="1749167"/>
            <a:ext cx="3171149" cy="22467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&lt;-- I pick this one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(even then things might look a bit inconsistent )</a:t>
            </a:r>
          </a:p>
        </p:txBody>
      </p:sp>
    </p:spTree>
    <p:extLst>
      <p:ext uri="{BB962C8B-B14F-4D97-AF65-F5344CB8AC3E}">
        <p14:creationId xmlns:p14="http://schemas.microsoft.com/office/powerpoint/2010/main" val="2671895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632DC-6F49-FEF3-DCBF-EB6D46551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 =   {−6,−4,−2,0,2,4,6}</a:t>
            </a:r>
          </a:p>
          <a:p>
            <a:endParaRPr lang="en-US" dirty="0"/>
          </a:p>
          <a:p>
            <a:r>
              <a:rPr lang="en-US" dirty="0"/>
              <a:t>E = {n  | n ∈  </a:t>
            </a:r>
            <a:r>
              <a:rPr lang="en-US" dirty="0" err="1"/>
              <a:t>ℤ</a:t>
            </a:r>
            <a:r>
              <a:rPr lang="en-US" dirty="0"/>
              <a:t>  and |n| &lt; 7}</a:t>
            </a:r>
          </a:p>
          <a:p>
            <a:pPr lvl="1"/>
            <a:r>
              <a:rPr lang="en-US" dirty="0"/>
              <a:t>Notably |n| on a number is still absolute value</a:t>
            </a:r>
          </a:p>
          <a:p>
            <a:pPr lvl="2"/>
            <a:r>
              <a:rPr lang="en-US" dirty="0"/>
              <a:t>Distance from 0 on a number line (always positive)</a:t>
            </a:r>
          </a:p>
          <a:p>
            <a:pPr lvl="1"/>
            <a:r>
              <a:rPr lang="en-US" dirty="0"/>
              <a:t>|set| is cardinality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EDBC4F-F450-FB78-D736-4E5FD731C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these mean the same thing</a:t>
            </a:r>
          </a:p>
        </p:txBody>
      </p:sp>
    </p:spTree>
    <p:extLst>
      <p:ext uri="{BB962C8B-B14F-4D97-AF65-F5344CB8AC3E}">
        <p14:creationId xmlns:p14="http://schemas.microsoft.com/office/powerpoint/2010/main" val="3115720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A84A5-78D9-3800-0D39-430C23B9B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br>
              <a:rPr lang="en-US" dirty="0"/>
            </a:br>
            <a:r>
              <a:rPr lang="en-US" dirty="0"/>
              <a:t>	Name 5 elements from the following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1B594-6763-1391-0151-DE39D8D90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29907" cy="5032375"/>
          </a:xfrm>
        </p:spPr>
        <p:txBody>
          <a:bodyPr>
            <a:normAutofit/>
          </a:bodyPr>
          <a:lstStyle/>
          <a:p>
            <a:r>
              <a:rPr lang="en-US" dirty="0"/>
              <a:t>A = {n| n%3 equals 0 and n ∈ </a:t>
            </a:r>
            <a:r>
              <a:rPr lang="en-US" dirty="0" err="1"/>
              <a:t>ℤ</a:t>
            </a:r>
            <a:r>
              <a:rPr lang="en-US" dirty="0"/>
              <a:t>}</a:t>
            </a:r>
            <a:br>
              <a:rPr lang="en-US" dirty="0"/>
            </a:br>
            <a:endParaRPr lang="en-US" dirty="0"/>
          </a:p>
          <a:p>
            <a:r>
              <a:rPr lang="en-US" dirty="0"/>
              <a:t>B = {x| x</a:t>
            </a:r>
            <a:r>
              <a:rPr lang="en-US" baseline="30000" dirty="0"/>
              <a:t>2</a:t>
            </a:r>
            <a:r>
              <a:rPr lang="en-US" dirty="0"/>
              <a:t> &lt; 10 and x ∈ </a:t>
            </a:r>
            <a:r>
              <a:rPr lang="en-US" dirty="0" err="1"/>
              <a:t>ℤ</a:t>
            </a:r>
            <a:r>
              <a:rPr lang="en-US" dirty="0"/>
              <a:t>}</a:t>
            </a:r>
            <a:br>
              <a:rPr lang="en-US" dirty="0"/>
            </a:br>
            <a:endParaRPr lang="en-US" dirty="0"/>
          </a:p>
          <a:p>
            <a:r>
              <a:rPr lang="en-US" dirty="0"/>
              <a:t>C = {7a + 3b | a, b ∈ </a:t>
            </a:r>
            <a:r>
              <a:rPr lang="en-US" dirty="0" err="1"/>
              <a:t>ℤ</a:t>
            </a:r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D = {p | −2 ≤ p &lt; 7 and p ∈ </a:t>
            </a:r>
            <a:r>
              <a:rPr lang="en-US" dirty="0" err="1"/>
              <a:t>ℤ</a:t>
            </a:r>
            <a:r>
              <a:rPr lang="en-US" dirty="0"/>
              <a:t>}</a:t>
            </a:r>
            <a:br>
              <a:rPr lang="en-US" dirty="0"/>
            </a:br>
            <a:endParaRPr lang="en-US" dirty="0"/>
          </a:p>
          <a:p>
            <a:r>
              <a:rPr lang="en-US" dirty="0"/>
              <a:t>E = {d| d p ∈ </a:t>
            </a:r>
            <a:r>
              <a:rPr lang="en-US" dirty="0" err="1"/>
              <a:t>ℤ</a:t>
            </a:r>
            <a:r>
              <a:rPr lang="en-US" dirty="0"/>
              <a:t> and  |d| &lt; 5}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D1AC5B-CA08-4BFA-A86D-38076E732544}"/>
              </a:ext>
            </a:extLst>
          </p:cNvPr>
          <p:cNvSpPr txBox="1"/>
          <p:nvPr/>
        </p:nvSpPr>
        <p:spPr>
          <a:xfrm>
            <a:off x="7274307" y="1836305"/>
            <a:ext cx="4917693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3, 6, 9, 12, 15, 18 (any multiple of 3)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8B4FDD-3C60-1F77-0A32-4A7E1E37F206}"/>
              </a:ext>
            </a:extLst>
          </p:cNvPr>
          <p:cNvSpPr txBox="1"/>
          <p:nvPr/>
        </p:nvSpPr>
        <p:spPr>
          <a:xfrm>
            <a:off x="7274307" y="2737073"/>
            <a:ext cx="2533963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-3, -2, -1, 0, 1, 2,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F741C3-396B-93D2-9B95-5823EB9B2CA7}"/>
              </a:ext>
            </a:extLst>
          </p:cNvPr>
          <p:cNvSpPr txBox="1"/>
          <p:nvPr/>
        </p:nvSpPr>
        <p:spPr>
          <a:xfrm>
            <a:off x="7274307" y="3480274"/>
            <a:ext cx="2884351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7 (a = 1, b = 0)</a:t>
            </a:r>
            <a:br>
              <a:rPr lang="en-US" sz="2400" dirty="0"/>
            </a:br>
            <a:r>
              <a:rPr lang="en-US" sz="2400" dirty="0"/>
              <a:t>17 (a = 2, b = 1)</a:t>
            </a:r>
          </a:p>
          <a:p>
            <a:r>
              <a:rPr lang="en-US" sz="2400" dirty="0"/>
              <a:t>189 (a = 23, b = 14)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E7A2E8-91E1-693F-A32E-E8791F3ADD0F}"/>
              </a:ext>
            </a:extLst>
          </p:cNvPr>
          <p:cNvSpPr txBox="1"/>
          <p:nvPr/>
        </p:nvSpPr>
        <p:spPr>
          <a:xfrm>
            <a:off x="7274307" y="4921653"/>
            <a:ext cx="3086999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-2, -1, 0, 1, 2, 3, 4, 5, 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85644E-5D88-7D05-9E03-F9F319CFCD63}"/>
              </a:ext>
            </a:extLst>
          </p:cNvPr>
          <p:cNvSpPr txBox="1"/>
          <p:nvPr/>
        </p:nvSpPr>
        <p:spPr>
          <a:xfrm>
            <a:off x="7274307" y="5822421"/>
            <a:ext cx="3086999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-2, -1, 0, 1, 2, 3, 4, 5, 6</a:t>
            </a:r>
          </a:p>
        </p:txBody>
      </p:sp>
    </p:spTree>
    <p:extLst>
      <p:ext uri="{BB962C8B-B14F-4D97-AF65-F5344CB8AC3E}">
        <p14:creationId xmlns:p14="http://schemas.microsoft.com/office/powerpoint/2010/main" val="812106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020B1-FD0E-5A84-7BBC-1D11A6BA7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 more practice…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EBAE33-0F73-9949-C9CA-44DA803002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/>
              </a:bodyPr>
              <a:lstStyle/>
              <a:p>
                <a:r>
                  <a:rPr lang="en-US" sz="3600" dirty="0"/>
                  <a:t>X = {n| n2 &lt; 0 and n ∈ </a:t>
                </a:r>
                <a:r>
                  <a:rPr lang="en-US" sz="3600" dirty="0" err="1"/>
                  <a:t>ℤ</a:t>
                </a:r>
                <a:r>
                  <a:rPr lang="en-US" sz="3600" dirty="0"/>
                  <a:t>}</a:t>
                </a:r>
              </a:p>
              <a:p>
                <a:pPr lvl="1"/>
                <a:r>
                  <a:rPr lang="en-US" sz="3200" dirty="0"/>
                  <a:t>Just to refresh: what is the cardinality of X?</a:t>
                </a:r>
              </a:p>
              <a:p>
                <a:endParaRPr lang="en-US" sz="3600" dirty="0"/>
              </a:p>
              <a:p>
                <a:r>
                  <a:rPr lang="en-US" sz="3600" dirty="0"/>
                  <a:t>Which of the following will generate a set of </a:t>
                </a:r>
                <a:r>
                  <a:rPr lang="en-US" sz="3600" i="1" dirty="0"/>
                  <a:t>negative</a:t>
                </a:r>
                <a:r>
                  <a:rPr lang="en-US" sz="3600" dirty="0"/>
                  <a:t> even integers</a:t>
                </a:r>
              </a:p>
              <a:p>
                <a:pPr lvl="1"/>
                <a:r>
                  <a:rPr lang="en-US" sz="3200" dirty="0"/>
                  <a:t>A = {2x | x ∈ </a:t>
                </a:r>
                <a:r>
                  <a:rPr lang="en-US" sz="3200" dirty="0" err="1"/>
                  <a:t>ℤ</a:t>
                </a:r>
                <a:r>
                  <a:rPr lang="en-US" sz="3200" dirty="0"/>
                  <a:t> and x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0}</a:t>
                </a:r>
              </a:p>
              <a:p>
                <a:pPr lvl="1"/>
                <a:r>
                  <a:rPr lang="en-US" sz="3200" dirty="0"/>
                  <a:t>B = {-2x | x ∈ </a:t>
                </a:r>
                <a:r>
                  <a:rPr lang="en-US" sz="3200" dirty="0" err="1"/>
                  <a:t>ℤ</a:t>
                </a:r>
                <a:r>
                  <a:rPr lang="en-US" sz="3200" dirty="0"/>
                  <a:t> }</a:t>
                </a:r>
              </a:p>
              <a:p>
                <a:pPr lvl="1"/>
                <a:r>
                  <a:rPr lang="en-US" sz="3200" dirty="0"/>
                  <a:t>C = {x | x ∈ </a:t>
                </a:r>
                <a:r>
                  <a:rPr lang="en-US" sz="3200" dirty="0" err="1"/>
                  <a:t>ℤ</a:t>
                </a:r>
                <a:r>
                  <a:rPr lang="en-US" sz="3200" dirty="0"/>
                  <a:t>  and x % 2 equals 0}</a:t>
                </a:r>
              </a:p>
              <a:p>
                <a:pPr lvl="1"/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EBAE33-0F73-9949-C9CA-44DA803002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2"/>
                <a:stretch>
                  <a:fillRect l="-1689" t="-3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81A5B5E-2DD4-472A-ED2D-E211203697BC}"/>
              </a:ext>
            </a:extLst>
          </p:cNvPr>
          <p:cNvSpPr txBox="1"/>
          <p:nvPr/>
        </p:nvSpPr>
        <p:spPr>
          <a:xfrm>
            <a:off x="6463815" y="1825625"/>
            <a:ext cx="643567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1A5BB3-94E4-FBF1-44D7-C8AE7AC1E495}"/>
              </a:ext>
            </a:extLst>
          </p:cNvPr>
          <p:cNvSpPr txBox="1"/>
          <p:nvPr/>
        </p:nvSpPr>
        <p:spPr>
          <a:xfrm>
            <a:off x="9220869" y="2378510"/>
            <a:ext cx="643567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99633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B2FB5-D29C-87B0-B35F-F2B3AB01A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weird properties of our known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436D0-6122-0397-DE79-A13D8C464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sets are infinite in both directions</a:t>
            </a:r>
          </a:p>
          <a:p>
            <a:pPr lvl="1"/>
            <a:r>
              <a:rPr lang="en-US" sz="3200" dirty="0" err="1"/>
              <a:t>ℤ</a:t>
            </a:r>
            <a:r>
              <a:rPr lang="en-US" sz="3200" dirty="0"/>
              <a:t>, </a:t>
            </a:r>
            <a:r>
              <a:rPr lang="en-US" sz="3200" dirty="0" err="1"/>
              <a:t>ℝ</a:t>
            </a:r>
            <a:r>
              <a:rPr lang="en-US" sz="3200" dirty="0"/>
              <a:t>, </a:t>
            </a:r>
            <a:r>
              <a:rPr lang="en-US" sz="3200" dirty="0" err="1"/>
              <a:t>ℚ</a:t>
            </a:r>
            <a:endParaRPr lang="en-US" sz="3200" dirty="0"/>
          </a:p>
          <a:p>
            <a:pPr lvl="1"/>
            <a:r>
              <a:rPr lang="en-US" dirty="0"/>
              <a:t>No smallest item in this set, no largest</a:t>
            </a:r>
            <a:endParaRPr lang="en-US" sz="3200" dirty="0"/>
          </a:p>
          <a:p>
            <a:endParaRPr lang="en-US" dirty="0"/>
          </a:p>
          <a:p>
            <a:r>
              <a:rPr lang="en-US" dirty="0"/>
              <a:t>Some are infinite in one direction</a:t>
            </a:r>
          </a:p>
          <a:p>
            <a:pPr lvl="1"/>
            <a:r>
              <a:rPr lang="en-US" sz="3200" b="0" dirty="0" err="1"/>
              <a:t>ℕ</a:t>
            </a:r>
            <a:endParaRPr lang="en-US" sz="3200" b="0" dirty="0"/>
          </a:p>
          <a:p>
            <a:pPr lvl="1"/>
            <a:r>
              <a:rPr lang="en-US" dirty="0"/>
              <a:t>All positive whole numbers </a:t>
            </a:r>
          </a:p>
          <a:p>
            <a:pPr lvl="1"/>
            <a:r>
              <a:rPr lang="en-US" dirty="0"/>
              <a:t>1 is the SMALLEST item in this set</a:t>
            </a:r>
          </a:p>
          <a:p>
            <a:pPr lvl="1"/>
            <a:r>
              <a:rPr lang="en-US" dirty="0"/>
              <a:t>No largest item in this set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794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B8646-BA81-1E1C-6388-94D094F50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Operators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9F7857-72BA-B890-A566-A863A4A3F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Subsets, union, intersection</a:t>
            </a:r>
          </a:p>
        </p:txBody>
      </p:sp>
    </p:spTree>
    <p:extLst>
      <p:ext uri="{BB962C8B-B14F-4D97-AF65-F5344CB8AC3E}">
        <p14:creationId xmlns:p14="http://schemas.microsoft.com/office/powerpoint/2010/main" val="196434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673301-B79E-4027-B7FE-5AC1A48FC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say we have a set (called A) of some stuff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7B087D9-AA87-6A72-F427-A83E52AA342F}"/>
              </a:ext>
            </a:extLst>
          </p:cNvPr>
          <p:cNvSpPr/>
          <p:nvPr/>
        </p:nvSpPr>
        <p:spPr>
          <a:xfrm>
            <a:off x="838200" y="1925781"/>
            <a:ext cx="2403764" cy="2313710"/>
          </a:xfrm>
          <a:prstGeom prst="ellipse">
            <a:avLst/>
          </a:prstGeom>
          <a:solidFill>
            <a:srgbClr val="C00000">
              <a:alpha val="54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216230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980B2-D4A3-BF43-4E97-E2370FEBE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0D6720-DEA0-8A01-283C-1E45FFEBF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we have a set (B) that has no elements in common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6366DBF-37F4-EF6F-F9AB-4644E744021B}"/>
              </a:ext>
            </a:extLst>
          </p:cNvPr>
          <p:cNvSpPr/>
          <p:nvPr/>
        </p:nvSpPr>
        <p:spPr>
          <a:xfrm>
            <a:off x="838200" y="1925781"/>
            <a:ext cx="2403764" cy="2313710"/>
          </a:xfrm>
          <a:prstGeom prst="ellipse">
            <a:avLst/>
          </a:prstGeom>
          <a:solidFill>
            <a:srgbClr val="C00000">
              <a:alpha val="54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6CBBD6-513C-CBCC-BE4B-8783616B6071}"/>
              </a:ext>
            </a:extLst>
          </p:cNvPr>
          <p:cNvSpPr/>
          <p:nvPr/>
        </p:nvSpPr>
        <p:spPr>
          <a:xfrm>
            <a:off x="5015346" y="3706091"/>
            <a:ext cx="2403764" cy="2313710"/>
          </a:xfrm>
          <a:prstGeom prst="ellipse">
            <a:avLst/>
          </a:prstGeom>
          <a:solidFill>
            <a:srgbClr val="002060">
              <a:alpha val="54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D2F0E7-236E-BB2B-7CD7-AAD1AA6E20C1}"/>
              </a:ext>
            </a:extLst>
          </p:cNvPr>
          <p:cNvSpPr txBox="1"/>
          <p:nvPr/>
        </p:nvSpPr>
        <p:spPr>
          <a:xfrm>
            <a:off x="8238354" y="6396335"/>
            <a:ext cx="39536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We’d say A and B are disjoint</a:t>
            </a:r>
          </a:p>
        </p:txBody>
      </p:sp>
    </p:spTree>
    <p:extLst>
      <p:ext uri="{BB962C8B-B14F-4D97-AF65-F5344CB8AC3E}">
        <p14:creationId xmlns:p14="http://schemas.microsoft.com/office/powerpoint/2010/main" val="2133663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C5C51-7FE9-BAD5-97DE-94CFD1FE3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719286-E08F-A00B-E360-9CC93E3DC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contains all the elements of C (and then some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208CF7-79CC-33CB-4E77-F6FA9F7B7AEB}"/>
              </a:ext>
            </a:extLst>
          </p:cNvPr>
          <p:cNvSpPr/>
          <p:nvPr/>
        </p:nvSpPr>
        <p:spPr>
          <a:xfrm>
            <a:off x="838201" y="1925780"/>
            <a:ext cx="4287982" cy="3879275"/>
          </a:xfrm>
          <a:prstGeom prst="ellipse">
            <a:avLst/>
          </a:prstGeom>
          <a:solidFill>
            <a:srgbClr val="C00000">
              <a:alpha val="54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E007C2-AB30-BC5C-62FF-809D7D5E63E9}"/>
              </a:ext>
            </a:extLst>
          </p:cNvPr>
          <p:cNvSpPr txBox="1"/>
          <p:nvPr/>
        </p:nvSpPr>
        <p:spPr>
          <a:xfrm>
            <a:off x="5404826" y="3265252"/>
            <a:ext cx="270638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 ⊂ A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C is a subset of A</a:t>
            </a:r>
            <a:br>
              <a:rPr lang="en-US" sz="2400" dirty="0"/>
            </a:br>
            <a:r>
              <a:rPr lang="en-US" sz="2400" dirty="0"/>
              <a:t>or </a:t>
            </a:r>
            <a:br>
              <a:rPr lang="en-US" sz="2400" dirty="0"/>
            </a:br>
            <a:r>
              <a:rPr lang="en-US" sz="2400" dirty="0"/>
              <a:t>A is a superset of C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AFC01CD-1BFF-2803-980D-83202032D6F1}"/>
              </a:ext>
            </a:extLst>
          </p:cNvPr>
          <p:cNvSpPr/>
          <p:nvPr/>
        </p:nvSpPr>
        <p:spPr>
          <a:xfrm>
            <a:off x="1316181" y="2479964"/>
            <a:ext cx="1814945" cy="1177636"/>
          </a:xfrm>
          <a:prstGeom prst="ellipse">
            <a:avLst/>
          </a:prstGeom>
          <a:solidFill>
            <a:srgbClr val="FFFF00">
              <a:alpha val="54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CE1F4A-C39D-1AD9-C1D1-AD2EB5A2375E}"/>
              </a:ext>
            </a:extLst>
          </p:cNvPr>
          <p:cNvSpPr txBox="1"/>
          <p:nvPr/>
        </p:nvSpPr>
        <p:spPr>
          <a:xfrm>
            <a:off x="5266281" y="1690688"/>
            <a:ext cx="19511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Ex. </a:t>
            </a:r>
            <a:br>
              <a:rPr lang="en-US" sz="2400" dirty="0"/>
            </a:br>
            <a:r>
              <a:rPr lang="en-US" sz="2400" dirty="0"/>
              <a:t>A = {1, 2, 3, 4}</a:t>
            </a:r>
            <a:br>
              <a:rPr lang="en-US" sz="2400" dirty="0"/>
            </a:br>
            <a:r>
              <a:rPr lang="en-US" sz="2400" dirty="0"/>
              <a:t>C = {2, 3}</a:t>
            </a:r>
          </a:p>
        </p:txBody>
      </p:sp>
    </p:spTree>
    <p:extLst>
      <p:ext uri="{BB962C8B-B14F-4D97-AF65-F5344CB8AC3E}">
        <p14:creationId xmlns:p14="http://schemas.microsoft.com/office/powerpoint/2010/main" val="306199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748D-4877-C5AC-D025-0E0301928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Subset notation: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3A298-B888-9990-3E28-07EB67848A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673156" cy="4351338"/>
              </a:xfrm>
            </p:spPr>
            <p:txBody>
              <a:bodyPr/>
              <a:lstStyle/>
              <a:p>
                <a:r>
                  <a:rPr lang="en-US" dirty="0"/>
                  <a:t>X ⊂ Y &lt;-- subset operator</a:t>
                </a:r>
              </a:p>
              <a:p>
                <a:endParaRPr lang="en-US" dirty="0"/>
              </a:p>
              <a:p>
                <a:r>
                  <a:rPr lang="en-US" dirty="0"/>
                  <a:t>X ⊆ Y &lt;-- subset or equivalent</a:t>
                </a:r>
              </a:p>
              <a:p>
                <a:pPr lvl="1"/>
                <a:r>
                  <a:rPr lang="en-US" dirty="0"/>
                  <a:t>More general statement</a:t>
                </a:r>
              </a:p>
              <a:p>
                <a:endParaRPr lang="en-US" dirty="0"/>
              </a:p>
              <a:p>
                <a:r>
                  <a:rPr lang="en-US" dirty="0"/>
                  <a:t>Same as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Any finite set has 2</a:t>
                </a:r>
                <a:r>
                  <a:rPr lang="en-US" baseline="30000" dirty="0"/>
                  <a:t>n</a:t>
                </a:r>
                <a:r>
                  <a:rPr lang="en-US" dirty="0"/>
                  <a:t> distinct subsets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3A298-B888-9990-3E28-07EB67848A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673156" cy="4351338"/>
              </a:xfrm>
              <a:blipFill>
                <a:blip r:embed="rId2"/>
                <a:stretch>
                  <a:fillRect l="-1711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1AD557DE-AC8C-F56A-1060-C8A3C998EA60}"/>
              </a:ext>
            </a:extLst>
          </p:cNvPr>
          <p:cNvSpPr/>
          <p:nvPr/>
        </p:nvSpPr>
        <p:spPr>
          <a:xfrm>
            <a:off x="7987146" y="679908"/>
            <a:ext cx="2071253" cy="1948584"/>
          </a:xfrm>
          <a:prstGeom prst="ellipse">
            <a:avLst/>
          </a:prstGeom>
          <a:solidFill>
            <a:srgbClr val="C00000">
              <a:alpha val="54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227DF89-4BE4-F90B-0D40-61DCA5ABA8B8}"/>
              </a:ext>
            </a:extLst>
          </p:cNvPr>
          <p:cNvSpPr/>
          <p:nvPr/>
        </p:nvSpPr>
        <p:spPr>
          <a:xfrm>
            <a:off x="8437417" y="780933"/>
            <a:ext cx="876685" cy="591534"/>
          </a:xfrm>
          <a:prstGeom prst="ellipse">
            <a:avLst/>
          </a:prstGeom>
          <a:solidFill>
            <a:srgbClr val="FFFF00">
              <a:alpha val="54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DBBB796-3E64-B755-1268-52024E82D2FD}"/>
              </a:ext>
            </a:extLst>
          </p:cNvPr>
          <p:cNvSpPr/>
          <p:nvPr/>
        </p:nvSpPr>
        <p:spPr>
          <a:xfrm>
            <a:off x="7987146" y="3575508"/>
            <a:ext cx="2071253" cy="1948584"/>
          </a:xfrm>
          <a:prstGeom prst="ellipse">
            <a:avLst/>
          </a:prstGeom>
          <a:solidFill>
            <a:srgbClr val="C00000">
              <a:alpha val="54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23E509-127B-904D-4B7D-A581EBC41935}"/>
              </a:ext>
            </a:extLst>
          </p:cNvPr>
          <p:cNvSpPr/>
          <p:nvPr/>
        </p:nvSpPr>
        <p:spPr>
          <a:xfrm>
            <a:off x="7987147" y="3575508"/>
            <a:ext cx="2071252" cy="1948583"/>
          </a:xfrm>
          <a:prstGeom prst="ellipse">
            <a:avLst/>
          </a:prstGeom>
          <a:solidFill>
            <a:srgbClr val="FFFF00">
              <a:alpha val="48284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B7B69A-0A21-9C59-F9F0-0FBE7A90D634}"/>
              </a:ext>
            </a:extLst>
          </p:cNvPr>
          <p:cNvSpPr txBox="1"/>
          <p:nvPr/>
        </p:nvSpPr>
        <p:spPr>
          <a:xfrm>
            <a:off x="8506691" y="5777345"/>
            <a:ext cx="2359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in this case, A = C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84A8A0-DE5A-1C71-F19E-702CD0765DBE}"/>
              </a:ext>
            </a:extLst>
          </p:cNvPr>
          <p:cNvSpPr txBox="1"/>
          <p:nvPr/>
        </p:nvSpPr>
        <p:spPr>
          <a:xfrm>
            <a:off x="10354080" y="1027906"/>
            <a:ext cx="11729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 ⊂ A</a:t>
            </a:r>
            <a:br>
              <a:rPr lang="en-US" sz="2400" dirty="0"/>
            </a:br>
            <a:r>
              <a:rPr lang="en-US" sz="2400" dirty="0"/>
              <a:t>and</a:t>
            </a:r>
            <a:br>
              <a:rPr lang="en-US" sz="2400" dirty="0"/>
            </a:br>
            <a:r>
              <a:rPr lang="en-US" sz="2400" dirty="0"/>
              <a:t>C ⊆ 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6B7F54-F4DF-634F-1372-AEDEF02BC279}"/>
              </a:ext>
            </a:extLst>
          </p:cNvPr>
          <p:cNvSpPr txBox="1"/>
          <p:nvPr/>
        </p:nvSpPr>
        <p:spPr>
          <a:xfrm>
            <a:off x="10534189" y="4318966"/>
            <a:ext cx="1172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 ⊆ A</a:t>
            </a:r>
          </a:p>
        </p:txBody>
      </p:sp>
    </p:spTree>
    <p:extLst>
      <p:ext uri="{BB962C8B-B14F-4D97-AF65-F5344CB8AC3E}">
        <p14:creationId xmlns:p14="http://schemas.microsoft.com/office/powerpoint/2010/main" val="334901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7C7A5-CEE4-D4CF-2216-4B3BAD3E5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6"/>
            <a:ext cx="10515600" cy="1009652"/>
          </a:xfrm>
        </p:spPr>
        <p:txBody>
          <a:bodyPr/>
          <a:lstStyle/>
          <a:p>
            <a:r>
              <a:rPr lang="en-US" dirty="0"/>
              <a:t>Think of it this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09DF1-C489-DF20-9B17-03DE891A1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16782" cy="4351338"/>
          </a:xfrm>
        </p:spPr>
        <p:txBody>
          <a:bodyPr/>
          <a:lstStyle/>
          <a:p>
            <a:r>
              <a:rPr lang="en-US" dirty="0"/>
              <a:t>Start with an empty cardboard box</a:t>
            </a:r>
          </a:p>
          <a:p>
            <a:endParaRPr lang="en-US" dirty="0"/>
          </a:p>
          <a:p>
            <a:r>
              <a:rPr lang="en-US" dirty="0"/>
              <a:t>I put 3 things (a, b, and c) in that box</a:t>
            </a:r>
          </a:p>
          <a:p>
            <a:pPr lvl="1"/>
            <a:r>
              <a:rPr lang="en-US" dirty="0"/>
              <a:t>One at a time</a:t>
            </a:r>
          </a:p>
          <a:p>
            <a:pPr lvl="1"/>
            <a:endParaRPr lang="en-US" dirty="0"/>
          </a:p>
          <a:p>
            <a:r>
              <a:rPr lang="en-US" dirty="0"/>
              <a:t>I could have stopped at any time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CF107A-9A62-E333-C526-B26D19EDC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10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B5121C-0FA2-2919-05A7-0D8E4F67BBCF}"/>
              </a:ext>
            </a:extLst>
          </p:cNvPr>
          <p:cNvSpPr txBox="1"/>
          <p:nvPr/>
        </p:nvSpPr>
        <p:spPr>
          <a:xfrm>
            <a:off x="7578436" y="1825625"/>
            <a:ext cx="934871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X = {}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A536B5-0A3C-E94A-D032-F05769C7FC82}"/>
              </a:ext>
            </a:extLst>
          </p:cNvPr>
          <p:cNvSpPr txBox="1"/>
          <p:nvPr/>
        </p:nvSpPr>
        <p:spPr>
          <a:xfrm>
            <a:off x="7578436" y="2905780"/>
            <a:ext cx="185762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X = {a, b, c}</a:t>
            </a:r>
          </a:p>
        </p:txBody>
      </p:sp>
    </p:spTree>
    <p:extLst>
      <p:ext uri="{BB962C8B-B14F-4D97-AF65-F5344CB8AC3E}">
        <p14:creationId xmlns:p14="http://schemas.microsoft.com/office/powerpoint/2010/main" val="270712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at Is The Maybe Box Decluttering Hack?">
            <a:extLst>
              <a:ext uri="{FF2B5EF4-FFF2-40B4-BE49-F238E27FC236}">
                <a16:creationId xmlns:a16="http://schemas.microsoft.com/office/drawing/2014/main" id="{8923E844-C658-8335-6058-5ECB3FFA2F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4" r="6306"/>
          <a:stretch>
            <a:fillRect/>
          </a:stretch>
        </p:blipFill>
        <p:spPr bwMode="auto">
          <a:xfrm>
            <a:off x="6941127" y="3429000"/>
            <a:ext cx="5250873" cy="3454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1A3C9D-43E9-8403-6AC9-3B4F83B6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6233"/>
            <a:ext cx="10515600" cy="1325563"/>
          </a:xfrm>
        </p:spPr>
        <p:txBody>
          <a:bodyPr/>
          <a:lstStyle/>
          <a:p>
            <a:r>
              <a:rPr lang="en-US" dirty="0"/>
              <a:t>Or maybe another way?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6C16F-F312-D806-7F6D-E8F4B34CC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5964"/>
            <a:ext cx="10515600" cy="5347854"/>
          </a:xfrm>
        </p:spPr>
        <p:txBody>
          <a:bodyPr/>
          <a:lstStyle/>
          <a:p>
            <a:r>
              <a:rPr lang="en-US" dirty="0"/>
              <a:t>Lets say I have a box full of stuff</a:t>
            </a:r>
          </a:p>
          <a:p>
            <a:r>
              <a:rPr lang="en-US" dirty="0"/>
              <a:t>Any thing(s) I can remove from this box can be described as a set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I could remove the piggy bank </a:t>
            </a:r>
          </a:p>
          <a:p>
            <a:pPr lvl="1"/>
            <a:r>
              <a:rPr lang="en-US" dirty="0"/>
              <a:t>X = {piggy bank}</a:t>
            </a:r>
          </a:p>
          <a:p>
            <a:r>
              <a:rPr lang="en-US" dirty="0"/>
              <a:t>I could remove the piggy bank AND the cactus</a:t>
            </a:r>
          </a:p>
          <a:p>
            <a:pPr lvl="1"/>
            <a:r>
              <a:rPr lang="en-US" dirty="0"/>
              <a:t>Y = {piggy bank, cactus}</a:t>
            </a:r>
          </a:p>
          <a:p>
            <a:endParaRPr lang="en-US" dirty="0"/>
          </a:p>
          <a:p>
            <a:r>
              <a:rPr lang="en-US" dirty="0"/>
              <a:t>OR I could not remove anything</a:t>
            </a:r>
          </a:p>
          <a:p>
            <a:pPr lvl="1"/>
            <a:r>
              <a:rPr lang="en-US" dirty="0"/>
              <a:t>Z = {}</a:t>
            </a:r>
          </a:p>
          <a:p>
            <a:r>
              <a:rPr lang="en-US" dirty="0"/>
              <a:t>Since that’s always an option ∅ ⊂ Box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444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F8AF64-E0F9-8670-0656-22EB432F2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502" y="643467"/>
            <a:ext cx="6421978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4543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5996F-820A-19CE-78B6-9650D80B2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62270-D21A-CFFD-7E1E-AEAF7C90A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781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Suppose that X ⊆ Y  and Y ⊆  Z  Does this mean that X ⊆ Z ? 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How do we translate this given the following propositions?</a:t>
            </a:r>
          </a:p>
          <a:p>
            <a:pPr lvl="1"/>
            <a:r>
              <a:rPr lang="en-US" dirty="0"/>
              <a:t>P(a) = a ∈ Z</a:t>
            </a:r>
          </a:p>
          <a:p>
            <a:pPr lvl="1"/>
            <a:r>
              <a:rPr lang="en-US" dirty="0"/>
              <a:t>R(c) = c ∈ X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A957ED-7767-CD7B-2E49-C5F30E748687}"/>
              </a:ext>
            </a:extLst>
          </p:cNvPr>
          <p:cNvSpPr txBox="1"/>
          <p:nvPr/>
        </p:nvSpPr>
        <p:spPr>
          <a:xfrm>
            <a:off x="3297380" y="3276437"/>
            <a:ext cx="8797638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2700" lvl="1"/>
            <a:r>
              <a:rPr lang="en-US" sz="2400" dirty="0"/>
              <a:t>∀n ∈ (X ∪ Y ∪ Z),  R(n) </a:t>
            </a:r>
            <a:r>
              <a:rPr lang="en-US" sz="2400" dirty="0">
                <a:sym typeface="Wingdings" pitchFamily="2" charset="2"/>
              </a:rPr>
              <a:t> P(n)</a:t>
            </a:r>
          </a:p>
          <a:p>
            <a:pPr marL="12700" lvl="1"/>
            <a:r>
              <a:rPr lang="en-US" sz="2400" dirty="0"/>
              <a:t>For all elements in X or Y or Z, if that element is in X then it is in Z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854A8-8E6D-2B57-3073-F16EAAA57D3D}"/>
              </a:ext>
            </a:extLst>
          </p:cNvPr>
          <p:cNvSpPr txBox="1"/>
          <p:nvPr/>
        </p:nvSpPr>
        <p:spPr>
          <a:xfrm>
            <a:off x="8628907" y="6492875"/>
            <a:ext cx="3556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We’ll prove this in a different class</a:t>
            </a:r>
          </a:p>
        </p:txBody>
      </p:sp>
    </p:spTree>
    <p:extLst>
      <p:ext uri="{BB962C8B-B14F-4D97-AF65-F5344CB8AC3E}">
        <p14:creationId xmlns:p14="http://schemas.microsoft.com/office/powerpoint/2010/main" val="2970717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46C14-36C2-D935-99D9-58B58349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Intersection</a:t>
            </a:r>
            <a:br>
              <a:rPr lang="en-US" dirty="0"/>
            </a:br>
            <a:r>
              <a:rPr lang="en-US" dirty="0"/>
              <a:t>In both A and 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D21E7-258B-196F-1585-C644604F1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∩ B = {x |x ∈ A </a:t>
            </a:r>
            <a:r>
              <a:rPr lang="en-US" b="1" dirty="0"/>
              <a:t>and</a:t>
            </a:r>
            <a:r>
              <a:rPr lang="en-US" dirty="0"/>
              <a:t> x ∈ B}</a:t>
            </a:r>
          </a:p>
          <a:p>
            <a:endParaRPr lang="en-US" dirty="0"/>
          </a:p>
          <a:p>
            <a:r>
              <a:rPr lang="en-US" dirty="0"/>
              <a:t>A = </a:t>
            </a:r>
            <a:r>
              <a:rPr lang="en-US" dirty="0">
                <a:solidFill>
                  <a:srgbClr val="C00000"/>
                </a:solidFill>
              </a:rPr>
              <a:t>{1, 2, 3, 4}</a:t>
            </a:r>
          </a:p>
          <a:p>
            <a:r>
              <a:rPr lang="en-US" dirty="0"/>
              <a:t>B =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{2, 3, 4, 6, 7, 9}</a:t>
            </a:r>
          </a:p>
          <a:p>
            <a:endParaRPr lang="en-US" dirty="0"/>
          </a:p>
          <a:p>
            <a:r>
              <a:rPr lang="en-US" dirty="0"/>
              <a:t>A ∩ B = {</a:t>
            </a:r>
            <a:r>
              <a:rPr lang="en-US" dirty="0">
                <a:solidFill>
                  <a:srgbClr val="7030A0"/>
                </a:solidFill>
              </a:rPr>
              <a:t>2, 3, 4</a:t>
            </a: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EC2796B-1816-7354-D432-D0397256430C}"/>
              </a:ext>
            </a:extLst>
          </p:cNvPr>
          <p:cNvSpPr/>
          <p:nvPr/>
        </p:nvSpPr>
        <p:spPr>
          <a:xfrm>
            <a:off x="9393382" y="3686463"/>
            <a:ext cx="2798618" cy="2646219"/>
          </a:xfrm>
          <a:prstGeom prst="ellipse">
            <a:avLst/>
          </a:prstGeom>
          <a:solidFill>
            <a:schemeClr val="bg1">
              <a:alpha val="72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8A27456-29D0-0FC9-313D-65B02191ACB1}"/>
              </a:ext>
            </a:extLst>
          </p:cNvPr>
          <p:cNvSpPr/>
          <p:nvPr/>
        </p:nvSpPr>
        <p:spPr>
          <a:xfrm>
            <a:off x="7384471" y="3665681"/>
            <a:ext cx="2798619" cy="2646219"/>
          </a:xfrm>
          <a:prstGeom prst="ellipse">
            <a:avLst/>
          </a:prstGeom>
          <a:solidFill>
            <a:schemeClr val="bg1">
              <a:alpha val="72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1458316-262F-0C3B-A9F3-8481A6AB5324}"/>
              </a:ext>
            </a:extLst>
          </p:cNvPr>
          <p:cNvSpPr/>
          <p:nvPr/>
        </p:nvSpPr>
        <p:spPr>
          <a:xfrm>
            <a:off x="9393382" y="4093043"/>
            <a:ext cx="746413" cy="1833058"/>
          </a:xfrm>
          <a:prstGeom prst="ellipse">
            <a:avLst/>
          </a:prstGeom>
          <a:solidFill>
            <a:srgbClr val="00B050">
              <a:alpha val="72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940464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BBF2-FF41-5A14-D0B6-1BB894AE2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Union </a:t>
            </a:r>
            <a:br>
              <a:rPr lang="en-US" dirty="0"/>
            </a:br>
            <a:r>
              <a:rPr lang="en-US" dirty="0"/>
              <a:t>In either A or 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91D10-F4C8-84C6-711E-2EB837921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∪ B = {x | x ∈ A </a:t>
            </a:r>
            <a:r>
              <a:rPr lang="en-US" b="1" dirty="0"/>
              <a:t>or</a:t>
            </a:r>
            <a:r>
              <a:rPr lang="en-US" dirty="0"/>
              <a:t> x ∈ B}</a:t>
            </a:r>
          </a:p>
          <a:p>
            <a:endParaRPr lang="en-US" dirty="0"/>
          </a:p>
          <a:p>
            <a:r>
              <a:rPr lang="en-US" dirty="0"/>
              <a:t>A = </a:t>
            </a:r>
            <a:r>
              <a:rPr lang="en-US" dirty="0">
                <a:solidFill>
                  <a:srgbClr val="C00000"/>
                </a:solidFill>
              </a:rPr>
              <a:t>{1, 2, 3, 4}</a:t>
            </a:r>
          </a:p>
          <a:p>
            <a:r>
              <a:rPr lang="en-US" dirty="0"/>
              <a:t>B =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{2, 3, 4, 6, 7, 9}</a:t>
            </a:r>
          </a:p>
          <a:p>
            <a:endParaRPr lang="en-US" dirty="0"/>
          </a:p>
          <a:p>
            <a:r>
              <a:rPr lang="en-US" dirty="0"/>
              <a:t>A ∪ B = {</a:t>
            </a:r>
            <a:r>
              <a:rPr lang="en-US" dirty="0">
                <a:solidFill>
                  <a:srgbClr val="C00000"/>
                </a:solidFill>
              </a:rPr>
              <a:t>1</a:t>
            </a:r>
            <a:r>
              <a:rPr lang="en-US" dirty="0"/>
              <a:t>,</a:t>
            </a:r>
            <a:r>
              <a:rPr lang="en-US" dirty="0">
                <a:solidFill>
                  <a:srgbClr val="7030A0"/>
                </a:solidFill>
              </a:rPr>
              <a:t> 2, 3, 4,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6, 7, 9</a:t>
            </a:r>
            <a:r>
              <a:rPr lang="en-US" dirty="0"/>
              <a:t>}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45D1845-EAD9-B8B2-DEC3-E6DE139516FD}"/>
              </a:ext>
            </a:extLst>
          </p:cNvPr>
          <p:cNvSpPr/>
          <p:nvPr/>
        </p:nvSpPr>
        <p:spPr>
          <a:xfrm>
            <a:off x="9393383" y="2715491"/>
            <a:ext cx="2798618" cy="2646219"/>
          </a:xfrm>
          <a:prstGeom prst="ellipse">
            <a:avLst/>
          </a:prstGeom>
          <a:solidFill>
            <a:srgbClr val="00B050">
              <a:alpha val="72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717A8F-3894-0820-3462-E9C10A9E9B27}"/>
              </a:ext>
            </a:extLst>
          </p:cNvPr>
          <p:cNvSpPr/>
          <p:nvPr/>
        </p:nvSpPr>
        <p:spPr>
          <a:xfrm>
            <a:off x="7384472" y="2694709"/>
            <a:ext cx="2798619" cy="2646219"/>
          </a:xfrm>
          <a:prstGeom prst="ellipse">
            <a:avLst/>
          </a:prstGeom>
          <a:solidFill>
            <a:srgbClr val="00B050">
              <a:alpha val="72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F172EE-630A-432A-6FEE-BFB9A1B0ADC2}"/>
              </a:ext>
            </a:extLst>
          </p:cNvPr>
          <p:cNvSpPr txBox="1"/>
          <p:nvPr/>
        </p:nvSpPr>
        <p:spPr>
          <a:xfrm>
            <a:off x="9366436" y="6488668"/>
            <a:ext cx="2852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mix these up so badly too </a:t>
            </a:r>
          </a:p>
        </p:txBody>
      </p:sp>
    </p:spTree>
    <p:extLst>
      <p:ext uri="{BB962C8B-B14F-4D97-AF65-F5344CB8AC3E}">
        <p14:creationId xmlns:p14="http://schemas.microsoft.com/office/powerpoint/2010/main" val="4030273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DDF3-9D29-0878-1116-33DC89676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01436-2B04-CCAD-E7C2-F20D8B8A1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– Everything EXCEPT what is in A</a:t>
            </a:r>
          </a:p>
          <a:p>
            <a:pPr lvl="1"/>
            <a:r>
              <a:rPr lang="en-US" dirty="0"/>
              <a:t>All possible ice cream flavors except vanilla, chocolate, and strawberry</a:t>
            </a:r>
          </a:p>
          <a:p>
            <a:endParaRPr lang="en-US" dirty="0"/>
          </a:p>
          <a:p>
            <a:r>
              <a:rPr lang="en-US" dirty="0"/>
              <a:t>Also sometimes A</a:t>
            </a:r>
            <a:r>
              <a:rPr lang="en-US" baseline="30000" dirty="0"/>
              <a:t>C</a:t>
            </a:r>
          </a:p>
          <a:p>
            <a:pPr lvl="1"/>
            <a:r>
              <a:rPr lang="en-US" dirty="0"/>
              <a:t>Which is a lot easier for me to type</a:t>
            </a:r>
          </a:p>
          <a:p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D435E84-CADB-CA2E-A8E8-B701BBBCD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549275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B8D16155-A744-2215-52D4-1083AB13D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-396875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33894E-0E51-FE5E-DE29-6023D21AC444}"/>
              </a:ext>
            </a:extLst>
          </p:cNvPr>
          <p:cNvCxnSpPr/>
          <p:nvPr/>
        </p:nvCxnSpPr>
        <p:spPr>
          <a:xfrm>
            <a:off x="1108364" y="1825625"/>
            <a:ext cx="2909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6155423-7C39-4C45-B8A0-B4B8B3781DD3}"/>
              </a:ext>
            </a:extLst>
          </p:cNvPr>
          <p:cNvSpPr/>
          <p:nvPr/>
        </p:nvSpPr>
        <p:spPr>
          <a:xfrm>
            <a:off x="5292436" y="2909455"/>
            <a:ext cx="6899564" cy="394854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AEFD8FF-B099-C583-AEB2-936DE475B4FF}"/>
              </a:ext>
            </a:extLst>
          </p:cNvPr>
          <p:cNvSpPr/>
          <p:nvPr/>
        </p:nvSpPr>
        <p:spPr>
          <a:xfrm>
            <a:off x="6192982" y="3948545"/>
            <a:ext cx="2466109" cy="222841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A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70114B-5FD5-E8FB-0C45-2F38633990EC}"/>
              </a:ext>
            </a:extLst>
          </p:cNvPr>
          <p:cNvSpPr txBox="1"/>
          <p:nvPr/>
        </p:nvSpPr>
        <p:spPr>
          <a:xfrm>
            <a:off x="443345" y="4918364"/>
            <a:ext cx="33259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P is a set of all prime numbers</a:t>
            </a:r>
          </a:p>
          <a:p>
            <a:endParaRPr lang="en-US" dirty="0"/>
          </a:p>
          <a:p>
            <a:r>
              <a:rPr lang="en-US" dirty="0"/>
              <a:t>Name some numbers in P</a:t>
            </a:r>
            <a:r>
              <a:rPr lang="en-US" baseline="30000" dirty="0"/>
              <a:t>C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089173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97685-1BE5-FA87-DC59-809F3BC24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There’s always a bigger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E08F0-6BC5-C807-CA7F-1B9462AA5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49927"/>
            <a:ext cx="10661073" cy="3255818"/>
          </a:xfrm>
        </p:spPr>
        <p:txBody>
          <a:bodyPr>
            <a:normAutofit/>
          </a:bodyPr>
          <a:lstStyle/>
          <a:p>
            <a:r>
              <a:rPr lang="en-US" dirty="0"/>
              <a:t>A = {x| x is even and x ∈ </a:t>
            </a:r>
            <a:r>
              <a:rPr lang="en-US" dirty="0" err="1"/>
              <a:t>ℤ</a:t>
            </a:r>
            <a:r>
              <a:rPr lang="en-US" dirty="0"/>
              <a:t>} </a:t>
            </a:r>
          </a:p>
          <a:p>
            <a:pPr lvl="1"/>
            <a:r>
              <a:rPr lang="en-US" dirty="0"/>
              <a:t>All even integers</a:t>
            </a:r>
          </a:p>
          <a:p>
            <a:r>
              <a:rPr lang="en-US" dirty="0"/>
              <a:t>A ⊂ </a:t>
            </a:r>
            <a:r>
              <a:rPr lang="en-US" dirty="0" err="1"/>
              <a:t>ℤ</a:t>
            </a:r>
            <a:endParaRPr lang="en-US" dirty="0"/>
          </a:p>
          <a:p>
            <a:pPr lvl="1"/>
            <a:r>
              <a:rPr lang="en-US" dirty="0" err="1"/>
              <a:t>ℤ</a:t>
            </a:r>
            <a:r>
              <a:rPr lang="en-US" dirty="0"/>
              <a:t> is all integers</a:t>
            </a:r>
          </a:p>
          <a:p>
            <a:pPr lvl="1"/>
            <a:r>
              <a:rPr lang="en-US" dirty="0"/>
              <a:t>A is just some of them</a:t>
            </a:r>
          </a:p>
          <a:p>
            <a:r>
              <a:rPr lang="en-US" dirty="0"/>
              <a:t> A ⊂ </a:t>
            </a:r>
            <a:r>
              <a:rPr lang="en-US" dirty="0" err="1"/>
              <a:t>ℤ</a:t>
            </a:r>
            <a:r>
              <a:rPr lang="en-US" dirty="0"/>
              <a:t> ⊂ </a:t>
            </a:r>
            <a:r>
              <a:rPr lang="en-US" dirty="0" err="1"/>
              <a:t>ℚ</a:t>
            </a:r>
            <a:r>
              <a:rPr lang="en-US" dirty="0"/>
              <a:t> ⊂ </a:t>
            </a:r>
            <a:r>
              <a:rPr lang="en-US" dirty="0" err="1"/>
              <a:t>ℝ</a:t>
            </a:r>
            <a:r>
              <a:rPr lang="en-US" dirty="0"/>
              <a:t> ⊂ All numbers (C) ⊂ All things on earth  ⊂ All things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D59269-C6D5-6317-EAA6-E29B986E9B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005" b="12638"/>
          <a:stretch>
            <a:fillRect/>
          </a:stretch>
        </p:blipFill>
        <p:spPr>
          <a:xfrm>
            <a:off x="8977658" y="4059021"/>
            <a:ext cx="3214341" cy="25858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F36F58-033C-6755-4B8A-96B096CE0EBD}"/>
              </a:ext>
            </a:extLst>
          </p:cNvPr>
          <p:cNvSpPr txBox="1"/>
          <p:nvPr/>
        </p:nvSpPr>
        <p:spPr>
          <a:xfrm>
            <a:off x="8977659" y="6651762"/>
            <a:ext cx="32143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www.mathsisfun.com</a:t>
            </a:r>
            <a:r>
              <a:rPr lang="en-US" sz="1000" dirty="0"/>
              <a:t>/sets/number-</a:t>
            </a:r>
            <a:r>
              <a:rPr lang="en-US" sz="1000" dirty="0" err="1"/>
              <a:t>types.html</a:t>
            </a:r>
            <a:endParaRPr 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FF29B0-1C06-F16C-51E7-B25E90A91E66}"/>
              </a:ext>
            </a:extLst>
          </p:cNvPr>
          <p:cNvSpPr txBox="1"/>
          <p:nvPr/>
        </p:nvSpPr>
        <p:spPr>
          <a:xfrm>
            <a:off x="1149927" y="4807527"/>
            <a:ext cx="652549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IF A = {x| x is even and x ∈ </a:t>
            </a:r>
            <a:r>
              <a:rPr lang="en-US" sz="2800" dirty="0" err="1"/>
              <a:t>ℤ</a:t>
            </a:r>
            <a:r>
              <a:rPr lang="en-US" sz="2800" dirty="0"/>
              <a:t>} </a:t>
            </a:r>
          </a:p>
          <a:p>
            <a:endParaRPr lang="en-US" sz="2800" dirty="0"/>
          </a:p>
          <a:p>
            <a:r>
              <a:rPr lang="en-US" sz="2800" dirty="0"/>
              <a:t>What is A</a:t>
            </a:r>
            <a:r>
              <a:rPr lang="en-US" sz="2800" baseline="30000" dirty="0"/>
              <a:t>C</a:t>
            </a:r>
            <a:r>
              <a:rPr lang="en-US" sz="2800" dirty="0"/>
              <a:t>?</a:t>
            </a:r>
          </a:p>
          <a:p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427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263FE-2C56-A3EA-A16C-B045035AD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Depends</a:t>
            </a:r>
            <a:br>
              <a:rPr lang="en-US" dirty="0"/>
            </a:br>
            <a:r>
              <a:rPr lang="en-US" dirty="0"/>
              <a:t>We decide what the context 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FAD84-83F2-8116-8D51-996F07250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= {all even integers}</a:t>
            </a:r>
          </a:p>
          <a:p>
            <a:endParaRPr lang="en-US" dirty="0"/>
          </a:p>
          <a:p>
            <a:r>
              <a:rPr lang="en-US" dirty="0"/>
              <a:t>If our ‘universe’ is </a:t>
            </a:r>
            <a:r>
              <a:rPr lang="en-US" dirty="0" err="1"/>
              <a:t>ℤ</a:t>
            </a:r>
            <a:r>
              <a:rPr lang="en-US" dirty="0"/>
              <a:t>, then A</a:t>
            </a:r>
            <a:r>
              <a:rPr lang="en-US" baseline="30000" dirty="0"/>
              <a:t>C </a:t>
            </a:r>
            <a:r>
              <a:rPr lang="en-US" dirty="0"/>
              <a:t>is all of the odd integers  </a:t>
            </a:r>
          </a:p>
          <a:p>
            <a:endParaRPr lang="en-US" dirty="0"/>
          </a:p>
          <a:p>
            <a:r>
              <a:rPr lang="en-US" dirty="0"/>
              <a:t>If our ‘universe’ is </a:t>
            </a:r>
            <a:r>
              <a:rPr lang="en-US" dirty="0" err="1"/>
              <a:t>ℝ</a:t>
            </a:r>
            <a:r>
              <a:rPr lang="en-US" dirty="0"/>
              <a:t>, then A</a:t>
            </a:r>
            <a:r>
              <a:rPr lang="en-US" baseline="30000" dirty="0"/>
              <a:t>C</a:t>
            </a:r>
            <a:r>
              <a:rPr lang="en-US" dirty="0"/>
              <a:t> is all of the odd integers and any even number with a decimal point</a:t>
            </a:r>
          </a:p>
        </p:txBody>
      </p:sp>
    </p:spTree>
    <p:extLst>
      <p:ext uri="{BB962C8B-B14F-4D97-AF65-F5344CB8AC3E}">
        <p14:creationId xmlns:p14="http://schemas.microsoft.com/office/powerpoint/2010/main" val="2606829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A90ED-094B-EBE1-3D83-A2029FA42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ED8E0-E5F0-A07B-BBBD-D80CDD319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Everything in one that isn’t in the other</a:t>
            </a:r>
          </a:p>
          <a:p>
            <a:endParaRPr lang="en-US" dirty="0"/>
          </a:p>
          <a:p>
            <a:r>
              <a:rPr lang="en-US" dirty="0"/>
              <a:t>Order matters in your operators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0F25C9A-A5CD-DCCD-661C-120A839E6DFD}"/>
              </a:ext>
            </a:extLst>
          </p:cNvPr>
          <p:cNvSpPr/>
          <p:nvPr/>
        </p:nvSpPr>
        <p:spPr>
          <a:xfrm>
            <a:off x="9393382" y="3686463"/>
            <a:ext cx="2798618" cy="2646219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B567E3-71A9-39F6-34B9-43E65DA44E7F}"/>
              </a:ext>
            </a:extLst>
          </p:cNvPr>
          <p:cNvSpPr/>
          <p:nvPr/>
        </p:nvSpPr>
        <p:spPr>
          <a:xfrm>
            <a:off x="7384471" y="3665681"/>
            <a:ext cx="2798619" cy="264621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1C3A9A-92DD-EE6A-B279-1204E4794207}"/>
              </a:ext>
            </a:extLst>
          </p:cNvPr>
          <p:cNvSpPr txBox="1"/>
          <p:nvPr/>
        </p:nvSpPr>
        <p:spPr>
          <a:xfrm>
            <a:off x="7841674" y="6353464"/>
            <a:ext cx="41072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 − B = {</a:t>
            </a:r>
            <a:r>
              <a:rPr lang="en-US" sz="2800" dirty="0" err="1"/>
              <a:t>x|x</a:t>
            </a:r>
            <a:r>
              <a:rPr lang="en-US" sz="2800" dirty="0"/>
              <a:t> ∈ A and x /∈ B}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858DE19-18DE-A6B2-5143-8E6CC4ED21CB}"/>
              </a:ext>
            </a:extLst>
          </p:cNvPr>
          <p:cNvSpPr/>
          <p:nvPr/>
        </p:nvSpPr>
        <p:spPr>
          <a:xfrm>
            <a:off x="7384471" y="0"/>
            <a:ext cx="2798619" cy="2646219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45EB7A-7AD6-9DEF-C6C1-5108FFC5AAA4}"/>
              </a:ext>
            </a:extLst>
          </p:cNvPr>
          <p:cNvSpPr txBox="1"/>
          <p:nvPr/>
        </p:nvSpPr>
        <p:spPr>
          <a:xfrm>
            <a:off x="7841674" y="2687783"/>
            <a:ext cx="41072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 − A = {</a:t>
            </a:r>
            <a:r>
              <a:rPr lang="en-US" sz="2800" dirty="0" err="1"/>
              <a:t>x|x</a:t>
            </a:r>
            <a:r>
              <a:rPr lang="en-US" sz="2800" dirty="0"/>
              <a:t> ∈ B and x /∈ A}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DB0FAC-B877-09DE-7F49-14307BB58C79}"/>
              </a:ext>
            </a:extLst>
          </p:cNvPr>
          <p:cNvSpPr/>
          <p:nvPr/>
        </p:nvSpPr>
        <p:spPr>
          <a:xfrm>
            <a:off x="9393382" y="20782"/>
            <a:ext cx="2798618" cy="264621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5713099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3A03F-6B8B-152C-A1E8-21D166EF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Symmetric Difference (A or B but not A and B)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1E92F-804F-1676-004B-14E99B9CF1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dirty="0"/>
                  <a:t> B = {</a:t>
                </a:r>
                <a:r>
                  <a:rPr lang="en-US" dirty="0" err="1"/>
                  <a:t>x|x</a:t>
                </a:r>
                <a:r>
                  <a:rPr lang="en-US" dirty="0"/>
                  <a:t> ∈ A and x /∈ B} ∪ {</a:t>
                </a:r>
                <a:r>
                  <a:rPr lang="en-US" dirty="0" err="1"/>
                  <a:t>x|x</a:t>
                </a:r>
                <a:r>
                  <a:rPr lang="en-US" dirty="0"/>
                  <a:t> ∈ B and x /∈ A}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1E92F-804F-1676-004B-14E99B9CF1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EA701E7D-2721-79F0-2F8B-1B82B2F45EE8}"/>
              </a:ext>
            </a:extLst>
          </p:cNvPr>
          <p:cNvSpPr/>
          <p:nvPr/>
        </p:nvSpPr>
        <p:spPr>
          <a:xfrm>
            <a:off x="9393382" y="3686463"/>
            <a:ext cx="2798618" cy="2646219"/>
          </a:xfrm>
          <a:prstGeom prst="ellipse">
            <a:avLst/>
          </a:prstGeom>
          <a:solidFill>
            <a:srgbClr val="00B050">
              <a:alpha val="72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33D0E13-7FDA-1DEE-8F34-ED833DBEAD62}"/>
              </a:ext>
            </a:extLst>
          </p:cNvPr>
          <p:cNvSpPr/>
          <p:nvPr/>
        </p:nvSpPr>
        <p:spPr>
          <a:xfrm>
            <a:off x="7384471" y="3665681"/>
            <a:ext cx="2798619" cy="2646219"/>
          </a:xfrm>
          <a:prstGeom prst="ellipse">
            <a:avLst/>
          </a:prstGeom>
          <a:solidFill>
            <a:srgbClr val="00B050">
              <a:alpha val="72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81E551-9E33-E4EC-9AAC-54AEDC507A5E}"/>
              </a:ext>
            </a:extLst>
          </p:cNvPr>
          <p:cNvSpPr/>
          <p:nvPr/>
        </p:nvSpPr>
        <p:spPr>
          <a:xfrm>
            <a:off x="9393382" y="4093043"/>
            <a:ext cx="746413" cy="183305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654865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EC05D-F7BE-6E5C-28F6-B4D410DFA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A9543-F5FE-CB15-D2C8-B341F7131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59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One common way to create a database is through structured tables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 each user has an ID, a first name, last name, and email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SQL is one language</a:t>
            </a:r>
            <a:br>
              <a:rPr lang="en-US" dirty="0"/>
            </a:br>
            <a:r>
              <a:rPr lang="en-US" dirty="0"/>
              <a:t>use for accessing data</a:t>
            </a:r>
            <a:br>
              <a:rPr lang="en-US" dirty="0"/>
            </a:br>
            <a:r>
              <a:rPr lang="en-US" dirty="0"/>
              <a:t>in this structure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DDE9784C-0CC6-4EBE-BBC8-1071C00DC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526" y="3352048"/>
            <a:ext cx="7384473" cy="3505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44739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01927-937D-6071-4083-342D77666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" y="0"/>
            <a:ext cx="12115800" cy="4351338"/>
          </a:xfrm>
        </p:spPr>
        <p:txBody>
          <a:bodyPr>
            <a:normAutofit/>
          </a:bodyPr>
          <a:lstStyle/>
          <a:p>
            <a:r>
              <a:rPr lang="en-US" dirty="0"/>
              <a:t>SQL allows you to grab relevant data from more than one table at a time</a:t>
            </a:r>
          </a:p>
          <a:p>
            <a:endParaRPr lang="en-US" dirty="0"/>
          </a:p>
          <a:p>
            <a:r>
              <a:rPr lang="en-US" dirty="0"/>
              <a:t>Maybe you want the user’s first name, and the scores of all movies they’d rated</a:t>
            </a:r>
          </a:p>
          <a:p>
            <a:endParaRPr lang="en-US" dirty="0"/>
          </a:p>
          <a:p>
            <a:r>
              <a:rPr lang="en-US" dirty="0"/>
              <a:t>Requires information from Ratings, Users, and Movies in this structure</a:t>
            </a:r>
          </a:p>
          <a:p>
            <a:endParaRPr lang="en-US" dirty="0"/>
          </a:p>
          <a:p>
            <a:r>
              <a:rPr lang="en-US" dirty="0"/>
              <a:t>The word Join allows us to merge and gather relevant data from several tables at once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B69761-8032-E738-BFB7-2B052EFFE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981871"/>
            <a:ext cx="6057900" cy="2876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5365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5B830-3F49-5EBC-98BF-FBFD6B51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C721F-B503-3F8A-F79F-B885CB180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0067" y="5987328"/>
            <a:ext cx="3381933" cy="8706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Should look familiar…</a:t>
            </a:r>
          </a:p>
        </p:txBody>
      </p:sp>
      <p:pic>
        <p:nvPicPr>
          <p:cNvPr id="4" name="Picture 2" descr="Set Theory: the Method To Database Madness | by Vaidehi Joshi | basecs |  Medium">
            <a:extLst>
              <a:ext uri="{FF2B5EF4-FFF2-40B4-BE49-F238E27FC236}">
                <a16:creationId xmlns:a16="http://schemas.microsoft.com/office/drawing/2014/main" id="{227ADCC5-4290-A47F-88BF-C0A08A6F2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5125"/>
            <a:ext cx="7971867" cy="6271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67472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40F8E-668C-C92E-AFA8-90A56E41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3316"/>
            <a:ext cx="3567545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How could we describe these in set theory?</a:t>
            </a:r>
          </a:p>
        </p:txBody>
      </p:sp>
      <p:pic>
        <p:nvPicPr>
          <p:cNvPr id="4" name="Picture 2" descr="Set Theory: the Method To Database Madness | by Vaidehi Joshi | basecs |  Medium">
            <a:extLst>
              <a:ext uri="{FF2B5EF4-FFF2-40B4-BE49-F238E27FC236}">
                <a16:creationId xmlns:a16="http://schemas.microsoft.com/office/drawing/2014/main" id="{A2844FA9-ABA7-42FC-239B-23EC9A97A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0227" y="0"/>
            <a:ext cx="8472055" cy="6664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B060F3-CB86-360B-70F5-27DD154591FF}"/>
              </a:ext>
            </a:extLst>
          </p:cNvPr>
          <p:cNvSpPr txBox="1"/>
          <p:nvPr/>
        </p:nvSpPr>
        <p:spPr>
          <a:xfrm>
            <a:off x="3409950" y="193316"/>
            <a:ext cx="59574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B3095D-0A96-4480-8113-4D0428D32F47}"/>
              </a:ext>
            </a:extLst>
          </p:cNvPr>
          <p:cNvSpPr txBox="1"/>
          <p:nvPr/>
        </p:nvSpPr>
        <p:spPr>
          <a:xfrm>
            <a:off x="3269672" y="2563294"/>
            <a:ext cx="59574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7F9CF3-D561-993D-4F21-F3E9B46B2101}"/>
              </a:ext>
            </a:extLst>
          </p:cNvPr>
          <p:cNvSpPr txBox="1"/>
          <p:nvPr/>
        </p:nvSpPr>
        <p:spPr>
          <a:xfrm>
            <a:off x="6262254" y="4336676"/>
            <a:ext cx="59574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0FCF36-B16B-BCC4-6367-5A9780786106}"/>
              </a:ext>
            </a:extLst>
          </p:cNvPr>
          <p:cNvSpPr txBox="1"/>
          <p:nvPr/>
        </p:nvSpPr>
        <p:spPr>
          <a:xfrm>
            <a:off x="8700654" y="4336676"/>
            <a:ext cx="59574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131555-4C27-45C1-3465-FE91CFA2BCC5}"/>
              </a:ext>
            </a:extLst>
          </p:cNvPr>
          <p:cNvSpPr txBox="1"/>
          <p:nvPr/>
        </p:nvSpPr>
        <p:spPr>
          <a:xfrm>
            <a:off x="9490364" y="2452457"/>
            <a:ext cx="59574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154EEE-5598-ED40-98AB-327A3278B30C}"/>
              </a:ext>
            </a:extLst>
          </p:cNvPr>
          <p:cNvSpPr txBox="1"/>
          <p:nvPr/>
        </p:nvSpPr>
        <p:spPr>
          <a:xfrm>
            <a:off x="9642764" y="193316"/>
            <a:ext cx="59574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6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7E626BD-9A11-4A62-5EAD-99839A8FDDD2}"/>
              </a:ext>
            </a:extLst>
          </p:cNvPr>
          <p:cNvSpPr txBox="1">
            <a:spLocks/>
          </p:cNvSpPr>
          <p:nvPr/>
        </p:nvSpPr>
        <p:spPr>
          <a:xfrm>
            <a:off x="0" y="1925783"/>
            <a:ext cx="3567545" cy="49322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1.</a:t>
            </a:r>
            <a:br>
              <a:rPr lang="en-US" dirty="0"/>
            </a:br>
            <a:r>
              <a:rPr lang="en-US" dirty="0"/>
              <a:t>2.</a:t>
            </a:r>
            <a:br>
              <a:rPr lang="en-US" dirty="0"/>
            </a:br>
            <a:r>
              <a:rPr lang="en-US" dirty="0"/>
              <a:t>3. </a:t>
            </a:r>
            <a:br>
              <a:rPr lang="en-US" dirty="0"/>
            </a:br>
            <a:r>
              <a:rPr lang="en-US" dirty="0"/>
              <a:t>4. </a:t>
            </a:r>
            <a:br>
              <a:rPr lang="en-US" dirty="0"/>
            </a:br>
            <a:r>
              <a:rPr lang="en-US" dirty="0"/>
              <a:t>5.</a:t>
            </a:r>
          </a:p>
          <a:p>
            <a:r>
              <a:rPr lang="en-US" dirty="0"/>
              <a:t>6.</a:t>
            </a:r>
            <a:br>
              <a:rPr lang="en-US" dirty="0"/>
            </a:br>
            <a:r>
              <a:rPr lang="en-US" dirty="0"/>
              <a:t>7.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153731-6C40-0F34-4BF7-B8790DB75E76}"/>
              </a:ext>
            </a:extLst>
          </p:cNvPr>
          <p:cNvSpPr txBox="1"/>
          <p:nvPr/>
        </p:nvSpPr>
        <p:spPr>
          <a:xfrm>
            <a:off x="653761" y="2332451"/>
            <a:ext cx="145213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3A92B2-0484-7BE2-A5FB-2CFE1AD74649}"/>
              </a:ext>
            </a:extLst>
          </p:cNvPr>
          <p:cNvSpPr txBox="1"/>
          <p:nvPr/>
        </p:nvSpPr>
        <p:spPr>
          <a:xfrm>
            <a:off x="653761" y="2905780"/>
            <a:ext cx="145213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A - 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7B5985-490F-79C9-A751-EBB3CD3950C6}"/>
              </a:ext>
            </a:extLst>
          </p:cNvPr>
          <p:cNvSpPr txBox="1"/>
          <p:nvPr/>
        </p:nvSpPr>
        <p:spPr>
          <a:xfrm>
            <a:off x="653762" y="3521142"/>
            <a:ext cx="145213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A U B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9472C23-AE06-1ADE-3B31-1E3CBB16C550}"/>
                  </a:ext>
                </a:extLst>
              </p:cNvPr>
              <p:cNvSpPr txBox="1"/>
              <p:nvPr/>
            </p:nvSpPr>
            <p:spPr>
              <a:xfrm>
                <a:off x="653762" y="4121536"/>
                <a:ext cx="145213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800" dirty="0"/>
                  <a:t> B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9472C23-AE06-1ADE-3B31-1E3CBB16C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62" y="4121536"/>
                <a:ext cx="1452130" cy="523220"/>
              </a:xfrm>
              <a:prstGeom prst="rect">
                <a:avLst/>
              </a:prstGeom>
              <a:blipFill>
                <a:blip r:embed="rId3"/>
                <a:stretch>
                  <a:fillRect l="-8696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F9C6C3F3-B927-909A-06E9-6A76344FBACC}"/>
              </a:ext>
            </a:extLst>
          </p:cNvPr>
          <p:cNvSpPr txBox="1"/>
          <p:nvPr/>
        </p:nvSpPr>
        <p:spPr>
          <a:xfrm>
            <a:off x="653762" y="4698404"/>
            <a:ext cx="145213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B - 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B0CBB0-E5DF-59C1-328E-73AA4B4A573B}"/>
              </a:ext>
            </a:extLst>
          </p:cNvPr>
          <p:cNvSpPr txBox="1"/>
          <p:nvPr/>
        </p:nvSpPr>
        <p:spPr>
          <a:xfrm>
            <a:off x="653762" y="5275272"/>
            <a:ext cx="145213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0F6747-913F-ED88-BF83-5B46F289E9BD}"/>
              </a:ext>
            </a:extLst>
          </p:cNvPr>
          <p:cNvSpPr txBox="1"/>
          <p:nvPr/>
        </p:nvSpPr>
        <p:spPr>
          <a:xfrm>
            <a:off x="7488381" y="1257269"/>
            <a:ext cx="59574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929958-91C7-030C-7453-288C499A5549}"/>
              </a:ext>
            </a:extLst>
          </p:cNvPr>
          <p:cNvSpPr txBox="1"/>
          <p:nvPr/>
        </p:nvSpPr>
        <p:spPr>
          <a:xfrm>
            <a:off x="649864" y="5852140"/>
            <a:ext cx="145213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A ∩ B</a:t>
            </a:r>
          </a:p>
        </p:txBody>
      </p:sp>
    </p:spTree>
    <p:extLst>
      <p:ext uri="{BB962C8B-B14F-4D97-AF65-F5344CB8AC3E}">
        <p14:creationId xmlns:p14="http://schemas.microsoft.com/office/powerpoint/2010/main" val="23652398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BE405-F902-8CEB-CEF6-2AE671DE2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AE7AA-61D4-2E20-324E-1FBB465E0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never took a databases course</a:t>
            </a:r>
          </a:p>
          <a:p>
            <a:r>
              <a:rPr lang="en-US" dirty="0"/>
              <a:t>Here’s what I did have</a:t>
            </a:r>
          </a:p>
          <a:p>
            <a:pPr lvl="1"/>
            <a:r>
              <a:rPr lang="en-US" dirty="0"/>
              <a:t>A knowledge of set theory</a:t>
            </a:r>
          </a:p>
          <a:p>
            <a:pPr lvl="1"/>
            <a:r>
              <a:rPr lang="en-US" dirty="0"/>
              <a:t>A W3 schools tutorial on SQL syntax,  </a:t>
            </a:r>
          </a:p>
          <a:p>
            <a:pPr lvl="1"/>
            <a:r>
              <a:rPr lang="en-US" dirty="0"/>
              <a:t>That join graphic</a:t>
            </a:r>
          </a:p>
          <a:p>
            <a:r>
              <a:rPr lang="en-US" dirty="0"/>
              <a:t>Most day to day operations on relational databases are workable with just that (IMO)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289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C17DA-3894-A78F-2EE5-223D57487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257"/>
            <a:ext cx="10515600" cy="1325563"/>
          </a:xfrm>
        </p:spPr>
        <p:txBody>
          <a:bodyPr/>
          <a:lstStyle/>
          <a:p>
            <a:r>
              <a:rPr lang="en-US" dirty="0"/>
              <a:t>So far in class: </a:t>
            </a:r>
            <a:br>
              <a:rPr lang="en-US" dirty="0"/>
            </a:br>
            <a:r>
              <a:rPr lang="en-US" dirty="0"/>
              <a:t>New ways to phrase old ideas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B0B78B3-E594-1B10-DD9C-C19A77A98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1430"/>
          </a:xfrm>
        </p:spPr>
        <p:txBody>
          <a:bodyPr/>
          <a:lstStyle/>
          <a:p>
            <a:r>
              <a:rPr lang="en-US" dirty="0"/>
              <a:t>All of these set operators are also things we can express with formal logic</a:t>
            </a:r>
          </a:p>
          <a:p>
            <a:endParaRPr lang="en-US" dirty="0"/>
          </a:p>
          <a:p>
            <a:r>
              <a:rPr lang="en-US" dirty="0"/>
              <a:t>Let A and B be sets </a:t>
            </a:r>
            <a:br>
              <a:rPr lang="en-US" dirty="0"/>
            </a:br>
            <a:endParaRPr lang="en-US" dirty="0"/>
          </a:p>
          <a:p>
            <a:r>
              <a:rPr lang="en-US" dirty="0"/>
              <a:t>How could we prove that A∩B⊆A</a:t>
            </a:r>
          </a:p>
          <a:p>
            <a:pPr lvl="1"/>
            <a:r>
              <a:rPr lang="en-US" dirty="0"/>
              <a:t>All elements in A AND B are a subset of the elements in A</a:t>
            </a:r>
          </a:p>
        </p:txBody>
      </p:sp>
    </p:spTree>
    <p:extLst>
      <p:ext uri="{BB962C8B-B14F-4D97-AF65-F5344CB8AC3E}">
        <p14:creationId xmlns:p14="http://schemas.microsoft.com/office/powerpoint/2010/main" val="40340770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94495-8C83-8119-892D-C76F5CEA6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Proving A∩B⊆A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1041C-80AF-6D63-5CE0-8A33D250C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Assumptions:</a:t>
            </a:r>
          </a:p>
          <a:p>
            <a:pPr lvl="1"/>
            <a:r>
              <a:rPr lang="en-US" dirty="0"/>
              <a:t>Let A be a set</a:t>
            </a:r>
          </a:p>
          <a:p>
            <a:pPr lvl="1"/>
            <a:r>
              <a:rPr lang="en-US" dirty="0"/>
              <a:t>Let B be a set </a:t>
            </a:r>
          </a:p>
          <a:p>
            <a:pPr lvl="1"/>
            <a:r>
              <a:rPr lang="en-US" dirty="0"/>
              <a:t>Let S be the set of A∩B (things in A AND B) </a:t>
            </a:r>
          </a:p>
          <a:p>
            <a:r>
              <a:rPr lang="en-US" dirty="0"/>
              <a:t>Let P(x) = x ∈ A</a:t>
            </a:r>
          </a:p>
          <a:p>
            <a:r>
              <a:rPr lang="en-US" dirty="0"/>
              <a:t>Let Q(x) = x ∈ B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For any element in S, if P(x) is true and Q(x) is true then P(x) is true  </a:t>
            </a:r>
          </a:p>
          <a:p>
            <a:pPr marL="0" indent="0">
              <a:buNone/>
            </a:pPr>
            <a:r>
              <a:rPr lang="en-US" b="1" dirty="0"/>
              <a:t>∀x ∈ S, P(x) ∧ Q(x) </a:t>
            </a:r>
            <a:r>
              <a:rPr lang="en-US" b="1" dirty="0">
                <a:sym typeface="Wingdings" pitchFamily="2" charset="2"/>
              </a:rPr>
              <a:t> P(x) </a:t>
            </a:r>
            <a:br>
              <a:rPr lang="en-US" dirty="0">
                <a:sym typeface="Wingdings" pitchFamily="2" charset="2"/>
              </a:rPr>
            </a:b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If we want to prove this is True, we need to prove the above statement is a tautology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0091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80A3-5FF2-DE49-3B06-B005CB1DC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23D2E-6CEF-E823-B0EB-CABEE53F0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64048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Lets make a truth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154535-0BF7-04B6-3447-99E667A2E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496" y="0"/>
            <a:ext cx="5455504" cy="234141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F010A8-0E85-80E5-3DBD-704C10933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544194"/>
              </p:ext>
            </p:extLst>
          </p:nvPr>
        </p:nvGraphicFramePr>
        <p:xfrm>
          <a:off x="838199" y="2706542"/>
          <a:ext cx="8291944" cy="363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986">
                  <a:extLst>
                    <a:ext uri="{9D8B030D-6E8A-4147-A177-3AD203B41FA5}">
                      <a16:colId xmlns:a16="http://schemas.microsoft.com/office/drawing/2014/main" val="3035041117"/>
                    </a:ext>
                  </a:extLst>
                </a:gridCol>
                <a:gridCol w="2072986">
                  <a:extLst>
                    <a:ext uri="{9D8B030D-6E8A-4147-A177-3AD203B41FA5}">
                      <a16:colId xmlns:a16="http://schemas.microsoft.com/office/drawing/2014/main" val="2349470558"/>
                    </a:ext>
                  </a:extLst>
                </a:gridCol>
                <a:gridCol w="2072986">
                  <a:extLst>
                    <a:ext uri="{9D8B030D-6E8A-4147-A177-3AD203B41FA5}">
                      <a16:colId xmlns:a16="http://schemas.microsoft.com/office/drawing/2014/main" val="2749606116"/>
                    </a:ext>
                  </a:extLst>
                </a:gridCol>
                <a:gridCol w="2072986">
                  <a:extLst>
                    <a:ext uri="{9D8B030D-6E8A-4147-A177-3AD203B41FA5}">
                      <a16:colId xmlns:a16="http://schemas.microsoft.com/office/drawing/2014/main" val="998082683"/>
                    </a:ext>
                  </a:extLst>
                </a:gridCol>
              </a:tblGrid>
              <a:tr h="727768">
                <a:tc>
                  <a:txBody>
                    <a:bodyPr/>
                    <a:lstStyle/>
                    <a:p>
                      <a:r>
                        <a:rPr lang="en-US" dirty="0"/>
                        <a:t>P(x)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P(x) 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∧Q(x)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P(x) 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∧Q(x) 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 P(x)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181154"/>
                  </a:ext>
                </a:extLst>
              </a:tr>
              <a:tr h="727768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238970"/>
                  </a:ext>
                </a:extLst>
              </a:tr>
              <a:tr h="727768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373204"/>
                  </a:ext>
                </a:extLst>
              </a:tr>
              <a:tr h="727768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772290"/>
                  </a:ext>
                </a:extLst>
              </a:tr>
              <a:tr h="727768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51638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FC7D83F-6383-9BDF-79EA-36F0139F7F75}"/>
              </a:ext>
            </a:extLst>
          </p:cNvPr>
          <p:cNvSpPr txBox="1"/>
          <p:nvPr/>
        </p:nvSpPr>
        <p:spPr>
          <a:xfrm>
            <a:off x="4984171" y="3429000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∧ T = 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D8C1FC-43C4-AF88-EE00-8E2C1F831705}"/>
              </a:ext>
            </a:extLst>
          </p:cNvPr>
          <p:cNvSpPr txBox="1"/>
          <p:nvPr/>
        </p:nvSpPr>
        <p:spPr>
          <a:xfrm>
            <a:off x="4984170" y="4119521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∧ F = F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9E6A47-D1F5-5310-6C86-2CD123787184}"/>
              </a:ext>
            </a:extLst>
          </p:cNvPr>
          <p:cNvSpPr txBox="1"/>
          <p:nvPr/>
        </p:nvSpPr>
        <p:spPr>
          <a:xfrm>
            <a:off x="4984170" y="4892821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∧ T = F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E54804-C2B7-72F0-E3CC-E1EFFFBA0EA7}"/>
              </a:ext>
            </a:extLst>
          </p:cNvPr>
          <p:cNvSpPr txBox="1"/>
          <p:nvPr/>
        </p:nvSpPr>
        <p:spPr>
          <a:xfrm>
            <a:off x="4984170" y="5619101"/>
            <a:ext cx="104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∧ F = F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7B0493-FC04-8881-B240-4464DEC49954}"/>
              </a:ext>
            </a:extLst>
          </p:cNvPr>
          <p:cNvSpPr txBox="1"/>
          <p:nvPr/>
        </p:nvSpPr>
        <p:spPr>
          <a:xfrm>
            <a:off x="7067577" y="3421968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T = T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35C947-3BDC-5E56-E6D1-CA56EEB9E6AD}"/>
              </a:ext>
            </a:extLst>
          </p:cNvPr>
          <p:cNvSpPr txBox="1"/>
          <p:nvPr/>
        </p:nvSpPr>
        <p:spPr>
          <a:xfrm>
            <a:off x="7067576" y="4112489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</a:t>
            </a:r>
            <a:r>
              <a:rPr lang="en-US" dirty="0">
                <a:sym typeface="Wingdings" pitchFamily="2" charset="2"/>
              </a:rPr>
              <a:t> T </a:t>
            </a:r>
            <a:r>
              <a:rPr lang="en-US" dirty="0"/>
              <a:t>= 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0AF1FC-46E9-3DFC-1437-6941E4E1B6A8}"/>
              </a:ext>
            </a:extLst>
          </p:cNvPr>
          <p:cNvSpPr txBox="1"/>
          <p:nvPr/>
        </p:nvSpPr>
        <p:spPr>
          <a:xfrm>
            <a:off x="7067576" y="488578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</a:t>
            </a:r>
            <a:r>
              <a:rPr lang="en-US" dirty="0">
                <a:sym typeface="Wingdings" pitchFamily="2" charset="2"/>
              </a:rPr>
              <a:t> F </a:t>
            </a:r>
            <a:r>
              <a:rPr lang="en-US" dirty="0"/>
              <a:t>= T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A7CEBF-7E9E-63A3-35C1-A9C9679EFFBF}"/>
              </a:ext>
            </a:extLst>
          </p:cNvPr>
          <p:cNvSpPr txBox="1"/>
          <p:nvPr/>
        </p:nvSpPr>
        <p:spPr>
          <a:xfrm>
            <a:off x="7067576" y="561206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</a:t>
            </a:r>
            <a:r>
              <a:rPr lang="en-US" dirty="0">
                <a:sym typeface="Wingdings" pitchFamily="2" charset="2"/>
              </a:rPr>
              <a:t> F </a:t>
            </a:r>
            <a:r>
              <a:rPr lang="en-US" dirty="0"/>
              <a:t>= T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A39783-F45D-EF64-157A-79DB46E87824}"/>
              </a:ext>
            </a:extLst>
          </p:cNvPr>
          <p:cNvSpPr txBox="1"/>
          <p:nvPr/>
        </p:nvSpPr>
        <p:spPr>
          <a:xfrm>
            <a:off x="9130144" y="3357272"/>
            <a:ext cx="2895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dirty="0"/>
              <a:t>P(x) ∧Q(x) </a:t>
            </a:r>
            <a:r>
              <a:rPr lang="en-US" dirty="0">
                <a:sym typeface="Wingdings" pitchFamily="2" charset="2"/>
              </a:rPr>
              <a:t> P(x)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 is a tautology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768F03-DE90-0DEF-483B-F3E8A8C038A4}"/>
              </a:ext>
            </a:extLst>
          </p:cNvPr>
          <p:cNvSpPr txBox="1"/>
          <p:nvPr/>
        </p:nvSpPr>
        <p:spPr>
          <a:xfrm>
            <a:off x="9183043" y="4170360"/>
            <a:ext cx="28956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dirty="0"/>
              <a:t>No matter what elements we’re looking at, (whether it be S, or </a:t>
            </a:r>
            <a:r>
              <a:rPr lang="en-US" dirty="0" err="1"/>
              <a:t>ℤ</a:t>
            </a:r>
            <a:r>
              <a:rPr lang="en-US" dirty="0"/>
              <a:t> or </a:t>
            </a:r>
            <a:r>
              <a:rPr lang="en-US" dirty="0" err="1"/>
              <a:t>ℝ</a:t>
            </a:r>
            <a:r>
              <a:rPr lang="en-US" dirty="0"/>
              <a:t>, anything)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statement holds true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B3D24A-37E0-8BBF-B80E-63B165948A14}"/>
              </a:ext>
            </a:extLst>
          </p:cNvPr>
          <p:cNvSpPr txBox="1"/>
          <p:nvPr/>
        </p:nvSpPr>
        <p:spPr>
          <a:xfrm>
            <a:off x="6274803" y="6488668"/>
            <a:ext cx="5917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definition, any element in S  would be T ∧ T </a:t>
            </a:r>
            <a:r>
              <a:rPr lang="en-US" dirty="0">
                <a:sym typeface="Wingdings" pitchFamily="2" charset="2"/>
              </a:rPr>
              <a:t> T anyway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397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62981-F116-EBD0-ADA1-B0AE20863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Maybe something a bit more complicated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C6C8-DED5-B174-F3F0-549597463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know in logic that ¬(A ∧ B) is equivalent to ¬A ∨ ¬ B)</a:t>
            </a:r>
          </a:p>
          <a:p>
            <a:endParaRPr lang="en-US" dirty="0"/>
          </a:p>
          <a:p>
            <a:r>
              <a:rPr lang="en-US" dirty="0"/>
              <a:t>What about (A ∪ B)</a:t>
            </a:r>
            <a:r>
              <a:rPr lang="en-US" baseline="30000" dirty="0"/>
              <a:t>C</a:t>
            </a:r>
            <a:r>
              <a:rPr lang="en-US" dirty="0"/>
              <a:t> and  A</a:t>
            </a:r>
            <a:r>
              <a:rPr lang="en-US" baseline="30000" dirty="0"/>
              <a:t>C</a:t>
            </a:r>
            <a:r>
              <a:rPr lang="en-US" dirty="0"/>
              <a:t> ∩ B</a:t>
            </a:r>
            <a:r>
              <a:rPr lang="en-US" baseline="30000" dirty="0"/>
              <a:t>C</a:t>
            </a:r>
            <a:r>
              <a:rPr lang="en-US" dirty="0"/>
              <a:t> ?</a:t>
            </a:r>
          </a:p>
          <a:p>
            <a:pPr lvl="1"/>
            <a:r>
              <a:rPr lang="en-US" dirty="0"/>
              <a:t>A U B is all the things in A AND B</a:t>
            </a:r>
          </a:p>
          <a:p>
            <a:pPr lvl="1"/>
            <a:r>
              <a:rPr lang="en-US" dirty="0"/>
              <a:t>A ∩ B is all the things in either A OR B</a:t>
            </a:r>
          </a:p>
          <a:p>
            <a:pPr lvl="1"/>
            <a:r>
              <a:rPr lang="en-US" dirty="0"/>
              <a:t>A</a:t>
            </a:r>
            <a:r>
              <a:rPr lang="en-US" baseline="30000" dirty="0"/>
              <a:t>C </a:t>
            </a:r>
            <a:r>
              <a:rPr lang="en-US" dirty="0"/>
              <a:t> is all the things in our universe not in A</a:t>
            </a:r>
            <a:br>
              <a:rPr lang="en-US" dirty="0"/>
            </a:br>
            <a:endParaRPr lang="en-US" dirty="0"/>
          </a:p>
          <a:p>
            <a:r>
              <a:rPr lang="en-US" dirty="0"/>
              <a:t>Lets do the same thing to check</a:t>
            </a:r>
          </a:p>
        </p:txBody>
      </p:sp>
    </p:spTree>
    <p:extLst>
      <p:ext uri="{BB962C8B-B14F-4D97-AF65-F5344CB8AC3E}">
        <p14:creationId xmlns:p14="http://schemas.microsoft.com/office/powerpoint/2010/main" val="18287462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8A7DC9C-B1C9-8E66-50FC-752ACD6B4B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2179666"/>
              </p:ext>
            </p:extLst>
          </p:nvPr>
        </p:nvGraphicFramePr>
        <p:xfrm>
          <a:off x="685800" y="3175001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48624009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7795775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71615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9335369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731327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¬ (P(x) ∧ Q(x))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¬ P(x) V ¬Q(x)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31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280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821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090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02596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9598725-5752-F36C-B7CD-5A9B2619F236}"/>
              </a:ext>
            </a:extLst>
          </p:cNvPr>
          <p:cNvSpPr txBox="1"/>
          <p:nvPr/>
        </p:nvSpPr>
        <p:spPr>
          <a:xfrm>
            <a:off x="7399726" y="12243"/>
            <a:ext cx="4745786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Assumptions:</a:t>
            </a:r>
          </a:p>
          <a:p>
            <a:pPr lvl="1"/>
            <a:r>
              <a:rPr lang="en-US" dirty="0"/>
              <a:t>Let A be a set</a:t>
            </a:r>
          </a:p>
          <a:p>
            <a:pPr lvl="1"/>
            <a:r>
              <a:rPr lang="en-US" dirty="0"/>
              <a:t>Let B be a set </a:t>
            </a:r>
          </a:p>
          <a:p>
            <a:pPr lvl="1"/>
            <a:r>
              <a:rPr lang="en-US" dirty="0"/>
              <a:t>Let S be the set of A∩B (things in A AND B)</a:t>
            </a:r>
            <a:br>
              <a:rPr lang="en-US" dirty="0"/>
            </a:br>
            <a:r>
              <a:rPr lang="en-US" dirty="0"/>
              <a:t>Let T be the set of A U B (A OR B) </a:t>
            </a:r>
          </a:p>
          <a:p>
            <a:r>
              <a:rPr lang="en-US" dirty="0"/>
              <a:t>Let P(x) = x ∈ A</a:t>
            </a:r>
          </a:p>
          <a:p>
            <a:r>
              <a:rPr lang="en-US" dirty="0"/>
              <a:t>Let Q(x) = x ∈ B</a:t>
            </a:r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765E845-1287-5CE2-5572-F4591402D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" y="141757"/>
            <a:ext cx="6950057" cy="1687043"/>
          </a:xfrm>
        </p:spPr>
        <p:txBody>
          <a:bodyPr>
            <a:normAutofit fontScale="90000"/>
          </a:bodyPr>
          <a:lstStyle/>
          <a:p>
            <a:r>
              <a:rPr lang="en-US" dirty="0"/>
              <a:t>Are </a:t>
            </a:r>
            <a:br>
              <a:rPr lang="en-US" dirty="0"/>
            </a:br>
            <a:r>
              <a:rPr lang="en-US" dirty="0"/>
              <a:t>(A ∪ B)</a:t>
            </a:r>
            <a:r>
              <a:rPr lang="en-US" baseline="30000" dirty="0"/>
              <a:t>C</a:t>
            </a:r>
            <a:r>
              <a:rPr lang="en-US" dirty="0"/>
              <a:t> and A</a:t>
            </a:r>
            <a:r>
              <a:rPr lang="en-US" baseline="30000" dirty="0"/>
              <a:t>C</a:t>
            </a:r>
            <a:r>
              <a:rPr lang="en-US" dirty="0"/>
              <a:t> ∩ B</a:t>
            </a:r>
            <a:r>
              <a:rPr lang="en-US" baseline="30000" dirty="0"/>
              <a:t>C </a:t>
            </a:r>
            <a:r>
              <a:rPr lang="en-US" dirty="0"/>
              <a:t>equivalent statements?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36966B6-DBC8-0011-8431-B969E52E585E}"/>
              </a:ext>
            </a:extLst>
          </p:cNvPr>
          <p:cNvSpPr txBox="1">
            <a:spLocks/>
          </p:cNvSpPr>
          <p:nvPr/>
        </p:nvSpPr>
        <p:spPr>
          <a:xfrm>
            <a:off x="46488" y="5170957"/>
            <a:ext cx="12145512" cy="1687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Yes! </a:t>
            </a:r>
            <a:r>
              <a:rPr lang="en-US" dirty="0" err="1"/>
              <a:t>DeMorgan’s</a:t>
            </a:r>
            <a:r>
              <a:rPr lang="en-US" dirty="0"/>
              <a:t> law strikes again</a:t>
            </a:r>
          </a:p>
        </p:txBody>
      </p:sp>
    </p:spTree>
    <p:extLst>
      <p:ext uri="{BB962C8B-B14F-4D97-AF65-F5344CB8AC3E}">
        <p14:creationId xmlns:p14="http://schemas.microsoft.com/office/powerpoint/2010/main" val="8992699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C087F-CFDD-8E79-62C3-B824E52A2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big hangup with proofs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1E46B-F14D-D627-AD37-2F6193270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Why do I care</a:t>
            </a:r>
            <a:br>
              <a:rPr lang="en-US" dirty="0"/>
            </a:br>
            <a:endParaRPr lang="en-US" dirty="0"/>
          </a:p>
          <a:p>
            <a:r>
              <a:rPr lang="en-US" dirty="0"/>
              <a:t>Seems really obvious – why bother even trying to </a:t>
            </a:r>
            <a:r>
              <a:rPr lang="en-US" i="1" dirty="0"/>
              <a:t>prove </a:t>
            </a:r>
            <a:r>
              <a:rPr lang="en-US" dirty="0"/>
              <a:t>this </a:t>
            </a:r>
          </a:p>
          <a:p>
            <a:endParaRPr lang="en-US" dirty="0"/>
          </a:p>
          <a:p>
            <a:r>
              <a:rPr lang="en-US" dirty="0"/>
              <a:t>It’s true because it’s obviously true</a:t>
            </a:r>
          </a:p>
          <a:p>
            <a:endParaRPr lang="en-US" dirty="0"/>
          </a:p>
          <a:p>
            <a:r>
              <a:rPr lang="en-US" dirty="0"/>
              <a:t>Mostly – you don’t need to prove something this clear</a:t>
            </a:r>
          </a:p>
          <a:p>
            <a:r>
              <a:rPr lang="en-US" dirty="0"/>
              <a:t>BUT</a:t>
            </a:r>
          </a:p>
          <a:p>
            <a:pPr lvl="1"/>
            <a:r>
              <a:rPr lang="en-US" dirty="0"/>
              <a:t>You can still write a proof for this</a:t>
            </a:r>
          </a:p>
          <a:p>
            <a:pPr lvl="1"/>
            <a:r>
              <a:rPr lang="en-US" dirty="0"/>
              <a:t>You know it needs to be proven (not disproven)</a:t>
            </a:r>
          </a:p>
          <a:p>
            <a:pPr lvl="1"/>
            <a:r>
              <a:rPr lang="en-US" dirty="0"/>
              <a:t>Practicing getting around that “it’s true because it feels right”</a:t>
            </a:r>
          </a:p>
        </p:txBody>
      </p:sp>
    </p:spTree>
    <p:extLst>
      <p:ext uri="{BB962C8B-B14F-4D97-AF65-F5344CB8AC3E}">
        <p14:creationId xmlns:p14="http://schemas.microsoft.com/office/powerpoint/2010/main" val="23876299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9F674-AD2F-EF80-A512-836A59429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– how do I translate these things properly?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B2A2-1C95-EA67-554B-D32D20517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0163" y="1836305"/>
            <a:ext cx="5181600" cy="50323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Generalizations are usually a good indicator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“All X are Y”</a:t>
            </a:r>
          </a:p>
          <a:p>
            <a:pPr lvl="1"/>
            <a:r>
              <a:rPr lang="en-US" dirty="0"/>
              <a:t>∀ a (a ∈ X </a:t>
            </a:r>
            <a:r>
              <a:rPr lang="en-US" dirty="0">
                <a:sym typeface="Wingdings" pitchFamily="2" charset="2"/>
              </a:rPr>
              <a:t> a</a:t>
            </a:r>
            <a:r>
              <a:rPr lang="en-US" dirty="0"/>
              <a:t> ∈ Y) </a:t>
            </a:r>
          </a:p>
          <a:p>
            <a:pPr lvl="1"/>
            <a:r>
              <a:rPr lang="en-US" dirty="0"/>
              <a:t>If an element is in X then that element is in Y</a:t>
            </a:r>
          </a:p>
          <a:p>
            <a:pPr lvl="2"/>
            <a:r>
              <a:rPr lang="en-US" dirty="0"/>
              <a:t>If a shape is a square then it is a rectangle</a:t>
            </a:r>
          </a:p>
          <a:p>
            <a:r>
              <a:rPr lang="en-US" dirty="0"/>
              <a:t>“No X are Y”</a:t>
            </a:r>
          </a:p>
          <a:p>
            <a:pPr lvl="1"/>
            <a:r>
              <a:rPr lang="en-US" dirty="0"/>
              <a:t>Conditional! X </a:t>
            </a:r>
            <a:r>
              <a:rPr lang="en-US" dirty="0">
                <a:sym typeface="Wingdings" pitchFamily="2" charset="2"/>
              </a:rPr>
              <a:t>¬Y </a:t>
            </a:r>
            <a:endParaRPr lang="en-US" dirty="0"/>
          </a:p>
          <a:p>
            <a:pPr lvl="1"/>
            <a:r>
              <a:rPr lang="en-US" dirty="0"/>
              <a:t>If an element is in X then it is not in y</a:t>
            </a:r>
          </a:p>
          <a:p>
            <a:pPr lvl="2"/>
            <a:r>
              <a:rPr lang="en-US" dirty="0"/>
              <a:t>If a shape is a square, then it is not a circle</a:t>
            </a:r>
          </a:p>
          <a:p>
            <a:pPr lvl="1"/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1FF5E8-5FFC-8CCF-3B7F-DAAD88D5D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7836" y="1836306"/>
            <a:ext cx="5181600" cy="503237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Some X are Y </a:t>
            </a:r>
          </a:p>
          <a:p>
            <a:pPr lvl="1"/>
            <a:r>
              <a:rPr lang="en-US" dirty="0"/>
              <a:t>Conditional! ¬(X </a:t>
            </a:r>
            <a:r>
              <a:rPr lang="en-US" dirty="0">
                <a:sym typeface="Wingdings" pitchFamily="2" charset="2"/>
              </a:rPr>
              <a:t> ¬Y)</a:t>
            </a:r>
            <a:endParaRPr lang="en-US" dirty="0"/>
          </a:p>
          <a:p>
            <a:pPr lvl="1"/>
            <a:r>
              <a:rPr lang="en-US" dirty="0"/>
              <a:t>It is not true that if an element is in X, then it is not in Y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Some X are not Y</a:t>
            </a:r>
          </a:p>
          <a:p>
            <a:pPr lvl="1"/>
            <a:r>
              <a:rPr lang="en-US" dirty="0"/>
              <a:t>Conditional!  ¬ (X </a:t>
            </a:r>
            <a:r>
              <a:rPr lang="en-US" dirty="0">
                <a:sym typeface="Wingdings" pitchFamily="2" charset="2"/>
              </a:rPr>
              <a:t> Y)</a:t>
            </a:r>
          </a:p>
          <a:p>
            <a:pPr lvl="1"/>
            <a:r>
              <a:rPr lang="en-US" dirty="0"/>
              <a:t>It is not true that if anything is a member of X, then it is a member of Y</a:t>
            </a:r>
          </a:p>
        </p:txBody>
      </p:sp>
    </p:spTree>
    <p:extLst>
      <p:ext uri="{BB962C8B-B14F-4D97-AF65-F5344CB8AC3E}">
        <p14:creationId xmlns:p14="http://schemas.microsoft.com/office/powerpoint/2010/main" val="613909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DE5DD-F61F-A95A-BDAF-540BB88668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Sets of sets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AF72E14-79DC-66ED-C2F3-3AA4393217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1362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AB962-0391-9E76-3490-F8ADEF6E0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of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EF3EA-D147-1C76-EC2F-634821547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set can be a group of things</a:t>
            </a:r>
          </a:p>
          <a:p>
            <a:pPr lvl="1"/>
            <a:r>
              <a:rPr lang="en-US" dirty="0"/>
              <a:t>Including other groups of things</a:t>
            </a:r>
          </a:p>
          <a:p>
            <a:pPr lvl="1"/>
            <a:endParaRPr lang="en-US" dirty="0"/>
          </a:p>
          <a:p>
            <a:r>
              <a:rPr lang="en-US" dirty="0"/>
              <a:t>       Bruins = {Joonas </a:t>
            </a:r>
            <a:r>
              <a:rPr lang="en-US" dirty="0" err="1"/>
              <a:t>Korpisalo</a:t>
            </a:r>
            <a:r>
              <a:rPr lang="en-US" dirty="0"/>
              <a:t>, Viktor Arvidsson, …}</a:t>
            </a:r>
          </a:p>
          <a:p>
            <a:endParaRPr lang="en-US" sz="3600" dirty="0"/>
          </a:p>
          <a:p>
            <a:pPr marL="0" indent="0">
              <a:buNone/>
            </a:pPr>
            <a:r>
              <a:rPr lang="en-US" dirty="0"/>
              <a:t>          Rangers = {Spencer Martin, Jonathan Quick, …}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All Hockey Teams = {         ,         , …}</a:t>
            </a:r>
          </a:p>
          <a:p>
            <a:endParaRPr lang="en-US" dirty="0"/>
          </a:p>
        </p:txBody>
      </p:sp>
      <p:pic>
        <p:nvPicPr>
          <p:cNvPr id="4098" name="Picture 2" descr="Boston Bruins - Wikipedia">
            <a:extLst>
              <a:ext uri="{FF2B5EF4-FFF2-40B4-BE49-F238E27FC236}">
                <a16:creationId xmlns:a16="http://schemas.microsoft.com/office/drawing/2014/main" id="{0F2BEB08-C7CF-22C3-B1D1-A43E01AC5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71379"/>
            <a:ext cx="715241" cy="715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New York Rangers Logo PNG Transparent &amp; SVG Vector - Freebie ...">
            <a:extLst>
              <a:ext uri="{FF2B5EF4-FFF2-40B4-BE49-F238E27FC236}">
                <a16:creationId xmlns:a16="http://schemas.microsoft.com/office/drawing/2014/main" id="{24C8D989-D0BC-14BD-C7AE-FC5EB61E7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12" y="4151962"/>
            <a:ext cx="829829" cy="829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Boston Bruins - Wikipedia">
            <a:extLst>
              <a:ext uri="{FF2B5EF4-FFF2-40B4-BE49-F238E27FC236}">
                <a16:creationId xmlns:a16="http://schemas.microsoft.com/office/drawing/2014/main" id="{DB720943-C63F-C9C8-A8A7-BF2544CDA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7873" y="5400673"/>
            <a:ext cx="519546" cy="519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New York Rangers Logo PNG Transparent &amp; SVG Vector - Freebie ...">
            <a:extLst>
              <a:ext uri="{FF2B5EF4-FFF2-40B4-BE49-F238E27FC236}">
                <a16:creationId xmlns:a16="http://schemas.microsoft.com/office/drawing/2014/main" id="{ECF773FA-AC13-611C-CB12-FA09B68A6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2007" y="5345254"/>
            <a:ext cx="702829" cy="70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31321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FC886-D7D6-F4E0-23A7-136BBE3C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sets (</a:t>
            </a:r>
            <a:r>
              <a:rPr lang="en-US" dirty="0">
                <a:latin typeface="Kunstler Script" panose="030304020206070D0D06" pitchFamily="66" charset="77"/>
                <a:cs typeface="Dreaming Outloud Script Pro" panose="03050502040304050704" pitchFamily="66" charset="77"/>
              </a:rPr>
              <a:t>P    </a:t>
            </a:r>
            <a:r>
              <a:rPr lang="en-US" dirty="0">
                <a:latin typeface="+mn-lt"/>
                <a:cs typeface="Dreaming Outloud Script Pro" panose="03050502040304050704" pitchFamily="66" charset="77"/>
              </a:rPr>
              <a:t>or  </a:t>
            </a:r>
            <a:r>
              <a:rPr lang="en-US" dirty="0">
                <a:latin typeface="Lucida Blackletter" pitchFamily="2" charset="77"/>
                <a:cs typeface="Dreaming Outloud Script Pro" panose="03050502040304050704" pitchFamily="66" charset="77"/>
              </a:rPr>
              <a:t>P</a:t>
            </a:r>
            <a:r>
              <a:rPr lang="en-US" dirty="0">
                <a:latin typeface="+mn-lt"/>
                <a:cs typeface="Dreaming Outloud Script Pro" panose="03050502040304050704" pitchFamily="66" charset="77"/>
              </a:rPr>
              <a:t>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55594-E6C3-ADE2-A347-BACC7F3FE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any fancy P I can’t find any ”standard” </a:t>
            </a:r>
          </a:p>
          <a:p>
            <a:endParaRPr lang="en-US" dirty="0"/>
          </a:p>
          <a:p>
            <a:r>
              <a:rPr lang="en-US" dirty="0"/>
              <a:t>Given a set X, the power set of X is the set of all possible subsets of X</a:t>
            </a:r>
          </a:p>
          <a:p>
            <a:endParaRPr lang="en-US" dirty="0"/>
          </a:p>
          <a:p>
            <a:r>
              <a:rPr lang="en-US" dirty="0"/>
              <a:t>X = {a, b, c}</a:t>
            </a:r>
          </a:p>
          <a:p>
            <a:r>
              <a:rPr lang="en-US" dirty="0"/>
              <a:t> </a:t>
            </a:r>
            <a:r>
              <a:rPr lang="en-US" dirty="0">
                <a:latin typeface="Lucida Blackletter" pitchFamily="2" charset="77"/>
                <a:cs typeface="Dreaming Outloud Script Pro" panose="03050502040304050704" pitchFamily="66" charset="77"/>
              </a:rPr>
              <a:t>P</a:t>
            </a:r>
            <a:r>
              <a:rPr lang="en-US" dirty="0">
                <a:cs typeface="Dreaming Outloud Script Pro" panose="03050502040304050704" pitchFamily="66" charset="77"/>
              </a:rPr>
              <a:t>(X) = {</a:t>
            </a:r>
            <a:r>
              <a:rPr lang="en-US" dirty="0"/>
              <a:t>∅, {a}, {b}, {c}, {</a:t>
            </a:r>
            <a:r>
              <a:rPr lang="en-US" dirty="0" err="1"/>
              <a:t>a,b</a:t>
            </a:r>
            <a:r>
              <a:rPr lang="en-US" dirty="0"/>
              <a:t>}, {</a:t>
            </a:r>
            <a:r>
              <a:rPr lang="en-US" dirty="0" err="1"/>
              <a:t>a,c</a:t>
            </a:r>
            <a:r>
              <a:rPr lang="en-US" dirty="0"/>
              <a:t>}, {b, c}, {a, b, c} }</a:t>
            </a:r>
          </a:p>
        </p:txBody>
      </p:sp>
    </p:spTree>
    <p:extLst>
      <p:ext uri="{BB962C8B-B14F-4D97-AF65-F5344CB8AC3E}">
        <p14:creationId xmlns:p14="http://schemas.microsoft.com/office/powerpoint/2010/main" val="39626855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3D67F-F93A-28EE-E59E-8525CEF5F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  <a:br>
              <a:rPr lang="en-US" dirty="0"/>
            </a:br>
            <a:r>
              <a:rPr lang="en-US" dirty="0"/>
              <a:t>Find the cardinality of the following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B02B2-CA9F-AA05-0C46-574F07CDA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A = {3, 9, 12, 22}</a:t>
            </a:r>
            <a:br>
              <a:rPr lang="en-US" dirty="0"/>
            </a:br>
            <a:endParaRPr lang="en-US" dirty="0"/>
          </a:p>
          <a:p>
            <a:r>
              <a:rPr lang="en-US" dirty="0"/>
              <a:t>B = {n| n%3 equals 0 ∧ n ∈ </a:t>
            </a:r>
            <a:r>
              <a:rPr lang="en-US" dirty="0" err="1"/>
              <a:t>ℤ</a:t>
            </a:r>
            <a:r>
              <a:rPr lang="en-US" dirty="0"/>
              <a:t> ∧ 0 &lt; n &lt; 31}</a:t>
            </a:r>
          </a:p>
          <a:p>
            <a:endParaRPr lang="en-US" dirty="0"/>
          </a:p>
          <a:p>
            <a:r>
              <a:rPr lang="en-US" dirty="0"/>
              <a:t>C = {1, {2, 3,} 4, ∅}</a:t>
            </a:r>
          </a:p>
          <a:p>
            <a:endParaRPr lang="en-US" dirty="0"/>
          </a:p>
          <a:p>
            <a:r>
              <a:rPr lang="en-US" dirty="0"/>
              <a:t>D = A – B</a:t>
            </a:r>
          </a:p>
          <a:p>
            <a:endParaRPr lang="en-US" dirty="0"/>
          </a:p>
          <a:p>
            <a:r>
              <a:rPr lang="en-US" dirty="0">
                <a:cs typeface="Dreaming Outloud Script Pro" panose="03050502040304050704" pitchFamily="66" charset="77"/>
              </a:rPr>
              <a:t>X = </a:t>
            </a:r>
            <a:r>
              <a:rPr lang="en-US" dirty="0">
                <a:latin typeface="Lucida Blackletter" pitchFamily="2" charset="77"/>
                <a:cs typeface="Dreaming Outloud Script Pro" panose="03050502040304050704" pitchFamily="66" charset="77"/>
              </a:rPr>
              <a:t>P</a:t>
            </a:r>
            <a:r>
              <a:rPr lang="en-US" dirty="0">
                <a:cs typeface="Dreaming Outloud Script Pro" panose="03050502040304050704" pitchFamily="66" charset="77"/>
              </a:rPr>
              <a:t> (A) 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9F818C-31AF-6F89-1D68-B18C66508BA9}"/>
              </a:ext>
            </a:extLst>
          </p:cNvPr>
          <p:cNvSpPr txBox="1"/>
          <p:nvPr/>
        </p:nvSpPr>
        <p:spPr>
          <a:xfrm>
            <a:off x="9559636" y="1690689"/>
            <a:ext cx="761999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96B2B8-054F-2DB0-7CB6-A0E5CAF9B4B3}"/>
              </a:ext>
            </a:extLst>
          </p:cNvPr>
          <p:cNvSpPr txBox="1"/>
          <p:nvPr/>
        </p:nvSpPr>
        <p:spPr>
          <a:xfrm>
            <a:off x="9559635" y="2605089"/>
            <a:ext cx="762001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6AD827-8939-FF07-F830-3EE34F9AA9FB}"/>
              </a:ext>
            </a:extLst>
          </p:cNvPr>
          <p:cNvSpPr txBox="1"/>
          <p:nvPr/>
        </p:nvSpPr>
        <p:spPr>
          <a:xfrm>
            <a:off x="9559634" y="3519489"/>
            <a:ext cx="762001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17246-3A76-96E7-6462-BE1165447A55}"/>
              </a:ext>
            </a:extLst>
          </p:cNvPr>
          <p:cNvSpPr txBox="1"/>
          <p:nvPr/>
        </p:nvSpPr>
        <p:spPr>
          <a:xfrm>
            <a:off x="9559633" y="4582537"/>
            <a:ext cx="762001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D7321A-5155-8B30-D8A7-C3E617BF3FEE}"/>
              </a:ext>
            </a:extLst>
          </p:cNvPr>
          <p:cNvSpPr txBox="1"/>
          <p:nvPr/>
        </p:nvSpPr>
        <p:spPr>
          <a:xfrm>
            <a:off x="7592288" y="4582537"/>
            <a:ext cx="935180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{22}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51AB26-804C-0AC5-C9B8-06C4E5C47DB0}"/>
              </a:ext>
            </a:extLst>
          </p:cNvPr>
          <p:cNvSpPr txBox="1"/>
          <p:nvPr/>
        </p:nvSpPr>
        <p:spPr>
          <a:xfrm>
            <a:off x="9559633" y="5654389"/>
            <a:ext cx="762001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609671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60C82-CF4D-B77A-B77B-148BE3324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890164" cy="1325563"/>
          </a:xfrm>
        </p:spPr>
        <p:txBody>
          <a:bodyPr/>
          <a:lstStyle/>
          <a:p>
            <a:r>
              <a:rPr lang="en-US" dirty="0">
                <a:latin typeface="Lucida Blackletter" pitchFamily="2" charset="77"/>
                <a:cs typeface="Dreaming Outloud Script Pro" panose="03050502040304050704" pitchFamily="66" charset="77"/>
              </a:rPr>
              <a:t>|P</a:t>
            </a:r>
            <a:r>
              <a:rPr lang="en-US" dirty="0">
                <a:cs typeface="Dreaming Outloud Script Pro" panose="03050502040304050704" pitchFamily="66" charset="77"/>
              </a:rPr>
              <a:t> (A) | = 16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753AE-8211-1945-6763-403B0A2D0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90164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28B2C6-CFCF-47F7-5C76-21213D7804CE}"/>
              </a:ext>
            </a:extLst>
          </p:cNvPr>
          <p:cNvSpPr txBox="1"/>
          <p:nvPr/>
        </p:nvSpPr>
        <p:spPr>
          <a:xfrm>
            <a:off x="9805513" y="6492875"/>
            <a:ext cx="2386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won’t test you on this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1666E3-C9BA-1660-35A7-0411E2426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3224" y="0"/>
            <a:ext cx="31787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1272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7ECBA-CA98-22B3-B345-681002BED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Cartesian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C507F-F660-793C-183D-06000FEE9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654636" cy="5129357"/>
          </a:xfrm>
        </p:spPr>
        <p:txBody>
          <a:bodyPr>
            <a:normAutofit/>
          </a:bodyPr>
          <a:lstStyle/>
          <a:p>
            <a:r>
              <a:rPr lang="en-US" dirty="0"/>
              <a:t>A × B = {(x, y)|∀ x ∈ A and ∀y ∈ B}</a:t>
            </a:r>
          </a:p>
          <a:p>
            <a:pPr lvl="1"/>
            <a:r>
              <a:rPr lang="en-US" dirty="0"/>
              <a:t>(x, y) is an ordered pair – not a set (order matters)</a:t>
            </a:r>
          </a:p>
          <a:p>
            <a:pPr lvl="1"/>
            <a:endParaRPr lang="en-US" dirty="0"/>
          </a:p>
          <a:p>
            <a:r>
              <a:rPr lang="en-US" dirty="0"/>
              <a:t>Ex. </a:t>
            </a:r>
          </a:p>
          <a:p>
            <a:pPr lvl="1"/>
            <a:r>
              <a:rPr lang="en-US" dirty="0"/>
              <a:t>A = {Red, Blue, Green}</a:t>
            </a:r>
          </a:p>
          <a:p>
            <a:pPr lvl="1"/>
            <a:r>
              <a:rPr lang="en-US" dirty="0"/>
              <a:t>B = {1, 2, 3}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 x B = {</a:t>
            </a:r>
          </a:p>
          <a:p>
            <a:pPr marL="457200" lvl="1" indent="0">
              <a:buNone/>
            </a:pPr>
            <a:r>
              <a:rPr lang="en-US" dirty="0"/>
              <a:t>	 (Red, 1), (Blue, 1), (Green, 1),  </a:t>
            </a:r>
          </a:p>
          <a:p>
            <a:pPr marL="457200" lvl="1" indent="0">
              <a:buNone/>
            </a:pPr>
            <a:r>
              <a:rPr lang="en-US" dirty="0"/>
              <a:t>	 (Red, 2), (Blue, 2), (Green, 2), </a:t>
            </a:r>
          </a:p>
          <a:p>
            <a:pPr marL="457200" lvl="1" indent="0">
              <a:buNone/>
            </a:pPr>
            <a:r>
              <a:rPr lang="en-US" dirty="0"/>
              <a:t> 	(Red, 3), (Blue, 3), (Green, 3), </a:t>
            </a:r>
          </a:p>
          <a:p>
            <a:pPr marL="457200" lvl="1" indent="0">
              <a:buNone/>
            </a:pPr>
            <a:r>
              <a:rPr lang="en-US" dirty="0"/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4477145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DEB369-A525-02FA-B267-5832602DA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720" y="1853334"/>
            <a:ext cx="6718559" cy="7665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886317-73E1-91C3-AA63-C3C8B5F7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way to frame 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7DF398-7937-D103-46DF-BE3CAB46E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059" y="2782527"/>
            <a:ext cx="8163879" cy="371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7913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068E-7CD3-154C-0A86-616359EA2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2116E-FDFA-BF5E-1C06-6F9C62D4A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Dice = set of all dice faces + a blank</a:t>
            </a:r>
          </a:p>
          <a:p>
            <a:r>
              <a:rPr lang="en-US" dirty="0"/>
              <a:t>I want to find all possible combinations of 2 dice faces to make a set of dominoes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Dominos = D x D  </a:t>
            </a:r>
          </a:p>
          <a:p>
            <a:endParaRPr lang="en-US" dirty="0"/>
          </a:p>
          <a:p>
            <a:r>
              <a:rPr lang="en-US" dirty="0"/>
              <a:t>What is |Dominos|?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122" name="Picture 2" descr="D6 Vector Art, Icons, and Graphics for Free Download">
            <a:extLst>
              <a:ext uri="{FF2B5EF4-FFF2-40B4-BE49-F238E27FC236}">
                <a16:creationId xmlns:a16="http://schemas.microsoft.com/office/drawing/2014/main" id="{D03E437B-D4D2-D15B-99D4-66BDA2819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3831" y="88106"/>
            <a:ext cx="2857500" cy="18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D6 Vector Art, Icons, and Graphics for Free Download">
            <a:extLst>
              <a:ext uri="{FF2B5EF4-FFF2-40B4-BE49-F238E27FC236}">
                <a16:creationId xmlns:a16="http://schemas.microsoft.com/office/drawing/2014/main" id="{02527E9B-BCA5-A1BA-BD4C-9DA9930727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51" t="7560" r="4303" b="50878"/>
          <a:stretch>
            <a:fillRect/>
          </a:stretch>
        </p:blipFill>
        <p:spPr bwMode="auto">
          <a:xfrm>
            <a:off x="8506691" y="230188"/>
            <a:ext cx="872838" cy="781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749D17E-17F3-E063-9689-396F67E6C209}"/>
              </a:ext>
            </a:extLst>
          </p:cNvPr>
          <p:cNvSpPr/>
          <p:nvPr/>
        </p:nvSpPr>
        <p:spPr>
          <a:xfrm>
            <a:off x="8686799" y="365125"/>
            <a:ext cx="469322" cy="480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6" name="Picture 6" descr="Isolated domino icon Isolated domino icon. Children toy - Vector illustration design domino stock illustrations">
            <a:extLst>
              <a:ext uri="{FF2B5EF4-FFF2-40B4-BE49-F238E27FC236}">
                <a16:creationId xmlns:a16="http://schemas.microsoft.com/office/drawing/2014/main" id="{AB658B2F-BFB6-6CE0-7C79-464D57372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435" y="3837709"/>
            <a:ext cx="3020291" cy="3020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42246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8E1B0-B368-7D61-2D69-93A6B041F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cartesian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ABF62-2E40-A96D-0616-7FDDFEB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26337" cy="4351338"/>
          </a:xfrm>
        </p:spPr>
        <p:txBody>
          <a:bodyPr/>
          <a:lstStyle/>
          <a:p>
            <a:r>
              <a:rPr lang="en-US" dirty="0"/>
              <a:t>Assuming the left item is the x coordinate,</a:t>
            </a:r>
          </a:p>
          <a:p>
            <a:r>
              <a:rPr lang="en-US" dirty="0"/>
              <a:t>And the right one is the y coordinate…</a:t>
            </a:r>
          </a:p>
          <a:p>
            <a:endParaRPr lang="en-US" dirty="0"/>
          </a:p>
          <a:p>
            <a:r>
              <a:rPr lang="en-US" dirty="0"/>
              <a:t>What would it look like to plot all Dominos on an </a:t>
            </a:r>
            <a:r>
              <a:rPr lang="en-US" dirty="0" err="1"/>
              <a:t>xy</a:t>
            </a:r>
            <a:r>
              <a:rPr lang="en-US" dirty="0"/>
              <a:t> plane?</a:t>
            </a:r>
          </a:p>
        </p:txBody>
      </p:sp>
    </p:spTree>
    <p:extLst>
      <p:ext uri="{BB962C8B-B14F-4D97-AF65-F5344CB8AC3E}">
        <p14:creationId xmlns:p14="http://schemas.microsoft.com/office/powerpoint/2010/main" val="30574750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B6E3D-26A7-EAAC-121D-45904BEA1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Speaking more generally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6CB8-4773-A936-88CB-DA837F7A2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Lets say we have some set with </a:t>
            </a:r>
            <a:r>
              <a:rPr lang="en-US" i="1" dirty="0"/>
              <a:t>n</a:t>
            </a:r>
            <a:r>
              <a:rPr lang="en-US" dirty="0"/>
              <a:t> items in it</a:t>
            </a:r>
          </a:p>
          <a:p>
            <a:endParaRPr lang="en-US" dirty="0"/>
          </a:p>
          <a:p>
            <a:r>
              <a:rPr lang="en-US" dirty="0"/>
              <a:t>A = {x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x</a:t>
            </a:r>
            <a:r>
              <a:rPr lang="en-US" baseline="-25000" dirty="0"/>
              <a:t>3</a:t>
            </a:r>
            <a:r>
              <a:rPr lang="en-US" dirty="0"/>
              <a:t>, …. 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We can also use set builder notation with a set like this</a:t>
            </a:r>
          </a:p>
          <a:p>
            <a:pPr lvl="1"/>
            <a:r>
              <a:rPr lang="en-US" dirty="0"/>
              <a:t>B = {y | y ∈ A and y %2 equals 0}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9786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DB0B0-6E85-FA81-6130-5F47414A8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Infinite in different directions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66EC266-5686-E25F-7794-5C2ECD7A9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 err="1"/>
              <a:t>ℕ</a:t>
            </a:r>
            <a:r>
              <a:rPr lang="en-US" dirty="0"/>
              <a:t> is a set of positive whole numbers </a:t>
            </a:r>
          </a:p>
          <a:p>
            <a:pPr lvl="1"/>
            <a:r>
              <a:rPr lang="en-US" dirty="0"/>
              <a:t>{1, 2, 3, …}</a:t>
            </a:r>
          </a:p>
          <a:p>
            <a:pPr lvl="1"/>
            <a:r>
              <a:rPr lang="en-US" dirty="0"/>
              <a:t>1 is the smallest number in the set</a:t>
            </a:r>
          </a:p>
          <a:p>
            <a:pPr lvl="1"/>
            <a:r>
              <a:rPr lang="en-US" dirty="0"/>
              <a:t>There is no highest number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This is different from </a:t>
            </a:r>
            <a:r>
              <a:rPr lang="en-US" dirty="0" err="1"/>
              <a:t>ℤ</a:t>
            </a:r>
            <a:r>
              <a:rPr lang="en-US" dirty="0"/>
              <a:t>, </a:t>
            </a:r>
            <a:r>
              <a:rPr lang="en-US" dirty="0" err="1"/>
              <a:t>ℚ</a:t>
            </a:r>
            <a:r>
              <a:rPr lang="en-US" dirty="0"/>
              <a:t>, or </a:t>
            </a:r>
            <a:r>
              <a:rPr lang="en-US" dirty="0" err="1"/>
              <a:t>ℝ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No highest number</a:t>
            </a:r>
          </a:p>
          <a:p>
            <a:pPr lvl="1"/>
            <a:r>
              <a:rPr lang="en-US" dirty="0"/>
              <a:t>No smallest number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3304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CD753B-37B7-30F3-1EBD-86509A9B8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it for sets this week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67A92-BD2D-FC88-BE80-65F5A3336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Lets think about this month</a:t>
            </a:r>
          </a:p>
        </p:txBody>
      </p:sp>
    </p:spTree>
    <p:extLst>
      <p:ext uri="{BB962C8B-B14F-4D97-AF65-F5344CB8AC3E}">
        <p14:creationId xmlns:p14="http://schemas.microsoft.com/office/powerpoint/2010/main" val="20078081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41B3CF2-3A46-EB36-5813-7D34B98ED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first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CDCB7F5-6050-9561-CAE8-389A6EFBA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What’s working</a:t>
            </a:r>
          </a:p>
          <a:p>
            <a:r>
              <a:rPr lang="en-US" dirty="0"/>
              <a:t>What isn’t</a:t>
            </a:r>
          </a:p>
          <a:p>
            <a:endParaRPr lang="en-US" dirty="0"/>
          </a:p>
          <a:p>
            <a:r>
              <a:rPr lang="en-US" dirty="0"/>
              <a:t>Note – </a:t>
            </a:r>
          </a:p>
          <a:p>
            <a:pPr lvl="1"/>
            <a:r>
              <a:rPr lang="en-US" dirty="0"/>
              <a:t>I know getting feedback on </a:t>
            </a:r>
            <a:r>
              <a:rPr lang="en-US" dirty="0" err="1"/>
              <a:t>homeworks</a:t>
            </a:r>
            <a:r>
              <a:rPr lang="en-US" dirty="0"/>
              <a:t> is a priority for you. I’m actively working on this and want the turnaround to be faster generally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5680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4488B-9B74-8344-CF5E-104BA2194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Remainder of class: </a:t>
            </a:r>
            <a:br>
              <a:rPr lang="en-US" dirty="0"/>
            </a:br>
            <a:r>
              <a:rPr lang="en-US" dirty="0"/>
              <a:t>Open Q and A on anything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8F3C3-EB5C-3B5B-4B79-4DC2DD136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r>
              <a:rPr lang="en-US" dirty="0"/>
              <a:t>If you’re feeling good – great! An early night for you</a:t>
            </a:r>
          </a:p>
          <a:p>
            <a:endParaRPr lang="en-US" dirty="0"/>
          </a:p>
          <a:p>
            <a:r>
              <a:rPr lang="en-US" dirty="0"/>
              <a:t>Reminder: no stupid questions</a:t>
            </a:r>
          </a:p>
          <a:p>
            <a:pPr lvl="1"/>
            <a:r>
              <a:rPr lang="en-US" dirty="0"/>
              <a:t>Pastry of your choice from standard if you can ask a good-faith stupid question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167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10684-F25D-ABCF-7520-9EB2C75C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Mixed Quantifiers?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C7444-F0B5-ADE9-8E4E-C9ADB188D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952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5303</TotalTime>
  <Words>3499</Words>
  <Application>Microsoft Macintosh PowerPoint</Application>
  <PresentationFormat>Widescreen</PresentationFormat>
  <Paragraphs>508</Paragraphs>
  <Slides>57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6" baseType="lpstr">
      <vt:lpstr>Aptos</vt:lpstr>
      <vt:lpstr>Aptos Display</vt:lpstr>
      <vt:lpstr>Arial</vt:lpstr>
      <vt:lpstr>Cambria Math</vt:lpstr>
      <vt:lpstr>Dreaming Outloud Script Pro</vt:lpstr>
      <vt:lpstr>Kunstler Script</vt:lpstr>
      <vt:lpstr>Lucida Blackletter</vt:lpstr>
      <vt:lpstr>Wingdings</vt:lpstr>
      <vt:lpstr>Office Theme</vt:lpstr>
      <vt:lpstr>Discrete week 4</vt:lpstr>
      <vt:lpstr>Sets</vt:lpstr>
      <vt:lpstr>What is a set</vt:lpstr>
      <vt:lpstr>Thoughts on Set Cardinality</vt:lpstr>
      <vt:lpstr>Inclusion Exclusion principle</vt:lpstr>
      <vt:lpstr>No ordering but sets can be equal</vt:lpstr>
      <vt:lpstr>Common sets of numbers</vt:lpstr>
      <vt:lpstr>Sets don’t have to be numbers</vt:lpstr>
      <vt:lpstr>∅ The Empty set (aka null set) </vt:lpstr>
      <vt:lpstr>PowerPoint Presentation</vt:lpstr>
      <vt:lpstr>So these mean the same thing</vt:lpstr>
      <vt:lpstr>Practice   Name 5 elements from the following sets</vt:lpstr>
      <vt:lpstr>Little more practice…</vt:lpstr>
      <vt:lpstr>Some weird properties of our known sets</vt:lpstr>
      <vt:lpstr>Set Operators</vt:lpstr>
      <vt:lpstr>Lets say we have a set (called A) of some stuff </vt:lpstr>
      <vt:lpstr>And we have a set (B) that has no elements in common</vt:lpstr>
      <vt:lpstr>A contains all the elements of C (and then some</vt:lpstr>
      <vt:lpstr>Subset notation:</vt:lpstr>
      <vt:lpstr>Think of it this way</vt:lpstr>
      <vt:lpstr>Or maybe another way?</vt:lpstr>
      <vt:lpstr>PowerPoint Presentation</vt:lpstr>
      <vt:lpstr>Quantifiers Practice</vt:lpstr>
      <vt:lpstr>Set Intersection In both A and B</vt:lpstr>
      <vt:lpstr>Set Union  In either A or B</vt:lpstr>
      <vt:lpstr>Complement</vt:lpstr>
      <vt:lpstr>There’s always a bigger set</vt:lpstr>
      <vt:lpstr>It Depends We decide what the context is </vt:lpstr>
      <vt:lpstr>Difference</vt:lpstr>
      <vt:lpstr>Symmetric Difference (A or B but not A and B)</vt:lpstr>
      <vt:lpstr>CS applications</vt:lpstr>
      <vt:lpstr>PowerPoint Presentation</vt:lpstr>
      <vt:lpstr>PowerPoint Presentation</vt:lpstr>
      <vt:lpstr>How could we describe these in set theory?</vt:lpstr>
      <vt:lpstr>Personally</vt:lpstr>
      <vt:lpstr>So far in class:  New ways to phrase old ideas</vt:lpstr>
      <vt:lpstr>Proving A∩B⊆A</vt:lpstr>
      <vt:lpstr>Proof</vt:lpstr>
      <vt:lpstr>Maybe something a bit more complicated</vt:lpstr>
      <vt:lpstr>Are  (A ∪ B)C and AC ∩ BC equivalent statements?</vt:lpstr>
      <vt:lpstr>My big hangup with proofs</vt:lpstr>
      <vt:lpstr>So – how do I translate these things properly? </vt:lpstr>
      <vt:lpstr>Sets of sets</vt:lpstr>
      <vt:lpstr>Sets of sets</vt:lpstr>
      <vt:lpstr>Power sets (P    or  P )</vt:lpstr>
      <vt:lpstr>Practice Find the cardinality of the following sets</vt:lpstr>
      <vt:lpstr>|P (A) | = 16</vt:lpstr>
      <vt:lpstr>Cartesian Product</vt:lpstr>
      <vt:lpstr>Another way to frame it</vt:lpstr>
      <vt:lpstr>Practice</vt:lpstr>
      <vt:lpstr>Plotting cartesian products</vt:lpstr>
      <vt:lpstr>Speaking more generally</vt:lpstr>
      <vt:lpstr>Infinite in different directions</vt:lpstr>
      <vt:lpstr>That’s it for sets this week</vt:lpstr>
      <vt:lpstr>Feedback first</vt:lpstr>
      <vt:lpstr>Remainder of class:  Open Q and A on anything so far</vt:lpstr>
      <vt:lpstr>Mixed Quantifiers?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Domino, Molly</dc:creator>
  <cp:lastModifiedBy>Domino, Molly</cp:lastModifiedBy>
  <cp:revision>15</cp:revision>
  <dcterms:created xsi:type="dcterms:W3CDTF">2026-01-19T00:06:14Z</dcterms:created>
  <dcterms:modified xsi:type="dcterms:W3CDTF">2026-01-29T22:08:53Z</dcterms:modified>
</cp:coreProperties>
</file>