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350" r:id="rId3"/>
    <p:sldId id="288" r:id="rId4"/>
    <p:sldId id="348" r:id="rId5"/>
    <p:sldId id="349" r:id="rId6"/>
    <p:sldId id="321" r:id="rId7"/>
    <p:sldId id="289" r:id="rId8"/>
    <p:sldId id="275" r:id="rId9"/>
    <p:sldId id="279" r:id="rId10"/>
    <p:sldId id="280" r:id="rId11"/>
    <p:sldId id="281" r:id="rId12"/>
    <p:sldId id="325" r:id="rId13"/>
    <p:sldId id="283" r:id="rId14"/>
    <p:sldId id="286" r:id="rId15"/>
    <p:sldId id="287" r:id="rId16"/>
    <p:sldId id="285" r:id="rId17"/>
    <p:sldId id="284" r:id="rId18"/>
    <p:sldId id="323" r:id="rId19"/>
    <p:sldId id="326" r:id="rId20"/>
    <p:sldId id="345" r:id="rId21"/>
    <p:sldId id="346" r:id="rId22"/>
    <p:sldId id="347" r:id="rId23"/>
    <p:sldId id="351" r:id="rId24"/>
    <p:sldId id="327" r:id="rId25"/>
    <p:sldId id="328" r:id="rId26"/>
    <p:sldId id="329" r:id="rId27"/>
    <p:sldId id="330" r:id="rId28"/>
    <p:sldId id="331" r:id="rId29"/>
    <p:sldId id="332" r:id="rId30"/>
    <p:sldId id="344" r:id="rId31"/>
    <p:sldId id="352" r:id="rId32"/>
    <p:sldId id="353" r:id="rId33"/>
    <p:sldId id="333" r:id="rId34"/>
    <p:sldId id="336" r:id="rId35"/>
    <p:sldId id="337" r:id="rId36"/>
    <p:sldId id="334" r:id="rId37"/>
    <p:sldId id="317" r:id="rId38"/>
    <p:sldId id="318" r:id="rId39"/>
    <p:sldId id="319" r:id="rId40"/>
    <p:sldId id="338" r:id="rId41"/>
    <p:sldId id="316" r:id="rId42"/>
    <p:sldId id="315" r:id="rId43"/>
    <p:sldId id="339" r:id="rId44"/>
    <p:sldId id="354" r:id="rId45"/>
    <p:sldId id="340" r:id="rId46"/>
    <p:sldId id="341" r:id="rId47"/>
    <p:sldId id="342" r:id="rId48"/>
    <p:sldId id="335" r:id="rId49"/>
    <p:sldId id="343" r:id="rId50"/>
    <p:sldId id="356" r:id="rId51"/>
    <p:sldId id="355" r:id="rId52"/>
    <p:sldId id="360" r:id="rId53"/>
    <p:sldId id="357" r:id="rId54"/>
    <p:sldId id="366" r:id="rId55"/>
    <p:sldId id="358" r:id="rId56"/>
    <p:sldId id="359" r:id="rId57"/>
    <p:sldId id="371" r:id="rId58"/>
    <p:sldId id="361" r:id="rId59"/>
    <p:sldId id="362" r:id="rId60"/>
    <p:sldId id="363" r:id="rId61"/>
    <p:sldId id="364" r:id="rId62"/>
    <p:sldId id="365" r:id="rId63"/>
    <p:sldId id="367" r:id="rId64"/>
    <p:sldId id="368" r:id="rId65"/>
    <p:sldId id="369" r:id="rId66"/>
    <p:sldId id="370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0"/>
    <p:restoredTop sz="94643"/>
  </p:normalViewPr>
  <p:slideViewPr>
    <p:cSldViewPr snapToGrid="0">
      <p:cViewPr>
        <p:scale>
          <a:sx n="118" d="100"/>
          <a:sy n="118" d="100"/>
        </p:scale>
        <p:origin x="-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8B4E53-1B2E-BF46-97E2-4EEA52C1812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4B82C521-AFCB-4E46-BAEE-6A775F952254}">
      <dgm:prSet phldrT="[Text]"/>
      <dgm:spPr/>
      <dgm:t>
        <a:bodyPr/>
        <a:lstStyle/>
        <a:p>
          <a:r>
            <a:rPr lang="en-US" dirty="0"/>
            <a:t>Premise </a:t>
          </a:r>
        </a:p>
        <a:p>
          <a:r>
            <a:rPr lang="en-US" dirty="0"/>
            <a:t>(and assumptions)</a:t>
          </a:r>
        </a:p>
      </dgm:t>
    </dgm:pt>
    <dgm:pt modelId="{8E092762-EE26-7C48-B2D2-B521287EEBCF}" type="parTrans" cxnId="{928B9561-F936-6241-AC43-BC2DDC2B6EE0}">
      <dgm:prSet/>
      <dgm:spPr/>
      <dgm:t>
        <a:bodyPr/>
        <a:lstStyle/>
        <a:p>
          <a:endParaRPr lang="en-US"/>
        </a:p>
      </dgm:t>
    </dgm:pt>
    <dgm:pt modelId="{A75B7D04-3DC6-6044-AE3D-6F9593A1FD27}" type="sibTrans" cxnId="{928B9561-F936-6241-AC43-BC2DDC2B6EE0}">
      <dgm:prSet/>
      <dgm:spPr/>
      <dgm:t>
        <a:bodyPr/>
        <a:lstStyle/>
        <a:p>
          <a:endParaRPr lang="en-US"/>
        </a:p>
      </dgm:t>
    </dgm:pt>
    <dgm:pt modelId="{9FE5AF1C-87AC-6B44-AE74-D70775721E9F}">
      <dgm:prSet phldrT="[Text]"/>
      <dgm:spPr/>
      <dgm:t>
        <a:bodyPr/>
        <a:lstStyle/>
        <a:p>
          <a:r>
            <a:rPr lang="en-US" dirty="0"/>
            <a:t>Logical steps</a:t>
          </a:r>
        </a:p>
      </dgm:t>
    </dgm:pt>
    <dgm:pt modelId="{521AAA23-5C85-1F49-B04B-BBB4DF18A81E}" type="parTrans" cxnId="{150C5694-8BA9-894C-B3DB-904D3E944945}">
      <dgm:prSet/>
      <dgm:spPr/>
      <dgm:t>
        <a:bodyPr/>
        <a:lstStyle/>
        <a:p>
          <a:endParaRPr lang="en-US"/>
        </a:p>
      </dgm:t>
    </dgm:pt>
    <dgm:pt modelId="{80CF7DBC-C151-7C4B-9710-B29BF9F3B573}" type="sibTrans" cxnId="{150C5694-8BA9-894C-B3DB-904D3E944945}">
      <dgm:prSet/>
      <dgm:spPr/>
      <dgm:t>
        <a:bodyPr/>
        <a:lstStyle/>
        <a:p>
          <a:endParaRPr lang="en-US"/>
        </a:p>
      </dgm:t>
    </dgm:pt>
    <dgm:pt modelId="{EF1CCB2D-E78F-1846-AF5F-B9703B902372}">
      <dgm:prSet phldrT="[Text]"/>
      <dgm:spPr/>
      <dgm:t>
        <a:bodyPr/>
        <a:lstStyle/>
        <a:p>
          <a:r>
            <a:rPr lang="en-US" dirty="0"/>
            <a:t>Conclusion</a:t>
          </a:r>
        </a:p>
      </dgm:t>
    </dgm:pt>
    <dgm:pt modelId="{B62EF606-350D-6842-A12B-BF3690521A38}" type="parTrans" cxnId="{02E2ED31-19E3-174F-81BD-4CFC88EBBE50}">
      <dgm:prSet/>
      <dgm:spPr/>
      <dgm:t>
        <a:bodyPr/>
        <a:lstStyle/>
        <a:p>
          <a:endParaRPr lang="en-US"/>
        </a:p>
      </dgm:t>
    </dgm:pt>
    <dgm:pt modelId="{DBB1727D-DA45-5344-B56B-2FA69361CCEC}" type="sibTrans" cxnId="{02E2ED31-19E3-174F-81BD-4CFC88EBBE50}">
      <dgm:prSet/>
      <dgm:spPr/>
      <dgm:t>
        <a:bodyPr/>
        <a:lstStyle/>
        <a:p>
          <a:endParaRPr lang="en-US"/>
        </a:p>
      </dgm:t>
    </dgm:pt>
    <dgm:pt modelId="{4D6FA22A-BBEB-EE45-BBED-C4588DB04957}" type="pres">
      <dgm:prSet presAssocID="{8D8B4E53-1B2E-BF46-97E2-4EEA52C18128}" presName="Name0" presStyleCnt="0">
        <dgm:presLayoutVars>
          <dgm:dir/>
          <dgm:resizeHandles val="exact"/>
        </dgm:presLayoutVars>
      </dgm:prSet>
      <dgm:spPr/>
    </dgm:pt>
    <dgm:pt modelId="{60CACECF-B171-8942-AC90-C3EDC29F2492}" type="pres">
      <dgm:prSet presAssocID="{4B82C521-AFCB-4E46-BAEE-6A775F952254}" presName="node" presStyleLbl="node1" presStyleIdx="0" presStyleCnt="3">
        <dgm:presLayoutVars>
          <dgm:bulletEnabled val="1"/>
        </dgm:presLayoutVars>
      </dgm:prSet>
      <dgm:spPr/>
    </dgm:pt>
    <dgm:pt modelId="{777A747E-AE55-8648-8BC8-15E3E2B14436}" type="pres">
      <dgm:prSet presAssocID="{A75B7D04-3DC6-6044-AE3D-6F9593A1FD27}" presName="sibTrans" presStyleLbl="sibTrans2D1" presStyleIdx="0" presStyleCnt="2"/>
      <dgm:spPr/>
    </dgm:pt>
    <dgm:pt modelId="{8AEC3F5B-A359-354D-AB7D-1F4BEB17D984}" type="pres">
      <dgm:prSet presAssocID="{A75B7D04-3DC6-6044-AE3D-6F9593A1FD27}" presName="connectorText" presStyleLbl="sibTrans2D1" presStyleIdx="0" presStyleCnt="2"/>
      <dgm:spPr/>
    </dgm:pt>
    <dgm:pt modelId="{B4C6F252-62A2-654B-B798-5ACCE9460B00}" type="pres">
      <dgm:prSet presAssocID="{9FE5AF1C-87AC-6B44-AE74-D70775721E9F}" presName="node" presStyleLbl="node1" presStyleIdx="1" presStyleCnt="3">
        <dgm:presLayoutVars>
          <dgm:bulletEnabled val="1"/>
        </dgm:presLayoutVars>
      </dgm:prSet>
      <dgm:spPr/>
    </dgm:pt>
    <dgm:pt modelId="{E29BFE0C-B0F1-FC47-AB7C-2BD4BE0F7DB8}" type="pres">
      <dgm:prSet presAssocID="{80CF7DBC-C151-7C4B-9710-B29BF9F3B573}" presName="sibTrans" presStyleLbl="sibTrans2D1" presStyleIdx="1" presStyleCnt="2"/>
      <dgm:spPr/>
    </dgm:pt>
    <dgm:pt modelId="{5F5B19B5-1139-0E4A-A75D-088CBC8A6CB7}" type="pres">
      <dgm:prSet presAssocID="{80CF7DBC-C151-7C4B-9710-B29BF9F3B573}" presName="connectorText" presStyleLbl="sibTrans2D1" presStyleIdx="1" presStyleCnt="2"/>
      <dgm:spPr/>
    </dgm:pt>
    <dgm:pt modelId="{5AB706E1-920A-394B-A171-4CA11746A861}" type="pres">
      <dgm:prSet presAssocID="{EF1CCB2D-E78F-1846-AF5F-B9703B902372}" presName="node" presStyleLbl="node1" presStyleIdx="2" presStyleCnt="3">
        <dgm:presLayoutVars>
          <dgm:bulletEnabled val="1"/>
        </dgm:presLayoutVars>
      </dgm:prSet>
      <dgm:spPr/>
    </dgm:pt>
  </dgm:ptLst>
  <dgm:cxnLst>
    <dgm:cxn modelId="{2152FA09-BD47-864D-B093-3093D0D8C568}" type="presOf" srcId="{80CF7DBC-C151-7C4B-9710-B29BF9F3B573}" destId="{5F5B19B5-1139-0E4A-A75D-088CBC8A6CB7}" srcOrd="1" destOrd="0" presId="urn:microsoft.com/office/officeart/2005/8/layout/process1"/>
    <dgm:cxn modelId="{1EAB240D-0959-E34B-B0BF-68DE2EC835FF}" type="presOf" srcId="{A75B7D04-3DC6-6044-AE3D-6F9593A1FD27}" destId="{777A747E-AE55-8648-8BC8-15E3E2B14436}" srcOrd="0" destOrd="0" presId="urn:microsoft.com/office/officeart/2005/8/layout/process1"/>
    <dgm:cxn modelId="{633DDC26-FC59-7648-A9FF-E7F375A58A2A}" type="presOf" srcId="{8D8B4E53-1B2E-BF46-97E2-4EEA52C18128}" destId="{4D6FA22A-BBEB-EE45-BBED-C4588DB04957}" srcOrd="0" destOrd="0" presId="urn:microsoft.com/office/officeart/2005/8/layout/process1"/>
    <dgm:cxn modelId="{E31EDB2E-0946-984A-82BF-89671652BEA3}" type="presOf" srcId="{EF1CCB2D-E78F-1846-AF5F-B9703B902372}" destId="{5AB706E1-920A-394B-A171-4CA11746A861}" srcOrd="0" destOrd="0" presId="urn:microsoft.com/office/officeart/2005/8/layout/process1"/>
    <dgm:cxn modelId="{02E2ED31-19E3-174F-81BD-4CFC88EBBE50}" srcId="{8D8B4E53-1B2E-BF46-97E2-4EEA52C18128}" destId="{EF1CCB2D-E78F-1846-AF5F-B9703B902372}" srcOrd="2" destOrd="0" parTransId="{B62EF606-350D-6842-A12B-BF3690521A38}" sibTransId="{DBB1727D-DA45-5344-B56B-2FA69361CCEC}"/>
    <dgm:cxn modelId="{209FCC5F-CA03-7F4C-95CD-6CB32E250888}" type="presOf" srcId="{9FE5AF1C-87AC-6B44-AE74-D70775721E9F}" destId="{B4C6F252-62A2-654B-B798-5ACCE9460B00}" srcOrd="0" destOrd="0" presId="urn:microsoft.com/office/officeart/2005/8/layout/process1"/>
    <dgm:cxn modelId="{928B9561-F936-6241-AC43-BC2DDC2B6EE0}" srcId="{8D8B4E53-1B2E-BF46-97E2-4EEA52C18128}" destId="{4B82C521-AFCB-4E46-BAEE-6A775F952254}" srcOrd="0" destOrd="0" parTransId="{8E092762-EE26-7C48-B2D2-B521287EEBCF}" sibTransId="{A75B7D04-3DC6-6044-AE3D-6F9593A1FD27}"/>
    <dgm:cxn modelId="{AB296493-6FCD-F844-A5E8-AD9DA7756D38}" type="presOf" srcId="{4B82C521-AFCB-4E46-BAEE-6A775F952254}" destId="{60CACECF-B171-8942-AC90-C3EDC29F2492}" srcOrd="0" destOrd="0" presId="urn:microsoft.com/office/officeart/2005/8/layout/process1"/>
    <dgm:cxn modelId="{150C5694-8BA9-894C-B3DB-904D3E944945}" srcId="{8D8B4E53-1B2E-BF46-97E2-4EEA52C18128}" destId="{9FE5AF1C-87AC-6B44-AE74-D70775721E9F}" srcOrd="1" destOrd="0" parTransId="{521AAA23-5C85-1F49-B04B-BBB4DF18A81E}" sibTransId="{80CF7DBC-C151-7C4B-9710-B29BF9F3B573}"/>
    <dgm:cxn modelId="{408B05AB-CDA4-FC42-BB39-1FBBE26FC5AF}" type="presOf" srcId="{80CF7DBC-C151-7C4B-9710-B29BF9F3B573}" destId="{E29BFE0C-B0F1-FC47-AB7C-2BD4BE0F7DB8}" srcOrd="0" destOrd="0" presId="urn:microsoft.com/office/officeart/2005/8/layout/process1"/>
    <dgm:cxn modelId="{54C70BF8-DF8D-3848-A532-F7BE6820F85B}" type="presOf" srcId="{A75B7D04-3DC6-6044-AE3D-6F9593A1FD27}" destId="{8AEC3F5B-A359-354D-AB7D-1F4BEB17D984}" srcOrd="1" destOrd="0" presId="urn:microsoft.com/office/officeart/2005/8/layout/process1"/>
    <dgm:cxn modelId="{2C05D897-4D1E-A748-BC5C-75D45382422B}" type="presParOf" srcId="{4D6FA22A-BBEB-EE45-BBED-C4588DB04957}" destId="{60CACECF-B171-8942-AC90-C3EDC29F2492}" srcOrd="0" destOrd="0" presId="urn:microsoft.com/office/officeart/2005/8/layout/process1"/>
    <dgm:cxn modelId="{BAB8C03E-1DA3-1F42-8312-13ED9C3D6238}" type="presParOf" srcId="{4D6FA22A-BBEB-EE45-BBED-C4588DB04957}" destId="{777A747E-AE55-8648-8BC8-15E3E2B14436}" srcOrd="1" destOrd="0" presId="urn:microsoft.com/office/officeart/2005/8/layout/process1"/>
    <dgm:cxn modelId="{BA73C84C-9515-614B-B8D0-987A9053C56D}" type="presParOf" srcId="{777A747E-AE55-8648-8BC8-15E3E2B14436}" destId="{8AEC3F5B-A359-354D-AB7D-1F4BEB17D984}" srcOrd="0" destOrd="0" presId="urn:microsoft.com/office/officeart/2005/8/layout/process1"/>
    <dgm:cxn modelId="{63DC488A-461C-9A4D-9FAB-49DDDA6ECF39}" type="presParOf" srcId="{4D6FA22A-BBEB-EE45-BBED-C4588DB04957}" destId="{B4C6F252-62A2-654B-B798-5ACCE9460B00}" srcOrd="2" destOrd="0" presId="urn:microsoft.com/office/officeart/2005/8/layout/process1"/>
    <dgm:cxn modelId="{61A58F3D-47EE-9945-A03F-985B57488F9F}" type="presParOf" srcId="{4D6FA22A-BBEB-EE45-BBED-C4588DB04957}" destId="{E29BFE0C-B0F1-FC47-AB7C-2BD4BE0F7DB8}" srcOrd="3" destOrd="0" presId="urn:microsoft.com/office/officeart/2005/8/layout/process1"/>
    <dgm:cxn modelId="{49C49E0B-DB08-4C4C-9717-E8D94DE471C1}" type="presParOf" srcId="{E29BFE0C-B0F1-FC47-AB7C-2BD4BE0F7DB8}" destId="{5F5B19B5-1139-0E4A-A75D-088CBC8A6CB7}" srcOrd="0" destOrd="0" presId="urn:microsoft.com/office/officeart/2005/8/layout/process1"/>
    <dgm:cxn modelId="{8606A168-1FBD-204E-AAB0-A6889299203A}" type="presParOf" srcId="{4D6FA22A-BBEB-EE45-BBED-C4588DB04957}" destId="{5AB706E1-920A-394B-A171-4CA11746A86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8B4E53-1B2E-BF46-97E2-4EEA52C1812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4B82C521-AFCB-4E46-BAEE-6A775F952254}">
      <dgm:prSet phldrT="[Text]"/>
      <dgm:spPr/>
      <dgm:t>
        <a:bodyPr/>
        <a:lstStyle/>
        <a:p>
          <a:r>
            <a:rPr lang="en-US" dirty="0"/>
            <a:t>Premise </a:t>
          </a:r>
        </a:p>
        <a:p>
          <a:r>
            <a:rPr lang="en-US" dirty="0"/>
            <a:t>(and assumptions)</a:t>
          </a:r>
        </a:p>
      </dgm:t>
    </dgm:pt>
    <dgm:pt modelId="{8E092762-EE26-7C48-B2D2-B521287EEBCF}" type="parTrans" cxnId="{928B9561-F936-6241-AC43-BC2DDC2B6EE0}">
      <dgm:prSet/>
      <dgm:spPr/>
      <dgm:t>
        <a:bodyPr/>
        <a:lstStyle/>
        <a:p>
          <a:endParaRPr lang="en-US"/>
        </a:p>
      </dgm:t>
    </dgm:pt>
    <dgm:pt modelId="{A75B7D04-3DC6-6044-AE3D-6F9593A1FD27}" type="sibTrans" cxnId="{928B9561-F936-6241-AC43-BC2DDC2B6EE0}">
      <dgm:prSet/>
      <dgm:spPr/>
      <dgm:t>
        <a:bodyPr/>
        <a:lstStyle/>
        <a:p>
          <a:endParaRPr lang="en-US"/>
        </a:p>
      </dgm:t>
    </dgm:pt>
    <dgm:pt modelId="{9FE5AF1C-87AC-6B44-AE74-D70775721E9F}">
      <dgm:prSet phldrT="[Text]"/>
      <dgm:spPr/>
      <dgm:t>
        <a:bodyPr/>
        <a:lstStyle/>
        <a:p>
          <a:r>
            <a:rPr lang="en-US" dirty="0"/>
            <a:t>Logical steps</a:t>
          </a:r>
        </a:p>
      </dgm:t>
    </dgm:pt>
    <dgm:pt modelId="{521AAA23-5C85-1F49-B04B-BBB4DF18A81E}" type="parTrans" cxnId="{150C5694-8BA9-894C-B3DB-904D3E944945}">
      <dgm:prSet/>
      <dgm:spPr/>
      <dgm:t>
        <a:bodyPr/>
        <a:lstStyle/>
        <a:p>
          <a:endParaRPr lang="en-US"/>
        </a:p>
      </dgm:t>
    </dgm:pt>
    <dgm:pt modelId="{80CF7DBC-C151-7C4B-9710-B29BF9F3B573}" type="sibTrans" cxnId="{150C5694-8BA9-894C-B3DB-904D3E944945}">
      <dgm:prSet/>
      <dgm:spPr/>
      <dgm:t>
        <a:bodyPr/>
        <a:lstStyle/>
        <a:p>
          <a:endParaRPr lang="en-US"/>
        </a:p>
      </dgm:t>
    </dgm:pt>
    <dgm:pt modelId="{EF1CCB2D-E78F-1846-AF5F-B9703B902372}">
      <dgm:prSet phldrT="[Text]"/>
      <dgm:spPr/>
      <dgm:t>
        <a:bodyPr/>
        <a:lstStyle/>
        <a:p>
          <a:r>
            <a:rPr lang="en-US" dirty="0"/>
            <a:t>Conclusion</a:t>
          </a:r>
        </a:p>
      </dgm:t>
    </dgm:pt>
    <dgm:pt modelId="{B62EF606-350D-6842-A12B-BF3690521A38}" type="parTrans" cxnId="{02E2ED31-19E3-174F-81BD-4CFC88EBBE50}">
      <dgm:prSet/>
      <dgm:spPr/>
      <dgm:t>
        <a:bodyPr/>
        <a:lstStyle/>
        <a:p>
          <a:endParaRPr lang="en-US"/>
        </a:p>
      </dgm:t>
    </dgm:pt>
    <dgm:pt modelId="{DBB1727D-DA45-5344-B56B-2FA69361CCEC}" type="sibTrans" cxnId="{02E2ED31-19E3-174F-81BD-4CFC88EBBE50}">
      <dgm:prSet/>
      <dgm:spPr/>
      <dgm:t>
        <a:bodyPr/>
        <a:lstStyle/>
        <a:p>
          <a:endParaRPr lang="en-US"/>
        </a:p>
      </dgm:t>
    </dgm:pt>
    <dgm:pt modelId="{4D6FA22A-BBEB-EE45-BBED-C4588DB04957}" type="pres">
      <dgm:prSet presAssocID="{8D8B4E53-1B2E-BF46-97E2-4EEA52C18128}" presName="Name0" presStyleCnt="0">
        <dgm:presLayoutVars>
          <dgm:dir/>
          <dgm:resizeHandles val="exact"/>
        </dgm:presLayoutVars>
      </dgm:prSet>
      <dgm:spPr/>
    </dgm:pt>
    <dgm:pt modelId="{60CACECF-B171-8942-AC90-C3EDC29F2492}" type="pres">
      <dgm:prSet presAssocID="{4B82C521-AFCB-4E46-BAEE-6A775F952254}" presName="node" presStyleLbl="node1" presStyleIdx="0" presStyleCnt="3">
        <dgm:presLayoutVars>
          <dgm:bulletEnabled val="1"/>
        </dgm:presLayoutVars>
      </dgm:prSet>
      <dgm:spPr/>
    </dgm:pt>
    <dgm:pt modelId="{777A747E-AE55-8648-8BC8-15E3E2B14436}" type="pres">
      <dgm:prSet presAssocID="{A75B7D04-3DC6-6044-AE3D-6F9593A1FD27}" presName="sibTrans" presStyleLbl="sibTrans2D1" presStyleIdx="0" presStyleCnt="2"/>
      <dgm:spPr/>
    </dgm:pt>
    <dgm:pt modelId="{8AEC3F5B-A359-354D-AB7D-1F4BEB17D984}" type="pres">
      <dgm:prSet presAssocID="{A75B7D04-3DC6-6044-AE3D-6F9593A1FD27}" presName="connectorText" presStyleLbl="sibTrans2D1" presStyleIdx="0" presStyleCnt="2"/>
      <dgm:spPr/>
    </dgm:pt>
    <dgm:pt modelId="{B4C6F252-62A2-654B-B798-5ACCE9460B00}" type="pres">
      <dgm:prSet presAssocID="{9FE5AF1C-87AC-6B44-AE74-D70775721E9F}" presName="node" presStyleLbl="node1" presStyleIdx="1" presStyleCnt="3">
        <dgm:presLayoutVars>
          <dgm:bulletEnabled val="1"/>
        </dgm:presLayoutVars>
      </dgm:prSet>
      <dgm:spPr/>
    </dgm:pt>
    <dgm:pt modelId="{E29BFE0C-B0F1-FC47-AB7C-2BD4BE0F7DB8}" type="pres">
      <dgm:prSet presAssocID="{80CF7DBC-C151-7C4B-9710-B29BF9F3B573}" presName="sibTrans" presStyleLbl="sibTrans2D1" presStyleIdx="1" presStyleCnt="2"/>
      <dgm:spPr/>
    </dgm:pt>
    <dgm:pt modelId="{5F5B19B5-1139-0E4A-A75D-088CBC8A6CB7}" type="pres">
      <dgm:prSet presAssocID="{80CF7DBC-C151-7C4B-9710-B29BF9F3B573}" presName="connectorText" presStyleLbl="sibTrans2D1" presStyleIdx="1" presStyleCnt="2"/>
      <dgm:spPr/>
    </dgm:pt>
    <dgm:pt modelId="{5AB706E1-920A-394B-A171-4CA11746A861}" type="pres">
      <dgm:prSet presAssocID="{EF1CCB2D-E78F-1846-AF5F-B9703B902372}" presName="node" presStyleLbl="node1" presStyleIdx="2" presStyleCnt="3">
        <dgm:presLayoutVars>
          <dgm:bulletEnabled val="1"/>
        </dgm:presLayoutVars>
      </dgm:prSet>
      <dgm:spPr/>
    </dgm:pt>
  </dgm:ptLst>
  <dgm:cxnLst>
    <dgm:cxn modelId="{2152FA09-BD47-864D-B093-3093D0D8C568}" type="presOf" srcId="{80CF7DBC-C151-7C4B-9710-B29BF9F3B573}" destId="{5F5B19B5-1139-0E4A-A75D-088CBC8A6CB7}" srcOrd="1" destOrd="0" presId="urn:microsoft.com/office/officeart/2005/8/layout/process1"/>
    <dgm:cxn modelId="{1EAB240D-0959-E34B-B0BF-68DE2EC835FF}" type="presOf" srcId="{A75B7D04-3DC6-6044-AE3D-6F9593A1FD27}" destId="{777A747E-AE55-8648-8BC8-15E3E2B14436}" srcOrd="0" destOrd="0" presId="urn:microsoft.com/office/officeart/2005/8/layout/process1"/>
    <dgm:cxn modelId="{633DDC26-FC59-7648-A9FF-E7F375A58A2A}" type="presOf" srcId="{8D8B4E53-1B2E-BF46-97E2-4EEA52C18128}" destId="{4D6FA22A-BBEB-EE45-BBED-C4588DB04957}" srcOrd="0" destOrd="0" presId="urn:microsoft.com/office/officeart/2005/8/layout/process1"/>
    <dgm:cxn modelId="{E31EDB2E-0946-984A-82BF-89671652BEA3}" type="presOf" srcId="{EF1CCB2D-E78F-1846-AF5F-B9703B902372}" destId="{5AB706E1-920A-394B-A171-4CA11746A861}" srcOrd="0" destOrd="0" presId="urn:microsoft.com/office/officeart/2005/8/layout/process1"/>
    <dgm:cxn modelId="{02E2ED31-19E3-174F-81BD-4CFC88EBBE50}" srcId="{8D8B4E53-1B2E-BF46-97E2-4EEA52C18128}" destId="{EF1CCB2D-E78F-1846-AF5F-B9703B902372}" srcOrd="2" destOrd="0" parTransId="{B62EF606-350D-6842-A12B-BF3690521A38}" sibTransId="{DBB1727D-DA45-5344-B56B-2FA69361CCEC}"/>
    <dgm:cxn modelId="{209FCC5F-CA03-7F4C-95CD-6CB32E250888}" type="presOf" srcId="{9FE5AF1C-87AC-6B44-AE74-D70775721E9F}" destId="{B4C6F252-62A2-654B-B798-5ACCE9460B00}" srcOrd="0" destOrd="0" presId="urn:microsoft.com/office/officeart/2005/8/layout/process1"/>
    <dgm:cxn modelId="{928B9561-F936-6241-AC43-BC2DDC2B6EE0}" srcId="{8D8B4E53-1B2E-BF46-97E2-4EEA52C18128}" destId="{4B82C521-AFCB-4E46-BAEE-6A775F952254}" srcOrd="0" destOrd="0" parTransId="{8E092762-EE26-7C48-B2D2-B521287EEBCF}" sibTransId="{A75B7D04-3DC6-6044-AE3D-6F9593A1FD27}"/>
    <dgm:cxn modelId="{AB296493-6FCD-F844-A5E8-AD9DA7756D38}" type="presOf" srcId="{4B82C521-AFCB-4E46-BAEE-6A775F952254}" destId="{60CACECF-B171-8942-AC90-C3EDC29F2492}" srcOrd="0" destOrd="0" presId="urn:microsoft.com/office/officeart/2005/8/layout/process1"/>
    <dgm:cxn modelId="{150C5694-8BA9-894C-B3DB-904D3E944945}" srcId="{8D8B4E53-1B2E-BF46-97E2-4EEA52C18128}" destId="{9FE5AF1C-87AC-6B44-AE74-D70775721E9F}" srcOrd="1" destOrd="0" parTransId="{521AAA23-5C85-1F49-B04B-BBB4DF18A81E}" sibTransId="{80CF7DBC-C151-7C4B-9710-B29BF9F3B573}"/>
    <dgm:cxn modelId="{408B05AB-CDA4-FC42-BB39-1FBBE26FC5AF}" type="presOf" srcId="{80CF7DBC-C151-7C4B-9710-B29BF9F3B573}" destId="{E29BFE0C-B0F1-FC47-AB7C-2BD4BE0F7DB8}" srcOrd="0" destOrd="0" presId="urn:microsoft.com/office/officeart/2005/8/layout/process1"/>
    <dgm:cxn modelId="{54C70BF8-DF8D-3848-A532-F7BE6820F85B}" type="presOf" srcId="{A75B7D04-3DC6-6044-AE3D-6F9593A1FD27}" destId="{8AEC3F5B-A359-354D-AB7D-1F4BEB17D984}" srcOrd="1" destOrd="0" presId="urn:microsoft.com/office/officeart/2005/8/layout/process1"/>
    <dgm:cxn modelId="{2C05D897-4D1E-A748-BC5C-75D45382422B}" type="presParOf" srcId="{4D6FA22A-BBEB-EE45-BBED-C4588DB04957}" destId="{60CACECF-B171-8942-AC90-C3EDC29F2492}" srcOrd="0" destOrd="0" presId="urn:microsoft.com/office/officeart/2005/8/layout/process1"/>
    <dgm:cxn modelId="{BAB8C03E-1DA3-1F42-8312-13ED9C3D6238}" type="presParOf" srcId="{4D6FA22A-BBEB-EE45-BBED-C4588DB04957}" destId="{777A747E-AE55-8648-8BC8-15E3E2B14436}" srcOrd="1" destOrd="0" presId="urn:microsoft.com/office/officeart/2005/8/layout/process1"/>
    <dgm:cxn modelId="{BA73C84C-9515-614B-B8D0-987A9053C56D}" type="presParOf" srcId="{777A747E-AE55-8648-8BC8-15E3E2B14436}" destId="{8AEC3F5B-A359-354D-AB7D-1F4BEB17D984}" srcOrd="0" destOrd="0" presId="urn:microsoft.com/office/officeart/2005/8/layout/process1"/>
    <dgm:cxn modelId="{63DC488A-461C-9A4D-9FAB-49DDDA6ECF39}" type="presParOf" srcId="{4D6FA22A-BBEB-EE45-BBED-C4588DB04957}" destId="{B4C6F252-62A2-654B-B798-5ACCE9460B00}" srcOrd="2" destOrd="0" presId="urn:microsoft.com/office/officeart/2005/8/layout/process1"/>
    <dgm:cxn modelId="{61A58F3D-47EE-9945-A03F-985B57488F9F}" type="presParOf" srcId="{4D6FA22A-BBEB-EE45-BBED-C4588DB04957}" destId="{E29BFE0C-B0F1-FC47-AB7C-2BD4BE0F7DB8}" srcOrd="3" destOrd="0" presId="urn:microsoft.com/office/officeart/2005/8/layout/process1"/>
    <dgm:cxn modelId="{49C49E0B-DB08-4C4C-9717-E8D94DE471C1}" type="presParOf" srcId="{E29BFE0C-B0F1-FC47-AB7C-2BD4BE0F7DB8}" destId="{5F5B19B5-1139-0E4A-A75D-088CBC8A6CB7}" srcOrd="0" destOrd="0" presId="urn:microsoft.com/office/officeart/2005/8/layout/process1"/>
    <dgm:cxn modelId="{8606A168-1FBD-204E-AAB0-A6889299203A}" type="presParOf" srcId="{4D6FA22A-BBEB-EE45-BBED-C4588DB04957}" destId="{5AB706E1-920A-394B-A171-4CA11746A86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ACECF-B171-8942-AC90-C3EDC29F2492}">
      <dsp:nvSpPr>
        <dsp:cNvPr id="0" name=""/>
        <dsp:cNvSpPr/>
      </dsp:nvSpPr>
      <dsp:spPr>
        <a:xfrm>
          <a:off x="9954" y="847206"/>
          <a:ext cx="2975180" cy="1785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Premise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(and assumptions)</a:t>
          </a:r>
        </a:p>
      </dsp:txBody>
      <dsp:txXfrm>
        <a:off x="62238" y="899490"/>
        <a:ext cx="2870612" cy="1680540"/>
      </dsp:txXfrm>
    </dsp:sp>
    <dsp:sp modelId="{777A747E-AE55-8648-8BC8-15E3E2B14436}">
      <dsp:nvSpPr>
        <dsp:cNvPr id="0" name=""/>
        <dsp:cNvSpPr/>
      </dsp:nvSpPr>
      <dsp:spPr>
        <a:xfrm>
          <a:off x="3282652" y="1370838"/>
          <a:ext cx="630738" cy="7378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282652" y="1518407"/>
        <a:ext cx="441517" cy="442706"/>
      </dsp:txXfrm>
    </dsp:sp>
    <dsp:sp modelId="{B4C6F252-62A2-654B-B798-5ACCE9460B00}">
      <dsp:nvSpPr>
        <dsp:cNvPr id="0" name=""/>
        <dsp:cNvSpPr/>
      </dsp:nvSpPr>
      <dsp:spPr>
        <a:xfrm>
          <a:off x="4175206" y="847206"/>
          <a:ext cx="2975180" cy="1785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Logical steps</a:t>
          </a:r>
        </a:p>
      </dsp:txBody>
      <dsp:txXfrm>
        <a:off x="4227490" y="899490"/>
        <a:ext cx="2870612" cy="1680540"/>
      </dsp:txXfrm>
    </dsp:sp>
    <dsp:sp modelId="{E29BFE0C-B0F1-FC47-AB7C-2BD4BE0F7DB8}">
      <dsp:nvSpPr>
        <dsp:cNvPr id="0" name=""/>
        <dsp:cNvSpPr/>
      </dsp:nvSpPr>
      <dsp:spPr>
        <a:xfrm>
          <a:off x="7447904" y="1370838"/>
          <a:ext cx="630738" cy="7378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447904" y="1518407"/>
        <a:ext cx="441517" cy="442706"/>
      </dsp:txXfrm>
    </dsp:sp>
    <dsp:sp modelId="{5AB706E1-920A-394B-A171-4CA11746A861}">
      <dsp:nvSpPr>
        <dsp:cNvPr id="0" name=""/>
        <dsp:cNvSpPr/>
      </dsp:nvSpPr>
      <dsp:spPr>
        <a:xfrm>
          <a:off x="8340458" y="847206"/>
          <a:ext cx="2975180" cy="1785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Conclusion</a:t>
          </a:r>
        </a:p>
      </dsp:txBody>
      <dsp:txXfrm>
        <a:off x="8392742" y="899490"/>
        <a:ext cx="2870612" cy="1680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ACECF-B171-8942-AC90-C3EDC29F2492}">
      <dsp:nvSpPr>
        <dsp:cNvPr id="0" name=""/>
        <dsp:cNvSpPr/>
      </dsp:nvSpPr>
      <dsp:spPr>
        <a:xfrm>
          <a:off x="9855" y="147342"/>
          <a:ext cx="2945698" cy="1767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Premise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(and assumptions)</a:t>
          </a:r>
        </a:p>
      </dsp:txBody>
      <dsp:txXfrm>
        <a:off x="61621" y="199108"/>
        <a:ext cx="2842166" cy="1663886"/>
      </dsp:txXfrm>
    </dsp:sp>
    <dsp:sp modelId="{777A747E-AE55-8648-8BC8-15E3E2B14436}">
      <dsp:nvSpPr>
        <dsp:cNvPr id="0" name=""/>
        <dsp:cNvSpPr/>
      </dsp:nvSpPr>
      <dsp:spPr>
        <a:xfrm>
          <a:off x="3250123" y="665784"/>
          <a:ext cx="624488" cy="730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250123" y="811891"/>
        <a:ext cx="437142" cy="438319"/>
      </dsp:txXfrm>
    </dsp:sp>
    <dsp:sp modelId="{B4C6F252-62A2-654B-B798-5ACCE9460B00}">
      <dsp:nvSpPr>
        <dsp:cNvPr id="0" name=""/>
        <dsp:cNvSpPr/>
      </dsp:nvSpPr>
      <dsp:spPr>
        <a:xfrm>
          <a:off x="4133832" y="147342"/>
          <a:ext cx="2945698" cy="1767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Logical steps</a:t>
          </a:r>
        </a:p>
      </dsp:txBody>
      <dsp:txXfrm>
        <a:off x="4185598" y="199108"/>
        <a:ext cx="2842166" cy="1663886"/>
      </dsp:txXfrm>
    </dsp:sp>
    <dsp:sp modelId="{E29BFE0C-B0F1-FC47-AB7C-2BD4BE0F7DB8}">
      <dsp:nvSpPr>
        <dsp:cNvPr id="0" name=""/>
        <dsp:cNvSpPr/>
      </dsp:nvSpPr>
      <dsp:spPr>
        <a:xfrm>
          <a:off x="7374100" y="665784"/>
          <a:ext cx="624488" cy="7305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374100" y="811891"/>
        <a:ext cx="437142" cy="438319"/>
      </dsp:txXfrm>
    </dsp:sp>
    <dsp:sp modelId="{5AB706E1-920A-394B-A171-4CA11746A861}">
      <dsp:nvSpPr>
        <dsp:cNvPr id="0" name=""/>
        <dsp:cNvSpPr/>
      </dsp:nvSpPr>
      <dsp:spPr>
        <a:xfrm>
          <a:off x="8257810" y="147342"/>
          <a:ext cx="2945698" cy="1767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Conclusion</a:t>
          </a:r>
        </a:p>
      </dsp:txBody>
      <dsp:txXfrm>
        <a:off x="8309576" y="199108"/>
        <a:ext cx="2842166" cy="1663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4A42C-487F-4748-B599-61EE8BCDB5D1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ACE7D-E1A0-8147-9489-0020C1D4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64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4539-205C-8F46-B98C-10D0225414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43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ACE7D-E1A0-8147-9489-0020C1D4B3E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53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ACE7D-E1A0-8147-9489-0020C1D4B3E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63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9D06-7850-04D4-A17D-0CB226B4D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24D6E-90ED-1612-F4C5-45C6089F2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9DFD8-FAAF-9C24-F8D2-92627BF3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CDED1-090A-D045-3A4E-B5717632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73D8-07FC-29ED-F82A-523C7F97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7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864A-A0AC-DAA2-DBC2-22F32643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0F3F-60D6-982E-1A8B-7953B4A7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A570-6C52-B883-7407-F576EF44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709BF-4ECF-5783-A026-362B4E58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6E21-8C4C-532A-DC35-68CB4A7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4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336F-14CE-E9BB-28C1-2DBDE159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B93BA-5660-5040-DA43-0DB1F2033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F635-B09A-DF07-305A-67AA9161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6D45-99D8-DE2A-D844-1FFD62C1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79E1-3FA8-1408-8A15-E58B6500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F004-6CD0-AEB2-69CF-0AC9C7CF2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C9056-0AEF-E17D-074B-9BF6F204B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A6884-69BF-7A00-4D21-7D70B44D5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8D0A1-9BF9-F9BF-7A29-9D1FB1E5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6AC6-677B-2984-1992-C0C9026D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8C42E-E2B2-EAEB-1C14-96C7ACF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3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6D6E-B727-144F-CF3A-856D9A737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D7560-13BA-BB82-8178-6B754CF1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D9834-469B-C10A-B3AD-CB55BA66D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CC3E1-0630-68F5-71E9-C968FD20D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C0563-5E05-E8FC-54C5-AD1A0AF0D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11CC6-BB7C-B517-7EC0-BDA9E21E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8F3ED-67DD-497C-9003-DC996F91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785BDA-7D96-869E-AB2D-604F2AD2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0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2E59-5BBA-E000-D2FD-21ECD5A7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73F79-1897-BC8C-8358-C8DA98CC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C8363-31A6-DDD4-3B5C-6991F434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E46C4-4ED8-6508-977A-CECBB4CA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17CFA-CB23-9175-53BD-13D0098E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EC4D0-36CC-38F0-42F5-068407A6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912C1-94B9-A914-8E8C-D8D62E65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E86F-54D8-FF45-BC64-282BA84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CDF4-C4C2-0847-C3C8-8D51A9607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6705A-6DB1-4278-2144-88CE50681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10917-833C-7E01-D4CD-F3EE2467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BEF2B-52A9-1936-A62B-EBB3B75F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AA7DB-B4E0-1645-0F3E-ADD4534C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0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577B-0931-8184-A3CE-55DE775F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EC590-3994-1F68-B5F7-73DD71172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9E306-81FB-4EA6-0687-CDF4EBA2B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27630-7FCA-1F5F-E14F-6D5C08C1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99A4A-9447-2B8D-0CAC-796F4939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3F326-1105-480E-11A6-A6E19893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2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00D-AB68-6A2C-4853-7279F0A2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9A4FE-14F6-A9A8-9EFF-79D04A02A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51447-3072-E5D5-CED3-8A0FFAB5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AB857-B6B2-73FE-D29D-4BFE0352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20AFB-7214-70D9-BFF4-74C6AC83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0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76333-FD4F-66EF-15D8-BDD49130E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490BF-A36C-16B7-2B2E-41B134AC3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4CB3E-0331-0A5B-C8A2-511AD5DB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1F73D-9FC2-637B-31CE-14EEC450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C989B-8885-3316-F3CB-68DDBA5C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3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5933B-EFBE-B831-0491-FBDC5D09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C0457-A209-2486-9E8F-8081BFE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85102-7277-91D1-B021-9CD3D6563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0B918-B39A-484B-BADB-EEA133F20C0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B085-E54C-B6A2-2A9F-12BDC056F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01EBF-87FB-719D-C619-AAEC12CFD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2E770-EC02-3240-A4AE-AA5F1B36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1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C34B-B8D5-3F94-E32B-958CF41657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Math Lecture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FEB59-0B6B-7FD9-15AF-65CCAD726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Predicate Logic, quantifiers, modular arithmetic and (hopefully) number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69892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A406-F2EC-AF75-EFD7-46D369D9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707C0-04BC-87D5-D720-E9E54B174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51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80D9-51D1-0F20-5564-F3E3F3E1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Propositional Logic and Equivalence Proofs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95BE-1F83-65EC-C1BD-0FB29DFF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Only fully True or False statements</a:t>
            </a:r>
          </a:p>
          <a:p>
            <a:pPr lvl="1"/>
            <a:r>
              <a:rPr lang="en-US" dirty="0"/>
              <a:t>No grey area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AND, OR, and NOT operators</a:t>
            </a:r>
          </a:p>
          <a:p>
            <a:endParaRPr lang="en-US" dirty="0"/>
          </a:p>
          <a:p>
            <a:r>
              <a:rPr lang="en-US" dirty="0"/>
              <a:t>Translating English to a more formal, symbolic language</a:t>
            </a:r>
          </a:p>
          <a:p>
            <a:pPr lvl="1"/>
            <a:r>
              <a:rPr lang="en-US" dirty="0"/>
              <a:t>Helped determine the truth of complex statements </a:t>
            </a:r>
          </a:p>
          <a:p>
            <a:pPr lvl="1"/>
            <a:endParaRPr lang="en-US" dirty="0"/>
          </a:p>
          <a:p>
            <a:r>
              <a:rPr lang="en-US" dirty="0"/>
              <a:t>Restricted in what kinds of sentences we can translate</a:t>
            </a:r>
          </a:p>
          <a:p>
            <a:pPr lvl="1"/>
            <a:r>
              <a:rPr lang="en-US" dirty="0"/>
              <a:t>Ex. </a:t>
            </a:r>
            <a:r>
              <a:rPr lang="en-US" i="1" dirty="0"/>
              <a:t>X</a:t>
            </a:r>
            <a:r>
              <a:rPr lang="en-US" dirty="0"/>
              <a:t> is divisible by 6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1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0BC0-37A5-30D1-FBD1-76F71799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4047"/>
            <a:ext cx="10515600" cy="1325563"/>
          </a:xfrm>
        </p:spPr>
        <p:txBody>
          <a:bodyPr/>
          <a:lstStyle/>
          <a:p>
            <a:r>
              <a:rPr lang="en-US" dirty="0"/>
              <a:t>A refresher on the bigger issue here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444F09-8C19-92B5-1C53-22BA2B5FD8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3773057"/>
              </p:ext>
            </p:extLst>
          </p:nvPr>
        </p:nvGraphicFramePr>
        <p:xfrm>
          <a:off x="127322" y="1011456"/>
          <a:ext cx="11325593" cy="3479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CF90CC-07AB-A40B-805B-E895792CE263}"/>
              </a:ext>
            </a:extLst>
          </p:cNvPr>
          <p:cNvSpPr txBox="1"/>
          <p:nvPr/>
        </p:nvSpPr>
        <p:spPr>
          <a:xfrm>
            <a:off x="127322" y="3752975"/>
            <a:ext cx="29052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know P and Q are fully True/False statements</a:t>
            </a:r>
          </a:p>
          <a:p>
            <a:r>
              <a:rPr lang="en-US" dirty="0"/>
              <a:t>No middle ground</a:t>
            </a:r>
          </a:p>
          <a:p>
            <a:endParaRPr lang="en-US" dirty="0"/>
          </a:p>
          <a:p>
            <a:r>
              <a:rPr lang="en-US" dirty="0"/>
              <a:t>BUT they could be any combination of True and False</a:t>
            </a:r>
            <a:br>
              <a:rPr lang="en-US" dirty="0"/>
            </a:br>
            <a:r>
              <a:rPr lang="en-US" dirty="0"/>
              <a:t>T/T, T/F, F/T, F/F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FB25AE-4D2B-F728-C91E-E3DBEAE87E9B}"/>
              </a:ext>
            </a:extLst>
          </p:cNvPr>
          <p:cNvSpPr txBox="1"/>
          <p:nvPr/>
        </p:nvSpPr>
        <p:spPr>
          <a:xfrm>
            <a:off x="4305784" y="3752975"/>
            <a:ext cx="29052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simple cases, just show all possible  options and explain how they’ll always result in the same outcomes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complex cases, use known information to make our case (also fully true sentences)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D500D-AA68-A0C9-8E86-EC6E08739055}"/>
              </a:ext>
            </a:extLst>
          </p:cNvPr>
          <p:cNvSpPr txBox="1"/>
          <p:nvPr/>
        </p:nvSpPr>
        <p:spPr>
          <a:xfrm>
            <a:off x="8947230" y="83136"/>
            <a:ext cx="3136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Prove P V Q is logically equivalent to ¬(P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∧</a:t>
            </a:r>
            <a:r>
              <a:rPr lang="en-US" b="1" dirty="0"/>
              <a:t> Q)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EF016-B8FF-2180-CC91-EE7859A82CD4}"/>
              </a:ext>
            </a:extLst>
          </p:cNvPr>
          <p:cNvSpPr txBox="1"/>
          <p:nvPr/>
        </p:nvSpPr>
        <p:spPr>
          <a:xfrm>
            <a:off x="8547669" y="3752975"/>
            <a:ext cx="290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Therefore we are right</a:t>
            </a:r>
          </a:p>
        </p:txBody>
      </p:sp>
    </p:spTree>
    <p:extLst>
      <p:ext uri="{BB962C8B-B14F-4D97-AF65-F5344CB8AC3E}">
        <p14:creationId xmlns:p14="http://schemas.microsoft.com/office/powerpoint/2010/main" val="238661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8F9C-564E-5559-599D-2783AAB5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similar to testing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1E016-7BDC-9C16-C4FE-A5D04F89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enough to run your code and see it all work</a:t>
            </a:r>
          </a:p>
          <a:p>
            <a:r>
              <a:rPr lang="en-US" dirty="0"/>
              <a:t>It is not enough to know that you wrote it right</a:t>
            </a:r>
          </a:p>
          <a:p>
            <a:r>
              <a:rPr lang="en-US" dirty="0"/>
              <a:t>It could all be right but the act of communicating is what others need to trust you</a:t>
            </a:r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Proofs and Testing are formal ways of communicating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9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73A3EB-EA86-A727-C9C1-BC45A7D1C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week: Adding to our vocabulary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8E9643-EBED-9F7D-EB2A-576E0D6F2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1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8774-2FC4-9D92-F6E2-55EA9D67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Predicate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340E-C2B4-A9D6-CA23-FE3DC62A5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aka “first-order logic”</a:t>
            </a:r>
          </a:p>
          <a:p>
            <a:endParaRPr lang="en-US" dirty="0"/>
          </a:p>
          <a:p>
            <a:r>
              <a:rPr lang="en-US" dirty="0"/>
              <a:t>A statement that could be a proposition depending on the values assigned to the variables within</a:t>
            </a:r>
          </a:p>
          <a:p>
            <a:pPr lvl="1"/>
            <a:r>
              <a:rPr lang="en-US" dirty="0"/>
              <a:t>X &gt; 5</a:t>
            </a:r>
          </a:p>
          <a:p>
            <a:pPr lvl="2"/>
            <a:r>
              <a:rPr lang="en-US" dirty="0"/>
              <a:t>If X is 100, this statement is true</a:t>
            </a:r>
          </a:p>
          <a:p>
            <a:pPr lvl="2"/>
            <a:r>
              <a:rPr lang="en-US" dirty="0"/>
              <a:t>Not so much if X = 0</a:t>
            </a:r>
          </a:p>
          <a:p>
            <a:pPr lvl="1"/>
            <a:r>
              <a:rPr lang="en-US" dirty="0"/>
              <a:t>If I am hungry, then I will go get a snack</a:t>
            </a:r>
          </a:p>
          <a:p>
            <a:pPr lvl="1"/>
            <a:r>
              <a:rPr lang="en-US" dirty="0"/>
              <a:t>X owes money to Y</a:t>
            </a:r>
          </a:p>
          <a:p>
            <a:endParaRPr lang="en-US" dirty="0"/>
          </a:p>
          <a:p>
            <a:r>
              <a:rPr lang="en-US" dirty="0"/>
              <a:t>More expressive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D414B-8BF2-C2F5-2A5D-CC6361042AD9}"/>
              </a:ext>
            </a:extLst>
          </p:cNvPr>
          <p:cNvSpPr txBox="1"/>
          <p:nvPr/>
        </p:nvSpPr>
        <p:spPr>
          <a:xfrm>
            <a:off x="4804229" y="6604000"/>
            <a:ext cx="405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joke is for me – don’t worry about it</a:t>
            </a:r>
          </a:p>
        </p:txBody>
      </p:sp>
    </p:spTree>
    <p:extLst>
      <p:ext uri="{BB962C8B-B14F-4D97-AF65-F5344CB8AC3E}">
        <p14:creationId xmlns:p14="http://schemas.microsoft.com/office/powerpoint/2010/main" val="2373173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EDE80D-3915-93FE-63DF-8AAC58C22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626A75B-8F53-4DCE-7103-94B1BD8ACA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______ Then 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1FA58-4799-47FE-A2C5-0986FC366A5F}"/>
              </a:ext>
            </a:extLst>
          </p:cNvPr>
          <p:cNvSpPr txBox="1"/>
          <p:nvPr/>
        </p:nvSpPr>
        <p:spPr>
          <a:xfrm>
            <a:off x="4052363" y="4429919"/>
            <a:ext cx="408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sometimes called an “implication”</a:t>
            </a:r>
          </a:p>
        </p:txBody>
      </p:sp>
    </p:spTree>
    <p:extLst>
      <p:ext uri="{BB962C8B-B14F-4D97-AF65-F5344CB8AC3E}">
        <p14:creationId xmlns:p14="http://schemas.microsoft.com/office/powerpoint/2010/main" val="166192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DB1D-45EF-2349-2113-1FA7F6E0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I am elected, then I will lower taxes.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2B048-A482-6B9E-8839-3D674A468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Q</a:t>
            </a:r>
          </a:p>
          <a:p>
            <a:pPr lvl="1"/>
            <a:r>
              <a:rPr lang="en-US" dirty="0">
                <a:sym typeface="Wingdings" pitchFamily="2" charset="2"/>
              </a:rPr>
              <a:t>I must be elected in order for me to lower your taxes </a:t>
            </a:r>
            <a:br>
              <a:rPr lang="en-US" dirty="0">
                <a:sym typeface="Wingdings" pitchFamily="2" charset="2"/>
              </a:rPr>
            </a:br>
            <a:endParaRPr lang="en-US" dirty="0"/>
          </a:p>
          <a:p>
            <a:r>
              <a:rPr lang="en-US" dirty="0"/>
              <a:t>IF P THEN Q</a:t>
            </a:r>
          </a:p>
          <a:p>
            <a:pPr lvl="1"/>
            <a:r>
              <a:rPr lang="en-US" dirty="0"/>
              <a:t>P represents a hypothesis</a:t>
            </a:r>
          </a:p>
          <a:p>
            <a:pPr lvl="2"/>
            <a:r>
              <a:rPr lang="en-US" dirty="0"/>
              <a:t>Aka antecedent or premise</a:t>
            </a:r>
          </a:p>
          <a:p>
            <a:pPr lvl="1"/>
            <a:r>
              <a:rPr lang="en-US" dirty="0"/>
              <a:t>Q is the conclusion</a:t>
            </a:r>
          </a:p>
          <a:p>
            <a:pPr lvl="1"/>
            <a:endParaRPr lang="en-US" dirty="0"/>
          </a:p>
          <a:p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Q</a:t>
            </a:r>
          </a:p>
          <a:p>
            <a:pPr lvl="1"/>
            <a:r>
              <a:rPr lang="en-US" dirty="0">
                <a:sym typeface="Wingdings" pitchFamily="2" charset="2"/>
              </a:rPr>
              <a:t>P is sometimes called a “hypothesis” or ”premise”</a:t>
            </a:r>
          </a:p>
          <a:p>
            <a:pPr lvl="1"/>
            <a:r>
              <a:rPr lang="en-US" dirty="0">
                <a:sym typeface="Wingdings" pitchFamily="2" charset="2"/>
              </a:rPr>
              <a:t>Q is sometimes called a “conclusion” or “consequence”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74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9BC5-E331-F6D8-07DB-A81BA5D9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 may not be intuitive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C7DB7-CE43-C648-0542-DF2C2726B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579"/>
            <a:ext cx="4419023" cy="36548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56663D-F240-9421-584C-DF21B6D48FC5}"/>
              </a:ext>
            </a:extLst>
          </p:cNvPr>
          <p:cNvGraphicFramePr>
            <a:graphicFrameLocks noGrp="1"/>
          </p:cNvGraphicFramePr>
          <p:nvPr/>
        </p:nvGraphicFramePr>
        <p:xfrm>
          <a:off x="4544291" y="2451483"/>
          <a:ext cx="7017061" cy="2996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589">
                  <a:extLst>
                    <a:ext uri="{9D8B030D-6E8A-4147-A177-3AD203B41FA5}">
                      <a16:colId xmlns:a16="http://schemas.microsoft.com/office/drawing/2014/main" val="3831745024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1539147344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805661007"/>
                    </a:ext>
                  </a:extLst>
                </a:gridCol>
              </a:tblGrid>
              <a:tr h="436611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</a:t>
                      </a:r>
                      <a:r>
                        <a:rPr lang="en-US" dirty="0">
                          <a:sym typeface="Wingdings" pitchFamily="2" charset="2"/>
                        </a:rPr>
                        <a:t>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75520"/>
                  </a:ext>
                </a:extLst>
              </a:tr>
              <a:tr h="436611">
                <a:tc>
                  <a:txBody>
                    <a:bodyPr/>
                    <a:lstStyle/>
                    <a:p>
                      <a:r>
                        <a:rPr lang="en-US" dirty="0"/>
                        <a:t>I am 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lower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did not break my promise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215449"/>
                  </a:ext>
                </a:extLst>
              </a:tr>
              <a:tr h="436611">
                <a:tc>
                  <a:txBody>
                    <a:bodyPr/>
                    <a:lstStyle/>
                    <a:p>
                      <a:r>
                        <a:rPr lang="en-US" b="1" dirty="0"/>
                        <a:t>I am 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 don’t lower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 broke my campaign promise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232653"/>
                  </a:ext>
                </a:extLst>
              </a:tr>
              <a:tr h="436611">
                <a:tc>
                  <a:txBody>
                    <a:bodyPr/>
                    <a:lstStyle/>
                    <a:p>
                      <a:r>
                        <a:rPr lang="en-US" dirty="0"/>
                        <a:t>I am NOT 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lower taxes by calling congress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did not break my promise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33445"/>
                  </a:ext>
                </a:extLst>
              </a:tr>
              <a:tr h="436611">
                <a:tc>
                  <a:txBody>
                    <a:bodyPr/>
                    <a:lstStyle/>
                    <a:p>
                      <a:r>
                        <a:rPr lang="en-US" dirty="0"/>
                        <a:t>I am NOT 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 don’t lower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did not break my promise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260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C6CD4F-5F85-1E94-66F8-D3784025BA38}"/>
              </a:ext>
            </a:extLst>
          </p:cNvPr>
          <p:cNvSpPr txBox="1"/>
          <p:nvPr/>
        </p:nvSpPr>
        <p:spPr>
          <a:xfrm>
            <a:off x="4695433" y="6123543"/>
            <a:ext cx="686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 of it like a contract.  Q can still occur even if P doesn’t happen </a:t>
            </a:r>
          </a:p>
        </p:txBody>
      </p:sp>
    </p:spTree>
    <p:extLst>
      <p:ext uri="{BB962C8B-B14F-4D97-AF65-F5344CB8AC3E}">
        <p14:creationId xmlns:p14="http://schemas.microsoft.com/office/powerpoint/2010/main" val="377041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F027-C698-B4C2-A798-EF3DD09A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2FED-A572-69CB-24C8-AC07A024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If I said A </a:t>
            </a:r>
            <a:r>
              <a:rPr lang="en-US" dirty="0">
                <a:sym typeface="Wingdings" pitchFamily="2" charset="2"/>
              </a:rPr>
              <a:t> B  is true which would you KNOW to be true</a:t>
            </a:r>
          </a:p>
          <a:p>
            <a:pPr lvl="1"/>
            <a:r>
              <a:rPr lang="en-US" dirty="0">
                <a:sym typeface="Wingdings" pitchFamily="2" charset="2"/>
              </a:rPr>
              <a:t>A must be true</a:t>
            </a:r>
          </a:p>
          <a:p>
            <a:pPr lvl="1"/>
            <a:r>
              <a:rPr lang="en-US" dirty="0">
                <a:sym typeface="Wingdings" pitchFamily="2" charset="2"/>
              </a:rPr>
              <a:t>A must be false</a:t>
            </a:r>
          </a:p>
          <a:p>
            <a:pPr lvl="1"/>
            <a:r>
              <a:rPr lang="en-US" dirty="0">
                <a:sym typeface="Wingdings" pitchFamily="2" charset="2"/>
              </a:rPr>
              <a:t>A could be either true or false</a:t>
            </a:r>
          </a:p>
          <a:p>
            <a:r>
              <a:rPr lang="en-US" dirty="0">
                <a:sym typeface="Wingdings" pitchFamily="2" charset="2"/>
              </a:rPr>
              <a:t>If I said A  B is false, which would you KNOW to be true</a:t>
            </a:r>
          </a:p>
          <a:p>
            <a:pPr lvl="1"/>
            <a:r>
              <a:rPr lang="en-US" dirty="0">
                <a:sym typeface="Wingdings" pitchFamily="2" charset="2"/>
              </a:rPr>
              <a:t>A must be true</a:t>
            </a:r>
          </a:p>
          <a:p>
            <a:pPr lvl="1"/>
            <a:r>
              <a:rPr lang="en-US" dirty="0">
                <a:sym typeface="Wingdings" pitchFamily="2" charset="2"/>
              </a:rPr>
              <a:t>A must be false</a:t>
            </a:r>
          </a:p>
          <a:p>
            <a:pPr lvl="1"/>
            <a:r>
              <a:rPr lang="en-US" dirty="0">
                <a:sym typeface="Wingdings" pitchFamily="2" charset="2"/>
              </a:rPr>
              <a:t>A could be either true or false</a:t>
            </a:r>
          </a:p>
          <a:p>
            <a:r>
              <a:rPr lang="en-US" dirty="0">
                <a:sym typeface="Wingdings" pitchFamily="2" charset="2"/>
              </a:rPr>
              <a:t>Consider the following statements</a:t>
            </a:r>
          </a:p>
          <a:p>
            <a:pPr lvl="1"/>
            <a:r>
              <a:rPr lang="en-US" dirty="0">
                <a:sym typeface="Wingdings" pitchFamily="2" charset="2"/>
              </a:rPr>
              <a:t>If you get a 100% on the final, you’ll get an A</a:t>
            </a:r>
          </a:p>
          <a:p>
            <a:pPr lvl="1"/>
            <a:r>
              <a:rPr lang="en-US" dirty="0">
                <a:sym typeface="Wingdings" pitchFamily="2" charset="2"/>
              </a:rPr>
              <a:t>You do not get a 100% on the final</a:t>
            </a:r>
          </a:p>
          <a:p>
            <a:pPr lvl="1"/>
            <a:r>
              <a:rPr lang="en-US" dirty="0">
                <a:sym typeface="Wingdings" pitchFamily="2" charset="2"/>
              </a:rPr>
              <a:t>Can you still get an A?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A3F6-5944-62D4-FA80-6811E97961D5}"/>
              </a:ext>
            </a:extLst>
          </p:cNvPr>
          <p:cNvSpPr txBox="1"/>
          <p:nvPr/>
        </p:nvSpPr>
        <p:spPr>
          <a:xfrm>
            <a:off x="5618716" y="3087378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-- this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AE05-670C-A4B3-A0FC-BDAAC3F63B2D}"/>
              </a:ext>
            </a:extLst>
          </p:cNvPr>
          <p:cNvSpPr txBox="1"/>
          <p:nvPr/>
        </p:nvSpPr>
        <p:spPr>
          <a:xfrm>
            <a:off x="3609807" y="4001294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-- this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114CC-0F77-A7CD-DEBA-72EFD6BFD49A}"/>
              </a:ext>
            </a:extLst>
          </p:cNvPr>
          <p:cNvSpPr txBox="1"/>
          <p:nvPr/>
        </p:nvSpPr>
        <p:spPr>
          <a:xfrm>
            <a:off x="4536664" y="6488667"/>
            <a:ext cx="732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Yeah!</a:t>
            </a:r>
          </a:p>
        </p:txBody>
      </p:sp>
    </p:spTree>
    <p:extLst>
      <p:ext uri="{BB962C8B-B14F-4D97-AF65-F5344CB8AC3E}">
        <p14:creationId xmlns:p14="http://schemas.microsoft.com/office/powerpoint/2010/main" val="183790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AB2-2BB6-0449-0D5A-CE3C08AD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 the following sentences into conditional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940F-4956-7045-1D2A-9C0F2237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04543" cy="5032375"/>
          </a:xfrm>
        </p:spPr>
        <p:txBody>
          <a:bodyPr>
            <a:normAutofit/>
          </a:bodyPr>
          <a:lstStyle/>
          <a:p>
            <a:r>
              <a:rPr lang="en-US" dirty="0"/>
              <a:t>If I had a world of my own, everything would be nonsense</a:t>
            </a:r>
          </a:p>
          <a:p>
            <a:pPr lvl="1"/>
            <a:r>
              <a:rPr lang="en-US" dirty="0"/>
              <a:t>- Lewis Carroll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You fail if you stop writing</a:t>
            </a:r>
          </a:p>
          <a:p>
            <a:pPr lvl="1"/>
            <a:r>
              <a:rPr lang="en-US" dirty="0"/>
              <a:t>- Ray Bradbury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Whenever people agree with me I feel I must be wrong</a:t>
            </a:r>
          </a:p>
          <a:p>
            <a:pPr lvl="1"/>
            <a:r>
              <a:rPr lang="en-US" dirty="0"/>
              <a:t>- Oscar Wilde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0841E-BF61-8743-9FA4-48EC669F9CCD}"/>
              </a:ext>
            </a:extLst>
          </p:cNvPr>
          <p:cNvSpPr txBox="1"/>
          <p:nvPr/>
        </p:nvSpPr>
        <p:spPr>
          <a:xfrm>
            <a:off x="6959066" y="1825624"/>
            <a:ext cx="294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I have a world of my own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82FC-F678-007B-EA19-E6F6DFF9F570}"/>
              </a:ext>
            </a:extLst>
          </p:cNvPr>
          <p:cNvSpPr txBox="1"/>
          <p:nvPr/>
        </p:nvSpPr>
        <p:spPr>
          <a:xfrm>
            <a:off x="6959066" y="2194956"/>
            <a:ext cx="3571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Everything would be nonsense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E7F9D-C3BE-F98B-96BE-868536ED6576}"/>
              </a:ext>
            </a:extLst>
          </p:cNvPr>
          <p:cNvSpPr txBox="1"/>
          <p:nvPr/>
        </p:nvSpPr>
        <p:spPr>
          <a:xfrm>
            <a:off x="6959066" y="260711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dirty="0">
                <a:sym typeface="Wingdings" pitchFamily="2" charset="2"/>
              </a:rPr>
              <a:t> 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F9452-969A-2811-D8E9-6C5E3A558BD6}"/>
              </a:ext>
            </a:extLst>
          </p:cNvPr>
          <p:cNvSpPr txBox="1"/>
          <p:nvPr/>
        </p:nvSpPr>
        <p:spPr>
          <a:xfrm>
            <a:off x="6959066" y="3696893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You Fail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7B551-425B-E7C5-96EC-E3B79E4B6A0A}"/>
              </a:ext>
            </a:extLst>
          </p:cNvPr>
          <p:cNvSpPr txBox="1"/>
          <p:nvPr/>
        </p:nvSpPr>
        <p:spPr>
          <a:xfrm>
            <a:off x="6959066" y="4066225"/>
            <a:ext cx="2152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 You Stop Writing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FDF20-38BD-9E00-4932-CFFA55012DA8}"/>
              </a:ext>
            </a:extLst>
          </p:cNvPr>
          <p:cNvSpPr txBox="1"/>
          <p:nvPr/>
        </p:nvSpPr>
        <p:spPr>
          <a:xfrm>
            <a:off x="6982220" y="4435557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A22A3-538D-331C-48CB-7A3E618253C3}"/>
              </a:ext>
            </a:extLst>
          </p:cNvPr>
          <p:cNvSpPr txBox="1"/>
          <p:nvPr/>
        </p:nvSpPr>
        <p:spPr>
          <a:xfrm>
            <a:off x="6982220" y="5383496"/>
            <a:ext cx="266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= People Agree with 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AD9CF-1287-417A-820F-1AE3F45A6FF9}"/>
              </a:ext>
            </a:extLst>
          </p:cNvPr>
          <p:cNvSpPr txBox="1"/>
          <p:nvPr/>
        </p:nvSpPr>
        <p:spPr>
          <a:xfrm>
            <a:off x="6982220" y="5752828"/>
            <a:ext cx="22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 = I feel I am wrong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C6D5A-A729-04DC-D052-EB1F984387DD}"/>
              </a:ext>
            </a:extLst>
          </p:cNvPr>
          <p:cNvSpPr txBox="1"/>
          <p:nvPr/>
        </p:nvSpPr>
        <p:spPr>
          <a:xfrm>
            <a:off x="6959066" y="6122160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2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F2BC-4433-E0D9-A76E-02D39206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Combining conditionals with our other statements:</a:t>
            </a:r>
            <a:br>
              <a:rPr lang="en-US" dirty="0"/>
            </a:br>
            <a:r>
              <a:rPr lang="en-US" u="sng" dirty="0"/>
              <a:t>Is (P ∧ Q ) </a:t>
            </a:r>
            <a:r>
              <a:rPr lang="en-US" u="sng" dirty="0">
                <a:sym typeface="Wingdings" pitchFamily="2" charset="2"/>
              </a:rPr>
              <a:t> R</a:t>
            </a:r>
            <a:r>
              <a:rPr lang="en-US" u="sng" dirty="0"/>
              <a:t> ≡ P </a:t>
            </a:r>
            <a:r>
              <a:rPr lang="en-US" u="sng" dirty="0">
                <a:sym typeface="Wingdings" pitchFamily="2" charset="2"/>
              </a:rPr>
              <a:t> Q  R</a:t>
            </a:r>
            <a:endParaRPr lang="en-US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589E34-4A13-887B-6B9C-1B79C8800E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5712" y="1605911"/>
          <a:ext cx="496861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98">
                  <a:extLst>
                    <a:ext uri="{9D8B030D-6E8A-4147-A177-3AD203B41FA5}">
                      <a16:colId xmlns:a16="http://schemas.microsoft.com/office/drawing/2014/main" val="3557632464"/>
                    </a:ext>
                  </a:extLst>
                </a:gridCol>
                <a:gridCol w="520468">
                  <a:extLst>
                    <a:ext uri="{9D8B030D-6E8A-4147-A177-3AD203B41FA5}">
                      <a16:colId xmlns:a16="http://schemas.microsoft.com/office/drawing/2014/main" val="732971008"/>
                    </a:ext>
                  </a:extLst>
                </a:gridCol>
                <a:gridCol w="1452271">
                  <a:extLst>
                    <a:ext uri="{9D8B030D-6E8A-4147-A177-3AD203B41FA5}">
                      <a16:colId xmlns:a16="http://schemas.microsoft.com/office/drawing/2014/main" val="773236142"/>
                    </a:ext>
                  </a:extLst>
                </a:gridCol>
                <a:gridCol w="483771">
                  <a:extLst>
                    <a:ext uri="{9D8B030D-6E8A-4147-A177-3AD203B41FA5}">
                      <a16:colId xmlns:a16="http://schemas.microsoft.com/office/drawing/2014/main" val="3093157421"/>
                    </a:ext>
                  </a:extLst>
                </a:gridCol>
                <a:gridCol w="2037906">
                  <a:extLst>
                    <a:ext uri="{9D8B030D-6E8A-4147-A177-3AD203B41FA5}">
                      <a16:colId xmlns:a16="http://schemas.microsoft.com/office/drawing/2014/main" val="214006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(P  ∧ Q)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(P  ∧ Q)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R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7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35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0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23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57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77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127ABE-1BB7-C237-4388-26CDC2157C14}"/>
              </a:ext>
            </a:extLst>
          </p:cNvPr>
          <p:cNvSpPr txBox="1"/>
          <p:nvPr/>
        </p:nvSpPr>
        <p:spPr>
          <a:xfrm>
            <a:off x="7652830" y="4163829"/>
            <a:ext cx="441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Hint: remember two statements are logically equivalent if they have identical truth table columns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0A4960-DED4-E46D-9BCF-A44721A5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83" y="576573"/>
            <a:ext cx="4419023" cy="36548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50CC91-966D-EECC-773B-64199BE9ECFF}"/>
              </a:ext>
            </a:extLst>
          </p:cNvPr>
          <p:cNvSpPr txBox="1"/>
          <p:nvPr/>
        </p:nvSpPr>
        <p:spPr>
          <a:xfrm>
            <a:off x="4517143" y="2125691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F8BB9-0380-9FE2-FFB3-843BD4C4D6AB}"/>
              </a:ext>
            </a:extLst>
          </p:cNvPr>
          <p:cNvSpPr txBox="1"/>
          <p:nvPr/>
        </p:nvSpPr>
        <p:spPr>
          <a:xfrm>
            <a:off x="4516776" y="4244019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6AFD3-E733-0DBA-4795-7B85646BCECF}"/>
              </a:ext>
            </a:extLst>
          </p:cNvPr>
          <p:cNvSpPr txBox="1"/>
          <p:nvPr/>
        </p:nvSpPr>
        <p:spPr>
          <a:xfrm>
            <a:off x="4516776" y="5271580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DD6C3-29F3-0D5E-E7A0-7A5FED710189}"/>
              </a:ext>
            </a:extLst>
          </p:cNvPr>
          <p:cNvSpPr txBox="1"/>
          <p:nvPr/>
        </p:nvSpPr>
        <p:spPr>
          <a:xfrm>
            <a:off x="4502186" y="5785360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8CEAF-9F1D-AC71-D8EA-9FEBA35BF7F0}"/>
              </a:ext>
            </a:extLst>
          </p:cNvPr>
          <p:cNvSpPr txBox="1"/>
          <p:nvPr/>
        </p:nvSpPr>
        <p:spPr>
          <a:xfrm>
            <a:off x="4527155" y="4728437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7C1B22-219D-0878-49AB-35CCA9D4D91D}"/>
              </a:ext>
            </a:extLst>
          </p:cNvPr>
          <p:cNvSpPr txBox="1"/>
          <p:nvPr/>
        </p:nvSpPr>
        <p:spPr>
          <a:xfrm>
            <a:off x="4527155" y="3716383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5188FE-16E7-9AFD-A8FC-5E9BBF16475D}"/>
              </a:ext>
            </a:extLst>
          </p:cNvPr>
          <p:cNvSpPr txBox="1"/>
          <p:nvPr/>
        </p:nvSpPr>
        <p:spPr>
          <a:xfrm>
            <a:off x="4502186" y="2660286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BE95AB-25C6-B814-A855-28C714D0145D}"/>
              </a:ext>
            </a:extLst>
          </p:cNvPr>
          <p:cNvSpPr txBox="1"/>
          <p:nvPr/>
        </p:nvSpPr>
        <p:spPr>
          <a:xfrm>
            <a:off x="4527155" y="3179310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E1585C-F884-3A00-98C1-16AAEE369FA2}"/>
              </a:ext>
            </a:extLst>
          </p:cNvPr>
          <p:cNvSpPr/>
          <p:nvPr/>
        </p:nvSpPr>
        <p:spPr>
          <a:xfrm>
            <a:off x="8123218" y="2546708"/>
            <a:ext cx="2964873" cy="3157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9161FA-6A0A-CCF5-4492-D9B95D78A7AA}"/>
              </a:ext>
            </a:extLst>
          </p:cNvPr>
          <p:cNvSpPr/>
          <p:nvPr/>
        </p:nvSpPr>
        <p:spPr>
          <a:xfrm>
            <a:off x="8133231" y="3621838"/>
            <a:ext cx="2964873" cy="31579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100CCE-6E16-C45D-3A96-579B6C7EEECD}"/>
              </a:ext>
            </a:extLst>
          </p:cNvPr>
          <p:cNvSpPr/>
          <p:nvPr/>
        </p:nvSpPr>
        <p:spPr>
          <a:xfrm>
            <a:off x="8123217" y="3274608"/>
            <a:ext cx="2964873" cy="31579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9DF038-B352-51CA-BA5A-49D1577ABAAC}"/>
              </a:ext>
            </a:extLst>
          </p:cNvPr>
          <p:cNvSpPr/>
          <p:nvPr/>
        </p:nvSpPr>
        <p:spPr>
          <a:xfrm>
            <a:off x="8123217" y="2911955"/>
            <a:ext cx="2964873" cy="31579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2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1DAE-5297-9F0C-DA9D-DA341CDC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DF07-D0D9-017A-3456-E9F68195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Combining conditionals with our other statements:</a:t>
            </a:r>
            <a:br>
              <a:rPr lang="en-US" dirty="0"/>
            </a:br>
            <a:r>
              <a:rPr lang="en-US" u="sng" dirty="0"/>
              <a:t>Is (P ∧ Q ) </a:t>
            </a:r>
            <a:r>
              <a:rPr lang="en-US" u="sng" dirty="0">
                <a:sym typeface="Wingdings" pitchFamily="2" charset="2"/>
              </a:rPr>
              <a:t> R</a:t>
            </a:r>
            <a:r>
              <a:rPr lang="en-US" u="sng" dirty="0"/>
              <a:t> ≡ P </a:t>
            </a:r>
            <a:r>
              <a:rPr lang="en-US" u="sng" dirty="0">
                <a:sym typeface="Wingdings" pitchFamily="2" charset="2"/>
              </a:rPr>
              <a:t> (Q  R)</a:t>
            </a:r>
            <a:endParaRPr lang="en-US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9C8583-ACAE-C1EE-1F5D-6133FE3C35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147" y="1392551"/>
          <a:ext cx="729238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123">
                  <a:extLst>
                    <a:ext uri="{9D8B030D-6E8A-4147-A177-3AD203B41FA5}">
                      <a16:colId xmlns:a16="http://schemas.microsoft.com/office/drawing/2014/main" val="732971008"/>
                    </a:ext>
                  </a:extLst>
                </a:gridCol>
                <a:gridCol w="704125">
                  <a:extLst>
                    <a:ext uri="{9D8B030D-6E8A-4147-A177-3AD203B41FA5}">
                      <a16:colId xmlns:a16="http://schemas.microsoft.com/office/drawing/2014/main" val="3663470962"/>
                    </a:ext>
                  </a:extLst>
                </a:gridCol>
                <a:gridCol w="2264507">
                  <a:extLst>
                    <a:ext uri="{9D8B030D-6E8A-4147-A177-3AD203B41FA5}">
                      <a16:colId xmlns:a16="http://schemas.microsoft.com/office/drawing/2014/main" val="1421212325"/>
                    </a:ext>
                  </a:extLst>
                </a:gridCol>
                <a:gridCol w="862614">
                  <a:extLst>
                    <a:ext uri="{9D8B030D-6E8A-4147-A177-3AD203B41FA5}">
                      <a16:colId xmlns:a16="http://schemas.microsoft.com/office/drawing/2014/main" val="2427967817"/>
                    </a:ext>
                  </a:extLst>
                </a:gridCol>
                <a:gridCol w="2757020">
                  <a:extLst>
                    <a:ext uri="{9D8B030D-6E8A-4147-A177-3AD203B41FA5}">
                      <a16:colId xmlns:a16="http://schemas.microsoft.com/office/drawing/2014/main" val="3016495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Q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(Q  R)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7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35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0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23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57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77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D6702C-3D9D-FEC4-4B52-8888AEC64D07}"/>
              </a:ext>
            </a:extLst>
          </p:cNvPr>
          <p:cNvSpPr txBox="1"/>
          <p:nvPr/>
        </p:nvSpPr>
        <p:spPr>
          <a:xfrm>
            <a:off x="7652830" y="4163829"/>
            <a:ext cx="441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Hint: remember two statements are logically equivalent if they have identical truth table columns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9E0C4-3B9F-BCB0-F49B-0286A193D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83" y="576573"/>
            <a:ext cx="4419023" cy="365483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EB7307-87AB-6212-F0EE-365D7EDC1639}"/>
              </a:ext>
            </a:extLst>
          </p:cNvPr>
          <p:cNvSpPr/>
          <p:nvPr/>
        </p:nvSpPr>
        <p:spPr>
          <a:xfrm>
            <a:off x="8123218" y="2546708"/>
            <a:ext cx="2964873" cy="3157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078448-4C09-DABF-CEFB-FD42E875AF40}"/>
              </a:ext>
            </a:extLst>
          </p:cNvPr>
          <p:cNvSpPr/>
          <p:nvPr/>
        </p:nvSpPr>
        <p:spPr>
          <a:xfrm>
            <a:off x="8133231" y="3621838"/>
            <a:ext cx="2964873" cy="31579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DA260D-E0B1-E973-51D9-2936D06DF5AE}"/>
              </a:ext>
            </a:extLst>
          </p:cNvPr>
          <p:cNvSpPr/>
          <p:nvPr/>
        </p:nvSpPr>
        <p:spPr>
          <a:xfrm>
            <a:off x="8123217" y="3274608"/>
            <a:ext cx="2964873" cy="31579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34DB62-6D46-A508-1734-40FED95B81A9}"/>
              </a:ext>
            </a:extLst>
          </p:cNvPr>
          <p:cNvSpPr/>
          <p:nvPr/>
        </p:nvSpPr>
        <p:spPr>
          <a:xfrm>
            <a:off x="8123217" y="2911955"/>
            <a:ext cx="2964873" cy="31579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FC49B-C02F-644B-7C7B-765BBC5B52F8}"/>
              </a:ext>
            </a:extLst>
          </p:cNvPr>
          <p:cNvSpPr txBox="1"/>
          <p:nvPr/>
        </p:nvSpPr>
        <p:spPr>
          <a:xfrm>
            <a:off x="2355834" y="3996678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2B3B6-5B3C-5590-444F-1E0BDEEA3465}"/>
              </a:ext>
            </a:extLst>
          </p:cNvPr>
          <p:cNvSpPr txBox="1"/>
          <p:nvPr/>
        </p:nvSpPr>
        <p:spPr>
          <a:xfrm>
            <a:off x="2355834" y="1934537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9A32E-8911-4E88-EA06-2ABAEF97B541}"/>
              </a:ext>
            </a:extLst>
          </p:cNvPr>
          <p:cNvSpPr txBox="1"/>
          <p:nvPr/>
        </p:nvSpPr>
        <p:spPr>
          <a:xfrm>
            <a:off x="2355834" y="5594326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3A979-7350-BDAB-01CE-2530B703A2AC}"/>
              </a:ext>
            </a:extLst>
          </p:cNvPr>
          <p:cNvSpPr txBox="1"/>
          <p:nvPr/>
        </p:nvSpPr>
        <p:spPr>
          <a:xfrm>
            <a:off x="2355834" y="3475966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5E3194-944A-2F64-7510-99D3A7F63876}"/>
              </a:ext>
            </a:extLst>
          </p:cNvPr>
          <p:cNvSpPr txBox="1"/>
          <p:nvPr/>
        </p:nvSpPr>
        <p:spPr>
          <a:xfrm>
            <a:off x="2335244" y="5041543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B2157-3058-6988-969A-0042AD46D28B}"/>
              </a:ext>
            </a:extLst>
          </p:cNvPr>
          <p:cNvSpPr txBox="1"/>
          <p:nvPr/>
        </p:nvSpPr>
        <p:spPr>
          <a:xfrm>
            <a:off x="2355834" y="2945974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F6434-A6DA-F357-F2E1-FD44BE91E32C}"/>
              </a:ext>
            </a:extLst>
          </p:cNvPr>
          <p:cNvSpPr txBox="1"/>
          <p:nvPr/>
        </p:nvSpPr>
        <p:spPr>
          <a:xfrm>
            <a:off x="2365845" y="2463248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BCAF5-F2BF-4BCD-3871-6092DB5A058B}"/>
              </a:ext>
            </a:extLst>
          </p:cNvPr>
          <p:cNvSpPr txBox="1"/>
          <p:nvPr/>
        </p:nvSpPr>
        <p:spPr>
          <a:xfrm>
            <a:off x="2365845" y="4513659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27147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6BBA-4541-E652-7B80-0A40D65C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5812-5A76-9ED8-9F6A-89F45D8C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Combining conditionals with our other statements:</a:t>
            </a:r>
            <a:br>
              <a:rPr lang="en-US" dirty="0"/>
            </a:br>
            <a:r>
              <a:rPr lang="en-US" u="sng" dirty="0"/>
              <a:t>Is (P ∧ Q ) </a:t>
            </a:r>
            <a:r>
              <a:rPr lang="en-US" u="sng" dirty="0">
                <a:sym typeface="Wingdings" pitchFamily="2" charset="2"/>
              </a:rPr>
              <a:t> R</a:t>
            </a:r>
            <a:r>
              <a:rPr lang="en-US" u="sng" dirty="0"/>
              <a:t> ≡ P </a:t>
            </a:r>
            <a:r>
              <a:rPr lang="en-US" u="sng" dirty="0">
                <a:sym typeface="Wingdings" pitchFamily="2" charset="2"/>
              </a:rPr>
              <a:t> (Q  R)</a:t>
            </a:r>
            <a:endParaRPr lang="en-US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B2E6EC-2232-761B-AE53-7F9EF72F3A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147" y="1392551"/>
          <a:ext cx="572565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125">
                  <a:extLst>
                    <a:ext uri="{9D8B030D-6E8A-4147-A177-3AD203B41FA5}">
                      <a16:colId xmlns:a16="http://schemas.microsoft.com/office/drawing/2014/main" val="3663470962"/>
                    </a:ext>
                  </a:extLst>
                </a:gridCol>
                <a:gridCol w="2264507">
                  <a:extLst>
                    <a:ext uri="{9D8B030D-6E8A-4147-A177-3AD203B41FA5}">
                      <a16:colId xmlns:a16="http://schemas.microsoft.com/office/drawing/2014/main" val="1421212325"/>
                    </a:ext>
                  </a:extLst>
                </a:gridCol>
                <a:gridCol w="2757020">
                  <a:extLst>
                    <a:ext uri="{9D8B030D-6E8A-4147-A177-3AD203B41FA5}">
                      <a16:colId xmlns:a16="http://schemas.microsoft.com/office/drawing/2014/main" val="3016495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Q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(Q  R)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7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35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0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23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57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77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154F6F-74C3-A0FA-DACC-6EDFACBF486D}"/>
              </a:ext>
            </a:extLst>
          </p:cNvPr>
          <p:cNvSpPr txBox="1"/>
          <p:nvPr/>
        </p:nvSpPr>
        <p:spPr>
          <a:xfrm>
            <a:off x="7652830" y="4163829"/>
            <a:ext cx="441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Hint: remember two statements are logically equivalent if they have identical truth table columns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2A919-FCC8-472B-1D29-A00FB876B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83" y="576573"/>
            <a:ext cx="4419023" cy="365483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DF3BA00-E6EE-6410-A2E8-95963A86F44B}"/>
              </a:ext>
            </a:extLst>
          </p:cNvPr>
          <p:cNvSpPr/>
          <p:nvPr/>
        </p:nvSpPr>
        <p:spPr>
          <a:xfrm>
            <a:off x="8123218" y="2546708"/>
            <a:ext cx="2964873" cy="3157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5AED6-8D58-724A-09FB-96CBAE58C21E}"/>
              </a:ext>
            </a:extLst>
          </p:cNvPr>
          <p:cNvSpPr/>
          <p:nvPr/>
        </p:nvSpPr>
        <p:spPr>
          <a:xfrm>
            <a:off x="8133231" y="3621838"/>
            <a:ext cx="2964873" cy="31579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0E7ED8-C19D-DFB8-B7A4-B91CDA65261D}"/>
              </a:ext>
            </a:extLst>
          </p:cNvPr>
          <p:cNvSpPr/>
          <p:nvPr/>
        </p:nvSpPr>
        <p:spPr>
          <a:xfrm>
            <a:off x="8123217" y="3274608"/>
            <a:ext cx="2964873" cy="31579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81DB59-77CE-1E60-81EE-DAADF0D77667}"/>
              </a:ext>
            </a:extLst>
          </p:cNvPr>
          <p:cNvSpPr/>
          <p:nvPr/>
        </p:nvSpPr>
        <p:spPr>
          <a:xfrm>
            <a:off x="8123217" y="2911955"/>
            <a:ext cx="2964873" cy="31579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F8A3C-57C7-003B-7299-5E8A9E987E6F}"/>
              </a:ext>
            </a:extLst>
          </p:cNvPr>
          <p:cNvSpPr txBox="1"/>
          <p:nvPr/>
        </p:nvSpPr>
        <p:spPr>
          <a:xfrm>
            <a:off x="4220930" y="2980590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B054D-D82C-22F3-2697-EB5693709776}"/>
              </a:ext>
            </a:extLst>
          </p:cNvPr>
          <p:cNvSpPr txBox="1"/>
          <p:nvPr/>
        </p:nvSpPr>
        <p:spPr>
          <a:xfrm>
            <a:off x="4240049" y="1951845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DD160-6AA0-0FA6-25B9-26B8075688D9}"/>
              </a:ext>
            </a:extLst>
          </p:cNvPr>
          <p:cNvSpPr txBox="1"/>
          <p:nvPr/>
        </p:nvSpPr>
        <p:spPr>
          <a:xfrm>
            <a:off x="4240049" y="4545828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9F827-8749-5EA1-81F4-11C9B35A8474}"/>
              </a:ext>
            </a:extLst>
          </p:cNvPr>
          <p:cNvSpPr txBox="1"/>
          <p:nvPr/>
        </p:nvSpPr>
        <p:spPr>
          <a:xfrm>
            <a:off x="4220929" y="4023183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016B9-9CF5-96D7-30CA-A60C4D41A205}"/>
              </a:ext>
            </a:extLst>
          </p:cNvPr>
          <p:cNvSpPr txBox="1"/>
          <p:nvPr/>
        </p:nvSpPr>
        <p:spPr>
          <a:xfrm>
            <a:off x="4223114" y="2464719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75991-96DC-F12B-C228-4A964B981D94}"/>
              </a:ext>
            </a:extLst>
          </p:cNvPr>
          <p:cNvSpPr txBox="1"/>
          <p:nvPr/>
        </p:nvSpPr>
        <p:spPr>
          <a:xfrm>
            <a:off x="4220929" y="3489545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E43A1-FE72-799E-5891-D50111CA1915}"/>
              </a:ext>
            </a:extLst>
          </p:cNvPr>
          <p:cNvSpPr txBox="1"/>
          <p:nvPr/>
        </p:nvSpPr>
        <p:spPr>
          <a:xfrm>
            <a:off x="4220929" y="5054783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52E78A-7D58-EA39-F498-F500183B61C0}"/>
              </a:ext>
            </a:extLst>
          </p:cNvPr>
          <p:cNvSpPr txBox="1"/>
          <p:nvPr/>
        </p:nvSpPr>
        <p:spPr>
          <a:xfrm>
            <a:off x="4220929" y="5547035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62364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9" grpId="0" animBg="1"/>
      <p:bldP spid="10" grpId="0" animBg="1"/>
      <p:bldP spid="12" grpId="0" animBg="1"/>
      <p:bldP spid="14" grpId="0" animBg="1"/>
      <p:bldP spid="15" grpId="0" animBg="1"/>
      <p:bldP spid="3" grpId="0" animBg="1"/>
      <p:bldP spid="8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8898-597D-72DA-745E-7F865CF7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3C32-D609-F0D4-2102-7E89D47BC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Combining conditionals with our other statements:</a:t>
            </a:r>
            <a:br>
              <a:rPr lang="en-US" dirty="0"/>
            </a:br>
            <a:r>
              <a:rPr lang="en-US" u="sng" dirty="0"/>
              <a:t>Is (P ∧ Q ) </a:t>
            </a:r>
            <a:r>
              <a:rPr lang="en-US" u="sng" dirty="0">
                <a:sym typeface="Wingdings" pitchFamily="2" charset="2"/>
              </a:rPr>
              <a:t> R</a:t>
            </a:r>
            <a:r>
              <a:rPr lang="en-US" u="sng" dirty="0"/>
              <a:t> ≡ P </a:t>
            </a:r>
            <a:r>
              <a:rPr lang="en-US" u="sng" dirty="0">
                <a:sym typeface="Wingdings" pitchFamily="2" charset="2"/>
              </a:rPr>
              <a:t> (Q  R)</a:t>
            </a:r>
            <a:endParaRPr lang="en-US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3D4F2F-A7D8-FBD4-6197-5D1D29AC8F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169" y="1605911"/>
          <a:ext cx="592763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32">
                  <a:extLst>
                    <a:ext uri="{9D8B030D-6E8A-4147-A177-3AD203B41FA5}">
                      <a16:colId xmlns:a16="http://schemas.microsoft.com/office/drawing/2014/main" val="3557632464"/>
                    </a:ext>
                  </a:extLst>
                </a:gridCol>
                <a:gridCol w="538506">
                  <a:extLst>
                    <a:ext uri="{9D8B030D-6E8A-4147-A177-3AD203B41FA5}">
                      <a16:colId xmlns:a16="http://schemas.microsoft.com/office/drawing/2014/main" val="732971008"/>
                    </a:ext>
                  </a:extLst>
                </a:gridCol>
                <a:gridCol w="538506">
                  <a:extLst>
                    <a:ext uri="{9D8B030D-6E8A-4147-A177-3AD203B41FA5}">
                      <a16:colId xmlns:a16="http://schemas.microsoft.com/office/drawing/2014/main" val="3663470962"/>
                    </a:ext>
                  </a:extLst>
                </a:gridCol>
                <a:gridCol w="2251460">
                  <a:extLst>
                    <a:ext uri="{9D8B030D-6E8A-4147-A177-3AD203B41FA5}">
                      <a16:colId xmlns:a16="http://schemas.microsoft.com/office/drawing/2014/main" val="214006186"/>
                    </a:ext>
                  </a:extLst>
                </a:gridCol>
                <a:gridCol w="2108534">
                  <a:extLst>
                    <a:ext uri="{9D8B030D-6E8A-4147-A177-3AD203B41FA5}">
                      <a16:colId xmlns:a16="http://schemas.microsoft.com/office/drawing/2014/main" val="3016495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(P  ∧ Q)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(Q  R)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7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35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0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23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57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1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77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17C8502-D2D6-87FB-0F3C-E50220DE619D}"/>
              </a:ext>
            </a:extLst>
          </p:cNvPr>
          <p:cNvSpPr txBox="1"/>
          <p:nvPr/>
        </p:nvSpPr>
        <p:spPr>
          <a:xfrm>
            <a:off x="7652830" y="4163829"/>
            <a:ext cx="441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Hint: remember two statements are logically equivalent if they have identical truth table columns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A334F-B15A-417F-D4CB-CE7F08C6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83" y="576573"/>
            <a:ext cx="4419023" cy="365483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7872528-22FA-AB7E-731E-B1339CBD8AD5}"/>
              </a:ext>
            </a:extLst>
          </p:cNvPr>
          <p:cNvSpPr/>
          <p:nvPr/>
        </p:nvSpPr>
        <p:spPr>
          <a:xfrm>
            <a:off x="8123218" y="2546708"/>
            <a:ext cx="2964873" cy="3157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5B704-1BCE-3E29-35A1-C25E87B7960A}"/>
              </a:ext>
            </a:extLst>
          </p:cNvPr>
          <p:cNvSpPr/>
          <p:nvPr/>
        </p:nvSpPr>
        <p:spPr>
          <a:xfrm>
            <a:off x="8133231" y="3621838"/>
            <a:ext cx="2964873" cy="31579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35FD9D-A959-DAB2-27F0-49B18982C146}"/>
              </a:ext>
            </a:extLst>
          </p:cNvPr>
          <p:cNvSpPr/>
          <p:nvPr/>
        </p:nvSpPr>
        <p:spPr>
          <a:xfrm>
            <a:off x="8123217" y="3274608"/>
            <a:ext cx="2964873" cy="31579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8CE6EB-5C66-E972-4F30-C26CF0DA5199}"/>
              </a:ext>
            </a:extLst>
          </p:cNvPr>
          <p:cNvSpPr/>
          <p:nvPr/>
        </p:nvSpPr>
        <p:spPr>
          <a:xfrm>
            <a:off x="8123217" y="2911955"/>
            <a:ext cx="2964873" cy="31579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4F2A2-9160-7000-4B9E-00693B45E8E1}"/>
              </a:ext>
            </a:extLst>
          </p:cNvPr>
          <p:cNvSpPr txBox="1"/>
          <p:nvPr/>
        </p:nvSpPr>
        <p:spPr>
          <a:xfrm>
            <a:off x="4608860" y="3202264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C8F2B-8497-8183-1353-D0B04E0582F9}"/>
              </a:ext>
            </a:extLst>
          </p:cNvPr>
          <p:cNvSpPr txBox="1"/>
          <p:nvPr/>
        </p:nvSpPr>
        <p:spPr>
          <a:xfrm>
            <a:off x="4627979" y="2173519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2CE6A-3F41-593C-EC80-C6C4932ECAD1}"/>
              </a:ext>
            </a:extLst>
          </p:cNvPr>
          <p:cNvSpPr txBox="1"/>
          <p:nvPr/>
        </p:nvSpPr>
        <p:spPr>
          <a:xfrm>
            <a:off x="4627979" y="4767502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0D3F1-0346-8B95-95F8-FB1CC3E1842F}"/>
              </a:ext>
            </a:extLst>
          </p:cNvPr>
          <p:cNvSpPr txBox="1"/>
          <p:nvPr/>
        </p:nvSpPr>
        <p:spPr>
          <a:xfrm>
            <a:off x="4608859" y="4244857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BD5A5-52E3-BB6B-CF10-0FF2960C6208}"/>
              </a:ext>
            </a:extLst>
          </p:cNvPr>
          <p:cNvSpPr txBox="1"/>
          <p:nvPr/>
        </p:nvSpPr>
        <p:spPr>
          <a:xfrm>
            <a:off x="4611044" y="2686393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4C72E-AE4B-3659-F740-5AB690AEE449}"/>
              </a:ext>
            </a:extLst>
          </p:cNvPr>
          <p:cNvSpPr txBox="1"/>
          <p:nvPr/>
        </p:nvSpPr>
        <p:spPr>
          <a:xfrm>
            <a:off x="4608859" y="3711219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15687-17A5-173B-5CCC-DD0942C5E25F}"/>
              </a:ext>
            </a:extLst>
          </p:cNvPr>
          <p:cNvSpPr txBox="1"/>
          <p:nvPr/>
        </p:nvSpPr>
        <p:spPr>
          <a:xfrm>
            <a:off x="4608859" y="5276457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C73928-DDB1-FFF7-6F64-E2C9085F747C}"/>
              </a:ext>
            </a:extLst>
          </p:cNvPr>
          <p:cNvSpPr txBox="1"/>
          <p:nvPr/>
        </p:nvSpPr>
        <p:spPr>
          <a:xfrm>
            <a:off x="4608859" y="5768709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9B28D1-DB7F-7C51-2AF9-A29F3A5EBF81}"/>
              </a:ext>
            </a:extLst>
          </p:cNvPr>
          <p:cNvSpPr txBox="1"/>
          <p:nvPr/>
        </p:nvSpPr>
        <p:spPr>
          <a:xfrm>
            <a:off x="2582564" y="3188409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EDDCE8-F131-997A-766D-F360AE402AFE}"/>
              </a:ext>
            </a:extLst>
          </p:cNvPr>
          <p:cNvSpPr txBox="1"/>
          <p:nvPr/>
        </p:nvSpPr>
        <p:spPr>
          <a:xfrm>
            <a:off x="2601683" y="2159664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ADE007-988A-4A33-0AFE-3B1A7F9C404F}"/>
              </a:ext>
            </a:extLst>
          </p:cNvPr>
          <p:cNvSpPr txBox="1"/>
          <p:nvPr/>
        </p:nvSpPr>
        <p:spPr>
          <a:xfrm>
            <a:off x="2582563" y="3697364"/>
            <a:ext cx="342153" cy="4694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B7C03D-BDC7-921D-AA59-199A4A8DE049}"/>
              </a:ext>
            </a:extLst>
          </p:cNvPr>
          <p:cNvSpPr txBox="1"/>
          <p:nvPr/>
        </p:nvSpPr>
        <p:spPr>
          <a:xfrm>
            <a:off x="2596418" y="2673762"/>
            <a:ext cx="346570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1B128-0413-8AE2-3952-8687E5003AAB}"/>
              </a:ext>
            </a:extLst>
          </p:cNvPr>
          <p:cNvSpPr txBox="1"/>
          <p:nvPr/>
        </p:nvSpPr>
        <p:spPr>
          <a:xfrm>
            <a:off x="2619058" y="4781353"/>
            <a:ext cx="3321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60FC0-F232-E9DE-E2FB-0EDD8F800C44}"/>
              </a:ext>
            </a:extLst>
          </p:cNvPr>
          <p:cNvSpPr txBox="1"/>
          <p:nvPr/>
        </p:nvSpPr>
        <p:spPr>
          <a:xfrm>
            <a:off x="2613793" y="4258708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60B726-EDB2-076E-0657-1660654B4B04}"/>
              </a:ext>
            </a:extLst>
          </p:cNvPr>
          <p:cNvSpPr txBox="1"/>
          <p:nvPr/>
        </p:nvSpPr>
        <p:spPr>
          <a:xfrm>
            <a:off x="2599938" y="5290308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84442-8228-AD43-97AB-93658151BC88}"/>
              </a:ext>
            </a:extLst>
          </p:cNvPr>
          <p:cNvSpPr txBox="1"/>
          <p:nvPr/>
        </p:nvSpPr>
        <p:spPr>
          <a:xfrm>
            <a:off x="2599938" y="5782560"/>
            <a:ext cx="332142" cy="461665"/>
          </a:xfrm>
          <a:prstGeom prst="rect">
            <a:avLst/>
          </a:prstGeom>
          <a:solidFill>
            <a:srgbClr val="B382DE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80098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4B4B-7922-FBAD-D7F8-150F836C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Adding conditionals into Equivalence proofs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2CB6-6405-64AE-0C81-68CED9CF3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190" y="1132550"/>
            <a:ext cx="7065602" cy="49599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Proving </a:t>
            </a:r>
            <a:r>
              <a:rPr lang="en-US" u="sng" dirty="0"/>
              <a:t>(P ∧ Q ) </a:t>
            </a:r>
            <a:r>
              <a:rPr lang="en-US" u="sng" dirty="0">
                <a:sym typeface="Wingdings" pitchFamily="2" charset="2"/>
              </a:rPr>
              <a:t> R</a:t>
            </a:r>
            <a:r>
              <a:rPr lang="en-US" u="sng" dirty="0"/>
              <a:t> ≡ P </a:t>
            </a:r>
            <a:r>
              <a:rPr lang="en-US" u="sng" dirty="0">
                <a:sym typeface="Wingdings" pitchFamily="2" charset="2"/>
              </a:rPr>
              <a:t> (Q  R)</a:t>
            </a:r>
          </a:p>
          <a:p>
            <a:endParaRPr lang="en-US" dirty="0">
              <a:sym typeface="Wingdings" pitchFamily="2" charset="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966F2C-5DE7-F058-384A-A1835BAD3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68179"/>
              </p:ext>
            </p:extLst>
          </p:nvPr>
        </p:nvGraphicFramePr>
        <p:xfrm>
          <a:off x="4728190" y="1634705"/>
          <a:ext cx="746381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261">
                  <a:extLst>
                    <a:ext uri="{9D8B030D-6E8A-4147-A177-3AD203B41FA5}">
                      <a16:colId xmlns:a16="http://schemas.microsoft.com/office/drawing/2014/main" val="1412583686"/>
                    </a:ext>
                  </a:extLst>
                </a:gridCol>
                <a:gridCol w="3469546">
                  <a:extLst>
                    <a:ext uri="{9D8B030D-6E8A-4147-A177-3AD203B41FA5}">
                      <a16:colId xmlns:a16="http://schemas.microsoft.com/office/drawing/2014/main" val="1848227504"/>
                    </a:ext>
                  </a:extLst>
                </a:gridCol>
                <a:gridCol w="2337003">
                  <a:extLst>
                    <a:ext uri="{9D8B030D-6E8A-4147-A177-3AD203B41FA5}">
                      <a16:colId xmlns:a16="http://schemas.microsoft.com/office/drawing/2014/main" val="2395236855"/>
                    </a:ext>
                  </a:extLst>
                </a:gridCol>
              </a:tblGrid>
              <a:tr h="810511">
                <a:tc>
                  <a:txBody>
                    <a:bodyPr/>
                    <a:lstStyle/>
                    <a:p>
                      <a:r>
                        <a:rPr lang="en-US" sz="2400" dirty="0"/>
                        <a:t>If we had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52239"/>
                  </a:ext>
                </a:extLst>
              </a:tr>
              <a:tr h="810511">
                <a:tc>
                  <a:txBody>
                    <a:bodyPr/>
                    <a:lstStyle/>
                    <a:p>
                      <a:r>
                        <a:rPr lang="en-US" sz="2400" u="none" dirty="0"/>
                        <a:t>(P ∧ Q )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 R</a:t>
                      </a:r>
                      <a:r>
                        <a:rPr lang="en-US" sz="2400" u="non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Law on the left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¬(P </a:t>
                      </a:r>
                      <a:r>
                        <a:rPr lang="en-US" sz="2400" u="none" dirty="0"/>
                        <a:t>∧ Q) V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 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594413"/>
                  </a:ext>
                </a:extLst>
              </a:tr>
              <a:tr h="810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¬(P </a:t>
                      </a:r>
                      <a:r>
                        <a:rPr lang="en-US" sz="2400" u="none" dirty="0"/>
                        <a:t>∧ Q) V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 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Applying De Morgan’s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(¬P V ¬Q)  V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5021"/>
                  </a:ext>
                </a:extLst>
              </a:tr>
              <a:tr h="810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(¬P V ¬Q)  V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Applying Associative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¬P V (¬Q  V 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18926"/>
                  </a:ext>
                </a:extLst>
              </a:tr>
              <a:tr h="810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(¬Q  V 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Can be transformed into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R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So ¬P V (Q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48482"/>
                  </a:ext>
                </a:extLst>
              </a:tr>
              <a:tr h="1170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¬P V (Q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Same transformation here between P and (Q --&gt; 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 (Q </a:t>
                      </a:r>
                      <a:r>
                        <a:rPr lang="en-US" sz="2400" u="none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7427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71AE792-D7C4-3708-1AE5-009233DE02B2}"/>
              </a:ext>
            </a:extLst>
          </p:cNvPr>
          <p:cNvSpPr txBox="1"/>
          <p:nvPr/>
        </p:nvSpPr>
        <p:spPr>
          <a:xfrm>
            <a:off x="-1" y="4150850"/>
            <a:ext cx="4728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There’s more laws for transforming conditionals but we’ll just worry about this one first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D99C29-0C11-44EF-CBCD-20FC734A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06" b="57731"/>
          <a:stretch>
            <a:fillRect/>
          </a:stretch>
        </p:blipFill>
        <p:spPr>
          <a:xfrm>
            <a:off x="117066" y="3309257"/>
            <a:ext cx="3142164" cy="597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869B45-0E17-9E1A-D018-6B610E4F5073}"/>
              </a:ext>
            </a:extLst>
          </p:cNvPr>
          <p:cNvSpPr txBox="1"/>
          <p:nvPr/>
        </p:nvSpPr>
        <p:spPr>
          <a:xfrm>
            <a:off x="117066" y="2569612"/>
            <a:ext cx="4070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laws don’t get consistent names </a:t>
            </a:r>
            <a:br>
              <a:rPr lang="en-US" dirty="0"/>
            </a:br>
            <a:r>
              <a:rPr lang="en-US" dirty="0"/>
              <a:t>(as far as I can tell)</a:t>
            </a:r>
          </a:p>
        </p:txBody>
      </p:sp>
    </p:spTree>
    <p:extLst>
      <p:ext uri="{BB962C8B-B14F-4D97-AF65-F5344CB8AC3E}">
        <p14:creationId xmlns:p14="http://schemas.microsoft.com/office/powerpoint/2010/main" val="17127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1FE0-D60E-6F96-1BE8-C04EB88B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4099"/>
            <a:ext cx="12163451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</a:b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Logical Equivalence: </a:t>
            </a:r>
            <a:b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</a:b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Show that (P ∧ Q )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 P </a:t>
            </a:r>
            <a:r>
              <a:rPr lang="en-US" dirty="0"/>
              <a:t>≡ True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01FD1-1FF4-A928-3F58-82535D602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9" y="1171464"/>
            <a:ext cx="8422904" cy="138104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(P ∧ Q )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 P  </a:t>
            </a:r>
            <a:r>
              <a:rPr lang="en-US" dirty="0"/>
              <a:t>≡ 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(P ∧ Q )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Based on the top equivalence in the chart on the right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At this point, we’re back in Propositional Logic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69308-0195-9318-844F-DA8C9C59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565"/>
          <a:stretch>
            <a:fillRect/>
          </a:stretch>
        </p:blipFill>
        <p:spPr>
          <a:xfrm>
            <a:off x="7240288" y="23606"/>
            <a:ext cx="4951712" cy="1501095"/>
          </a:xfrm>
          <a:prstGeom prst="rect">
            <a:avLst/>
          </a:prstGeom>
        </p:spPr>
      </p:pic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CC2B0A65-2A88-CDC1-79DE-D034460C7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981689"/>
              </p:ext>
            </p:extLst>
          </p:nvPr>
        </p:nvGraphicFramePr>
        <p:xfrm>
          <a:off x="126011" y="3163169"/>
          <a:ext cx="8042739" cy="2444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335438">
                  <a:extLst>
                    <a:ext uri="{9D8B030D-6E8A-4147-A177-3AD203B41FA5}">
                      <a16:colId xmlns:a16="http://schemas.microsoft.com/office/drawing/2014/main" val="2182427334"/>
                    </a:ext>
                  </a:extLst>
                </a:gridCol>
                <a:gridCol w="2275828">
                  <a:extLst>
                    <a:ext uri="{9D8B030D-6E8A-4147-A177-3AD203B41FA5}">
                      <a16:colId xmlns:a16="http://schemas.microsoft.com/office/drawing/2014/main" val="2870661997"/>
                    </a:ext>
                  </a:extLst>
                </a:gridCol>
              </a:tblGrid>
              <a:tr h="775855">
                <a:tc>
                  <a:txBody>
                    <a:bodyPr/>
                    <a:lstStyle/>
                    <a:p>
                      <a:r>
                        <a:rPr lang="en-US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And used _____ to transform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3805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5211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784669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46372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4AA5BD0-EAF2-DE69-2C01-2E6052F04BA2}"/>
              </a:ext>
            </a:extLst>
          </p:cNvPr>
          <p:cNvSpPr txBox="1"/>
          <p:nvPr/>
        </p:nvSpPr>
        <p:spPr>
          <a:xfrm>
            <a:off x="126011" y="395779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(P ∧ Q )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B0732-9CBD-71D4-00D6-2761C0898DA9}"/>
              </a:ext>
            </a:extLst>
          </p:cNvPr>
          <p:cNvSpPr txBox="1"/>
          <p:nvPr/>
        </p:nvSpPr>
        <p:spPr>
          <a:xfrm>
            <a:off x="3239086" y="3957790"/>
            <a:ext cx="181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DeMorgan’s</a:t>
            </a:r>
            <a:r>
              <a:rPr lang="en-US" dirty="0"/>
              <a:t> Law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19E81C-E3C1-25A4-2CED-C1093E3BA774}"/>
              </a:ext>
            </a:extLst>
          </p:cNvPr>
          <p:cNvSpPr txBox="1"/>
          <p:nvPr/>
        </p:nvSpPr>
        <p:spPr>
          <a:xfrm>
            <a:off x="5904641" y="395779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 V </a:t>
            </a:r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Q )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0D1BF-D512-7D45-93F6-5F0D5A788A26}"/>
              </a:ext>
            </a:extLst>
          </p:cNvPr>
          <p:cNvSpPr txBox="1"/>
          <p:nvPr/>
        </p:nvSpPr>
        <p:spPr>
          <a:xfrm>
            <a:off x="171020" y="436199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 V </a:t>
            </a:r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Q )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004670-A433-97E4-1265-66D57387E304}"/>
              </a:ext>
            </a:extLst>
          </p:cNvPr>
          <p:cNvSpPr txBox="1"/>
          <p:nvPr/>
        </p:nvSpPr>
        <p:spPr>
          <a:xfrm>
            <a:off x="3239086" y="4361996"/>
            <a:ext cx="178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Associative Law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C1491-B3F7-5146-E90D-C8E5E22D4DDC}"/>
              </a:ext>
            </a:extLst>
          </p:cNvPr>
          <p:cNvSpPr txBox="1"/>
          <p:nvPr/>
        </p:nvSpPr>
        <p:spPr>
          <a:xfrm>
            <a:off x="5904640" y="4361996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 V </a:t>
            </a:r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Q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3E5072-52AC-511B-571F-ED8F9CCF47D6}"/>
              </a:ext>
            </a:extLst>
          </p:cNvPr>
          <p:cNvSpPr txBox="1"/>
          <p:nvPr/>
        </p:nvSpPr>
        <p:spPr>
          <a:xfrm>
            <a:off x="171020" y="4785130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 V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P V </a:t>
            </a:r>
            <a:r>
              <a:rPr lang="en-US" dirty="0"/>
              <a:t>¬ 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sym typeface="Wingdings" pitchFamily="2" charset="2"/>
              </a:rPr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7BC8D1-2146-8054-9A75-8A719288AE66}"/>
              </a:ext>
            </a:extLst>
          </p:cNvPr>
          <p:cNvSpPr txBox="1"/>
          <p:nvPr/>
        </p:nvSpPr>
        <p:spPr>
          <a:xfrm>
            <a:off x="3239086" y="4775491"/>
            <a:ext cx="200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Complement Law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654501-A60E-96BA-C781-077C7D102A61}"/>
              </a:ext>
            </a:extLst>
          </p:cNvPr>
          <p:cNvSpPr txBox="1"/>
          <p:nvPr/>
        </p:nvSpPr>
        <p:spPr>
          <a:xfrm>
            <a:off x="5904640" y="4785130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 V ¬	Q </a:t>
            </a:r>
            <a:endParaRPr lang="en-US" dirty="0">
              <a:solidFill>
                <a:schemeClr val="tx1">
                  <a:alpha val="80000"/>
                </a:schemeClr>
              </a:solidFill>
              <a:sym typeface="Wingdings" pitchFamily="2" charset="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A5ED40-B81E-DFDB-B015-CC89D874F9E5}"/>
              </a:ext>
            </a:extLst>
          </p:cNvPr>
          <p:cNvSpPr txBox="1"/>
          <p:nvPr/>
        </p:nvSpPr>
        <p:spPr>
          <a:xfrm>
            <a:off x="171020" y="5196599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 V ¬	Q </a:t>
            </a:r>
            <a:endParaRPr lang="en-US" dirty="0">
              <a:solidFill>
                <a:schemeClr val="tx1">
                  <a:alpha val="80000"/>
                </a:schemeClr>
              </a:solidFill>
              <a:sym typeface="Wingdings" pitchFamily="2" charset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2FD017-1F4D-4CB8-1EAE-02112538FA12}"/>
              </a:ext>
            </a:extLst>
          </p:cNvPr>
          <p:cNvSpPr txBox="1"/>
          <p:nvPr/>
        </p:nvSpPr>
        <p:spPr>
          <a:xfrm>
            <a:off x="3239086" y="5159531"/>
            <a:ext cx="172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Annihilator Law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723041-9DD5-39A8-C237-898A2A4D5CD8}"/>
              </a:ext>
            </a:extLst>
          </p:cNvPr>
          <p:cNvSpPr txBox="1"/>
          <p:nvPr/>
        </p:nvSpPr>
        <p:spPr>
          <a:xfrm>
            <a:off x="5904640" y="5196599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0948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6" grpId="0"/>
      <p:bldP spid="17" grpId="0"/>
      <p:bldP spid="18" grpId="0"/>
      <p:bldP spid="20" grpId="0"/>
      <p:bldP spid="23" grpId="0"/>
      <p:bldP spid="24" grpId="0"/>
      <p:bldP spid="26" grpId="0"/>
      <p:bldP spid="28" grpId="0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F4A8-874E-34BF-D176-C046AC72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Q </a:t>
            </a:r>
            <a:r>
              <a:rPr lang="en-US" dirty="0"/>
              <a:t>≡</a:t>
            </a:r>
            <a:r>
              <a:rPr lang="en-US" dirty="0">
                <a:sym typeface="Wingdings" pitchFamily="2" charset="2"/>
              </a:rPr>
              <a:t>  Q  P?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DD28AB-48B8-2FE8-367C-5221183CB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041508"/>
              </p:ext>
            </p:extLst>
          </p:nvPr>
        </p:nvGraphicFramePr>
        <p:xfrm>
          <a:off x="7585501" y="3507807"/>
          <a:ext cx="4212772" cy="318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171">
                  <a:extLst>
                    <a:ext uri="{9D8B030D-6E8A-4147-A177-3AD203B41FA5}">
                      <a16:colId xmlns:a16="http://schemas.microsoft.com/office/drawing/2014/main" val="4201138459"/>
                    </a:ext>
                  </a:extLst>
                </a:gridCol>
                <a:gridCol w="691248">
                  <a:extLst>
                    <a:ext uri="{9D8B030D-6E8A-4147-A177-3AD203B41FA5}">
                      <a16:colId xmlns:a16="http://schemas.microsoft.com/office/drawing/2014/main" val="467253805"/>
                    </a:ext>
                  </a:extLst>
                </a:gridCol>
                <a:gridCol w="1382496">
                  <a:extLst>
                    <a:ext uri="{9D8B030D-6E8A-4147-A177-3AD203B41FA5}">
                      <a16:colId xmlns:a16="http://schemas.microsoft.com/office/drawing/2014/main" val="121409939"/>
                    </a:ext>
                  </a:extLst>
                </a:gridCol>
                <a:gridCol w="1397857">
                  <a:extLst>
                    <a:ext uri="{9D8B030D-6E8A-4147-A177-3AD203B41FA5}">
                      <a16:colId xmlns:a16="http://schemas.microsoft.com/office/drawing/2014/main" val="3780080698"/>
                    </a:ext>
                  </a:extLst>
                </a:gridCol>
              </a:tblGrid>
              <a:tr h="634274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P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67827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59563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2787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93753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00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2F49AD1-072B-E945-1DB4-BA67F274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3169"/>
            <a:ext cx="4419023" cy="3654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E0D5A-048D-F719-21EE-F9E1156CB1F5}"/>
              </a:ext>
            </a:extLst>
          </p:cNvPr>
          <p:cNvSpPr txBox="1"/>
          <p:nvPr/>
        </p:nvSpPr>
        <p:spPr>
          <a:xfrm>
            <a:off x="149273" y="301850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Reminder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E2105-213C-E83B-0A97-ED851C1756BE}"/>
              </a:ext>
            </a:extLst>
          </p:cNvPr>
          <p:cNvSpPr txBox="1"/>
          <p:nvPr/>
        </p:nvSpPr>
        <p:spPr>
          <a:xfrm>
            <a:off x="5777643" y="982776"/>
            <a:ext cx="636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B6582-6351-3CB8-FD6A-65ABF130AD6A}"/>
              </a:ext>
            </a:extLst>
          </p:cNvPr>
          <p:cNvSpPr txBox="1"/>
          <p:nvPr/>
        </p:nvSpPr>
        <p:spPr>
          <a:xfrm>
            <a:off x="0" y="1705059"/>
            <a:ext cx="4930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 = X is evenly divisible by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63835-6AEB-187A-7DD7-28C841EB8890}"/>
              </a:ext>
            </a:extLst>
          </p:cNvPr>
          <p:cNvSpPr txBox="1"/>
          <p:nvPr/>
        </p:nvSpPr>
        <p:spPr>
          <a:xfrm>
            <a:off x="-14012" y="2191394"/>
            <a:ext cx="5235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 = X is evenly divisible by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693FC-19BA-C264-59F3-FC8F4A41E145}"/>
              </a:ext>
            </a:extLst>
          </p:cNvPr>
          <p:cNvSpPr txBox="1"/>
          <p:nvPr/>
        </p:nvSpPr>
        <p:spPr>
          <a:xfrm>
            <a:off x="7569779" y="1304949"/>
            <a:ext cx="4212772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Q:</a:t>
            </a:r>
          </a:p>
          <a:p>
            <a:r>
              <a:rPr lang="en-US" dirty="0"/>
              <a:t>If X is evenly divisible by 8, then it is evenly divisible by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CBF76-9334-BB5A-43FE-1F79CEAD3378}"/>
              </a:ext>
            </a:extLst>
          </p:cNvPr>
          <p:cNvSpPr txBox="1"/>
          <p:nvPr/>
        </p:nvSpPr>
        <p:spPr>
          <a:xfrm>
            <a:off x="7569779" y="2288431"/>
            <a:ext cx="421277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Q P:</a:t>
            </a:r>
          </a:p>
          <a:p>
            <a:r>
              <a:rPr lang="en-US" dirty="0"/>
              <a:t>If X is evenly divisible by 4, then it is evenly divisible by 8</a:t>
            </a:r>
          </a:p>
        </p:txBody>
      </p:sp>
    </p:spTree>
    <p:extLst>
      <p:ext uri="{BB962C8B-B14F-4D97-AF65-F5344CB8AC3E}">
        <p14:creationId xmlns:p14="http://schemas.microsoft.com/office/powerpoint/2010/main" val="21161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BE33-B816-CCE6-BA1A-C10C6C51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Converse, Inverse, and Contrapositive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8DB8E-5AE7-AC7F-AA26-E87443383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91400" cy="4351338"/>
          </a:xfrm>
        </p:spPr>
        <p:txBody>
          <a:bodyPr/>
          <a:lstStyle/>
          <a:p>
            <a:r>
              <a:rPr lang="en-US" dirty="0"/>
              <a:t>Given a conditional P </a:t>
            </a:r>
            <a:r>
              <a:rPr lang="en-US" dirty="0">
                <a:sym typeface="Wingdings" pitchFamily="2" charset="2"/>
              </a:rPr>
              <a:t> Q</a:t>
            </a:r>
          </a:p>
          <a:p>
            <a:pPr lvl="1"/>
            <a:r>
              <a:rPr lang="en-US" dirty="0">
                <a:sym typeface="Wingdings" pitchFamily="2" charset="2"/>
              </a:rPr>
              <a:t>Its </a:t>
            </a:r>
            <a:r>
              <a:rPr lang="en-US" b="1" dirty="0">
                <a:sym typeface="Wingdings" pitchFamily="2" charset="2"/>
              </a:rPr>
              <a:t>converse</a:t>
            </a:r>
            <a:r>
              <a:rPr lang="en-US" dirty="0">
                <a:sym typeface="Wingdings" pitchFamily="2" charset="2"/>
              </a:rPr>
              <a:t> is Q  P</a:t>
            </a:r>
          </a:p>
          <a:p>
            <a:pPr lvl="2"/>
            <a:r>
              <a:rPr lang="en-US" dirty="0">
                <a:sym typeface="Wingdings" pitchFamily="2" charset="2"/>
              </a:rPr>
              <a:t>P and Q are flipped around</a:t>
            </a:r>
            <a:br>
              <a:rPr lang="en-US" dirty="0">
                <a:sym typeface="Wingdings" pitchFamily="2" charset="2"/>
              </a:rPr>
            </a:b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Its </a:t>
            </a:r>
            <a:r>
              <a:rPr lang="en-US" b="1" dirty="0">
                <a:sym typeface="Wingdings" pitchFamily="2" charset="2"/>
              </a:rPr>
              <a:t>inverse</a:t>
            </a:r>
            <a:r>
              <a:rPr lang="en-US" dirty="0">
                <a:sym typeface="Wingdings" pitchFamily="2" charset="2"/>
              </a:rPr>
              <a:t> is </a:t>
            </a:r>
            <a:r>
              <a:rPr lang="en-US" dirty="0"/>
              <a:t>¬P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¬Q</a:t>
            </a:r>
          </a:p>
          <a:p>
            <a:pPr lvl="2"/>
            <a:r>
              <a:rPr lang="en-US" dirty="0"/>
              <a:t>P and Q are the same, but we have our not operator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Its </a:t>
            </a:r>
            <a:r>
              <a:rPr lang="en-US" b="1" dirty="0"/>
              <a:t>contrapositive</a:t>
            </a:r>
            <a:r>
              <a:rPr lang="en-US" dirty="0"/>
              <a:t> is ¬Q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¬P</a:t>
            </a:r>
          </a:p>
          <a:p>
            <a:pPr lvl="2"/>
            <a:r>
              <a:rPr lang="en-US" dirty="0"/>
              <a:t>Both flipped AND negated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A843C-8D9C-9D97-8748-CEB458C3EAD7}"/>
              </a:ext>
            </a:extLst>
          </p:cNvPr>
          <p:cNvSpPr txBox="1"/>
          <p:nvPr/>
        </p:nvSpPr>
        <p:spPr>
          <a:xfrm>
            <a:off x="5067295" y="5039007"/>
            <a:ext cx="59296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Conditional: </a:t>
            </a:r>
            <a:r>
              <a:rPr lang="en-US" dirty="0"/>
              <a:t>If it rained then the ground is  wet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40AB-AE8F-171D-B99C-68C2051B7BE1}"/>
              </a:ext>
            </a:extLst>
          </p:cNvPr>
          <p:cNvSpPr txBox="1"/>
          <p:nvPr/>
        </p:nvSpPr>
        <p:spPr>
          <a:xfrm>
            <a:off x="5067295" y="5475807"/>
            <a:ext cx="59296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Converse: </a:t>
            </a:r>
            <a:r>
              <a:rPr lang="en-US" dirty="0"/>
              <a:t>if the ground is wet, then it rained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F05EE-97F2-AF14-F44D-04B6E4E11D83}"/>
              </a:ext>
            </a:extLst>
          </p:cNvPr>
          <p:cNvSpPr txBox="1"/>
          <p:nvPr/>
        </p:nvSpPr>
        <p:spPr>
          <a:xfrm>
            <a:off x="5067295" y="5912607"/>
            <a:ext cx="59296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Inverse: </a:t>
            </a:r>
            <a:r>
              <a:rPr lang="en-US" dirty="0"/>
              <a:t>if it did not rain then the ground is not wet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DC0EA-B141-606E-4B06-96383520FCFD}"/>
              </a:ext>
            </a:extLst>
          </p:cNvPr>
          <p:cNvSpPr txBox="1"/>
          <p:nvPr/>
        </p:nvSpPr>
        <p:spPr>
          <a:xfrm>
            <a:off x="5067295" y="6409218"/>
            <a:ext cx="59296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Contrapositive:</a:t>
            </a:r>
            <a:r>
              <a:rPr lang="en-US" dirty="0"/>
              <a:t> if the ground is not wet, then it did not rain</a:t>
            </a:r>
          </a:p>
        </p:txBody>
      </p:sp>
    </p:spTree>
    <p:extLst>
      <p:ext uri="{BB962C8B-B14F-4D97-AF65-F5344CB8AC3E}">
        <p14:creationId xmlns:p14="http://schemas.microsoft.com/office/powerpoint/2010/main" val="11531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00AF2E-27CE-3427-2E5A-5B53629E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977" y="-225831"/>
            <a:ext cx="4419023" cy="3654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14C31-B976-E81E-2A89-E5DF14E5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96BE4A-F6F7-46C2-DB05-965F66085A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783026"/>
              </p:ext>
            </p:extLst>
          </p:nvPr>
        </p:nvGraphicFramePr>
        <p:xfrm>
          <a:off x="0" y="3295196"/>
          <a:ext cx="11000660" cy="3559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982">
                  <a:extLst>
                    <a:ext uri="{9D8B030D-6E8A-4147-A177-3AD203B41FA5}">
                      <a16:colId xmlns:a16="http://schemas.microsoft.com/office/drawing/2014/main" val="4201138459"/>
                    </a:ext>
                  </a:extLst>
                </a:gridCol>
                <a:gridCol w="1091173">
                  <a:extLst>
                    <a:ext uri="{9D8B030D-6E8A-4147-A177-3AD203B41FA5}">
                      <a16:colId xmlns:a16="http://schemas.microsoft.com/office/drawing/2014/main" val="467253805"/>
                    </a:ext>
                  </a:extLst>
                </a:gridCol>
                <a:gridCol w="1962468">
                  <a:extLst>
                    <a:ext uri="{9D8B030D-6E8A-4147-A177-3AD203B41FA5}">
                      <a16:colId xmlns:a16="http://schemas.microsoft.com/office/drawing/2014/main" val="121409939"/>
                    </a:ext>
                  </a:extLst>
                </a:gridCol>
                <a:gridCol w="2363847">
                  <a:extLst>
                    <a:ext uri="{9D8B030D-6E8A-4147-A177-3AD203B41FA5}">
                      <a16:colId xmlns:a16="http://schemas.microsoft.com/office/drawing/2014/main" val="3780080698"/>
                    </a:ext>
                  </a:extLst>
                </a:gridCol>
                <a:gridCol w="1870016">
                  <a:extLst>
                    <a:ext uri="{9D8B030D-6E8A-4147-A177-3AD203B41FA5}">
                      <a16:colId xmlns:a16="http://schemas.microsoft.com/office/drawing/2014/main" val="3078643469"/>
                    </a:ext>
                  </a:extLst>
                </a:gridCol>
                <a:gridCol w="2543174">
                  <a:extLst>
                    <a:ext uri="{9D8B030D-6E8A-4147-A177-3AD203B41FA5}">
                      <a16:colId xmlns:a16="http://schemas.microsoft.com/office/drawing/2014/main" val="2339655729"/>
                    </a:ext>
                  </a:extLst>
                </a:gridCol>
              </a:tblGrid>
              <a:tr h="634274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Conditional: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Converse: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Q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Inverse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¬P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</a:t>
                      </a:r>
                      <a:r>
                        <a:rPr lang="en-US" sz="2400" dirty="0"/>
                        <a:t>¬Q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Contrapositive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¬Q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</a:t>
                      </a:r>
                      <a:r>
                        <a:rPr lang="en-US" sz="2400" dirty="0"/>
                        <a:t>¬P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67827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US" sz="2400" dirty="0">
                          <a:sym typeface="Wingdings" pitchFamily="2" charset="2"/>
                        </a:rPr>
                      </a:b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59563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2787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93753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005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E8F9DB2-D9B3-0F5E-C108-919EDD62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913" y="3316287"/>
            <a:ext cx="2292886" cy="3524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E2FF4-92A2-5FC7-3D5B-F1890567C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647" y="3295196"/>
            <a:ext cx="1860553" cy="3524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FC6000-E5ED-F982-2235-0964187D0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316287"/>
            <a:ext cx="2292886" cy="35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4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E751-13BA-C4B1-0110-3EC3EACE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Anything logically equivalent?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49E06-8489-B2BE-FCE1-0773CEE80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D5ADBFE-66F2-5F5E-A0B6-A7AA248F9D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771201"/>
              </p:ext>
            </p:extLst>
          </p:nvPr>
        </p:nvGraphicFramePr>
        <p:xfrm>
          <a:off x="595670" y="2617334"/>
          <a:ext cx="11000660" cy="3559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982">
                  <a:extLst>
                    <a:ext uri="{9D8B030D-6E8A-4147-A177-3AD203B41FA5}">
                      <a16:colId xmlns:a16="http://schemas.microsoft.com/office/drawing/2014/main" val="4201138459"/>
                    </a:ext>
                  </a:extLst>
                </a:gridCol>
                <a:gridCol w="1091173">
                  <a:extLst>
                    <a:ext uri="{9D8B030D-6E8A-4147-A177-3AD203B41FA5}">
                      <a16:colId xmlns:a16="http://schemas.microsoft.com/office/drawing/2014/main" val="467253805"/>
                    </a:ext>
                  </a:extLst>
                </a:gridCol>
                <a:gridCol w="1962468">
                  <a:extLst>
                    <a:ext uri="{9D8B030D-6E8A-4147-A177-3AD203B41FA5}">
                      <a16:colId xmlns:a16="http://schemas.microsoft.com/office/drawing/2014/main" val="121409939"/>
                    </a:ext>
                  </a:extLst>
                </a:gridCol>
                <a:gridCol w="2363847">
                  <a:extLst>
                    <a:ext uri="{9D8B030D-6E8A-4147-A177-3AD203B41FA5}">
                      <a16:colId xmlns:a16="http://schemas.microsoft.com/office/drawing/2014/main" val="3780080698"/>
                    </a:ext>
                  </a:extLst>
                </a:gridCol>
                <a:gridCol w="1870016">
                  <a:extLst>
                    <a:ext uri="{9D8B030D-6E8A-4147-A177-3AD203B41FA5}">
                      <a16:colId xmlns:a16="http://schemas.microsoft.com/office/drawing/2014/main" val="3078643469"/>
                    </a:ext>
                  </a:extLst>
                </a:gridCol>
                <a:gridCol w="2543174">
                  <a:extLst>
                    <a:ext uri="{9D8B030D-6E8A-4147-A177-3AD203B41FA5}">
                      <a16:colId xmlns:a16="http://schemas.microsoft.com/office/drawing/2014/main" val="2339655729"/>
                    </a:ext>
                  </a:extLst>
                </a:gridCol>
              </a:tblGrid>
              <a:tr h="634274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Conditional: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Converse: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Q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Inverse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¬P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</a:t>
                      </a:r>
                      <a:r>
                        <a:rPr lang="en-US" sz="2400" dirty="0"/>
                        <a:t>¬Q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Contrapositive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¬Q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</a:t>
                      </a:r>
                      <a:r>
                        <a:rPr lang="en-US" sz="2400" dirty="0"/>
                        <a:t>¬P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67827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(T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(F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F)</a:t>
                      </a:r>
                      <a:br>
                        <a:rPr lang="en-US" sz="2400" dirty="0">
                          <a:sym typeface="Wingdings" pitchFamily="2" charset="2"/>
                        </a:rPr>
                      </a:b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 (F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F)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59563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(F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 (F </a:t>
                      </a:r>
                      <a:r>
                        <a:rPr lang="en-US" sz="2400">
                          <a:sym typeface="Wingdings" pitchFamily="2" charset="2"/>
                        </a:rPr>
                        <a:t> 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 (T </a:t>
                      </a:r>
                      <a:r>
                        <a:rPr lang="en-US" sz="2400" b="1" dirty="0">
                          <a:sym typeface="Wingdings" pitchFamily="2" charset="2"/>
                        </a:rPr>
                        <a:t> F)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2787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 (T </a:t>
                      </a:r>
                      <a:r>
                        <a:rPr lang="en-US" sz="2400" b="1" dirty="0">
                          <a:sym typeface="Wingdings" pitchFamily="2" charset="2"/>
                        </a:rPr>
                        <a:t> F)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 (T </a:t>
                      </a:r>
                      <a:r>
                        <a:rPr lang="en-US" sz="2400" b="1" dirty="0">
                          <a:sym typeface="Wingdings" pitchFamily="2" charset="2"/>
                        </a:rPr>
                        <a:t> F)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T (F </a:t>
                      </a:r>
                      <a:r>
                        <a:rPr lang="en-US" sz="2400" b="0" dirty="0">
                          <a:sym typeface="Wingdings" pitchFamily="2" charset="2"/>
                        </a:rPr>
                        <a:t> T)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937536"/>
                  </a:ext>
                </a:extLst>
              </a:tr>
              <a:tr h="637903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(F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F)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(T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 (T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T)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005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F141C1-840C-B9BE-8B31-879F4874297F}"/>
              </a:ext>
            </a:extLst>
          </p:cNvPr>
          <p:cNvSpPr/>
          <p:nvPr/>
        </p:nvSpPr>
        <p:spPr>
          <a:xfrm>
            <a:off x="4826643" y="2534856"/>
            <a:ext cx="4213185" cy="3761772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DB280-BD86-20AA-B680-503DF140D2F6}"/>
              </a:ext>
            </a:extLst>
          </p:cNvPr>
          <p:cNvSpPr/>
          <p:nvPr/>
        </p:nvSpPr>
        <p:spPr>
          <a:xfrm>
            <a:off x="2841316" y="2534856"/>
            <a:ext cx="1985327" cy="37617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E0AD66-E55D-549D-0951-AE6CC4D5D1B9}"/>
              </a:ext>
            </a:extLst>
          </p:cNvPr>
          <p:cNvSpPr/>
          <p:nvPr/>
        </p:nvSpPr>
        <p:spPr>
          <a:xfrm>
            <a:off x="9039828" y="2537766"/>
            <a:ext cx="2556502" cy="37617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3103-4EE1-1C15-067B-999FDAEF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Biconditionals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8EB8F-2FE3-854E-32A5-0EFE85575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double sided arrow is hard to make in </a:t>
            </a:r>
            <a:r>
              <a:rPr lang="en-US" dirty="0" err="1"/>
              <a:t>powerpoint</a:t>
            </a:r>
            <a:r>
              <a:rPr lang="en-US" dirty="0"/>
              <a:t> so my symbols will be inconsistent here – sorry!</a:t>
            </a:r>
          </a:p>
        </p:txBody>
      </p:sp>
    </p:spTree>
    <p:extLst>
      <p:ext uri="{BB962C8B-B14F-4D97-AF65-F5344CB8AC3E}">
        <p14:creationId xmlns:p14="http://schemas.microsoft.com/office/powerpoint/2010/main" val="2470410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1396-B133-23D4-B1E2-4C51A63D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Biconditionals</a:t>
            </a:r>
            <a:br>
              <a:rPr lang="en-US" dirty="0"/>
            </a:br>
            <a:r>
              <a:rPr lang="en-US" dirty="0"/>
              <a:t>P          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D58C-A2E3-2B08-5992-23F439E9B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</p:spPr>
        <p:txBody>
          <a:bodyPr/>
          <a:lstStyle/>
          <a:p>
            <a:r>
              <a:rPr lang="en-US" dirty="0"/>
              <a:t>P = “X is an even number”</a:t>
            </a:r>
          </a:p>
          <a:p>
            <a:r>
              <a:rPr lang="en-US" dirty="0"/>
              <a:t>Q = “X is divisible by 2”</a:t>
            </a:r>
          </a:p>
          <a:p>
            <a:endParaRPr lang="en-US" dirty="0"/>
          </a:p>
          <a:p>
            <a:r>
              <a:rPr lang="en-US" dirty="0"/>
              <a:t>P         Q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7226EC-3804-0CB7-4655-3BB0C0A5DEBF}"/>
              </a:ext>
            </a:extLst>
          </p:cNvPr>
          <p:cNvCxnSpPr>
            <a:cxnSpLocks/>
          </p:cNvCxnSpPr>
          <p:nvPr/>
        </p:nvCxnSpPr>
        <p:spPr>
          <a:xfrm>
            <a:off x="1407886" y="1277257"/>
            <a:ext cx="76925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712DC9-432A-A436-8671-03BCA01C75CB}"/>
              </a:ext>
            </a:extLst>
          </p:cNvPr>
          <p:cNvCxnSpPr>
            <a:cxnSpLocks/>
          </p:cNvCxnSpPr>
          <p:nvPr/>
        </p:nvCxnSpPr>
        <p:spPr>
          <a:xfrm>
            <a:off x="1407886" y="3577772"/>
            <a:ext cx="56605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0F2B-212E-CF3B-CF5F-B433B14A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4" y="3768719"/>
            <a:ext cx="4731686" cy="30892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9B732F-3E00-952E-C62A-2F2F981FF685}"/>
              </a:ext>
            </a:extLst>
          </p:cNvPr>
          <p:cNvSpPr txBox="1"/>
          <p:nvPr/>
        </p:nvSpPr>
        <p:spPr>
          <a:xfrm>
            <a:off x="4305094" y="4586515"/>
            <a:ext cx="4243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is even and Q is divisible by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1A2B2-F1CA-6BAB-195D-7FA2B3D3A744}"/>
              </a:ext>
            </a:extLst>
          </p:cNvPr>
          <p:cNvSpPr txBox="1"/>
          <p:nvPr/>
        </p:nvSpPr>
        <p:spPr>
          <a:xfrm>
            <a:off x="4305094" y="5082527"/>
            <a:ext cx="468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is even but Q is not divisible by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348773-C4A0-E468-22D5-124B00E605F4}"/>
              </a:ext>
            </a:extLst>
          </p:cNvPr>
          <p:cNvSpPr txBox="1"/>
          <p:nvPr/>
        </p:nvSpPr>
        <p:spPr>
          <a:xfrm>
            <a:off x="4313465" y="5544192"/>
            <a:ext cx="4129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is odd and Q is divisible by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86524-1E60-C49E-529A-58AE207ED5A8}"/>
              </a:ext>
            </a:extLst>
          </p:cNvPr>
          <p:cNvSpPr txBox="1"/>
          <p:nvPr/>
        </p:nvSpPr>
        <p:spPr>
          <a:xfrm>
            <a:off x="4313465" y="6055816"/>
            <a:ext cx="463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is odd and Q is not divisible by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A500-A104-755B-59E6-E67B3B109540}"/>
              </a:ext>
            </a:extLst>
          </p:cNvPr>
          <p:cNvSpPr txBox="1"/>
          <p:nvPr/>
        </p:nvSpPr>
        <p:spPr>
          <a:xfrm>
            <a:off x="4876800" y="450204"/>
            <a:ext cx="3262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is true, if and only if Q</a:t>
            </a:r>
          </a:p>
        </p:txBody>
      </p:sp>
    </p:spTree>
    <p:extLst>
      <p:ext uri="{BB962C8B-B14F-4D97-AF65-F5344CB8AC3E}">
        <p14:creationId xmlns:p14="http://schemas.microsoft.com/office/powerpoint/2010/main" val="187672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F316-F3FA-AB8C-4B1C-04561359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and Biconditional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B9A44-11E2-728A-D275-F4447AE0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truth table for the following statements </a:t>
            </a:r>
          </a:p>
          <a:p>
            <a:pPr lvl="1"/>
            <a:r>
              <a:rPr lang="en-US" dirty="0"/>
              <a:t>¬ ( P </a:t>
            </a:r>
            <a:r>
              <a:rPr lang="en-US" dirty="0">
                <a:sym typeface="Wingdings" pitchFamily="2" charset="2"/>
              </a:rPr>
              <a:t> Q)</a:t>
            </a:r>
          </a:p>
          <a:p>
            <a:pPr lvl="1"/>
            <a:r>
              <a:rPr lang="en-US" dirty="0"/>
              <a:t>(P V Q)            R</a:t>
            </a:r>
          </a:p>
          <a:p>
            <a:pPr lvl="1"/>
            <a:r>
              <a:rPr lang="en-US" dirty="0"/>
              <a:t> (Q ∧ ¬ P) </a:t>
            </a:r>
            <a:r>
              <a:rPr lang="en-US" dirty="0">
                <a:sym typeface="Wingdings" pitchFamily="2" charset="2"/>
              </a:rPr>
              <a:t> R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/>
              <a:t>Translate the following sentences into symbolic logic:</a:t>
            </a:r>
          </a:p>
          <a:p>
            <a:pPr lvl="1"/>
            <a:r>
              <a:rPr lang="en-US" i="1" dirty="0"/>
              <a:t>The garbage truck comes down my street if and only if it is Thursday morning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lvl="1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F00839-DEC3-0BD9-FC0E-3EC8576D0713}"/>
              </a:ext>
            </a:extLst>
          </p:cNvPr>
          <p:cNvCxnSpPr>
            <a:cxnSpLocks/>
          </p:cNvCxnSpPr>
          <p:nvPr/>
        </p:nvCxnSpPr>
        <p:spPr>
          <a:xfrm>
            <a:off x="2569029" y="2862944"/>
            <a:ext cx="56605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602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F4F2-6023-B971-AD45-550A7EAD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9" y="1381125"/>
            <a:ext cx="3910069" cy="1325563"/>
          </a:xfrm>
        </p:spPr>
        <p:txBody>
          <a:bodyPr/>
          <a:lstStyle/>
          <a:p>
            <a:pPr algn="ctr"/>
            <a:r>
              <a:rPr lang="en-US" dirty="0"/>
              <a:t>¬ ( P </a:t>
            </a:r>
            <a:r>
              <a:rPr lang="en-US" dirty="0">
                <a:sym typeface="Wingdings" pitchFamily="2" charset="2"/>
              </a:rPr>
              <a:t> Q)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EC5287-EF86-19D5-EAFD-C241F6D9B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89182"/>
              </p:ext>
            </p:extLst>
          </p:nvPr>
        </p:nvGraphicFramePr>
        <p:xfrm>
          <a:off x="4499429" y="2706688"/>
          <a:ext cx="391006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818">
                  <a:extLst>
                    <a:ext uri="{9D8B030D-6E8A-4147-A177-3AD203B41FA5}">
                      <a16:colId xmlns:a16="http://schemas.microsoft.com/office/drawing/2014/main" val="2148052445"/>
                    </a:ext>
                  </a:extLst>
                </a:gridCol>
                <a:gridCol w="607586">
                  <a:extLst>
                    <a:ext uri="{9D8B030D-6E8A-4147-A177-3AD203B41FA5}">
                      <a16:colId xmlns:a16="http://schemas.microsoft.com/office/drawing/2014/main" val="3161441581"/>
                    </a:ext>
                  </a:extLst>
                </a:gridCol>
                <a:gridCol w="1194948">
                  <a:extLst>
                    <a:ext uri="{9D8B030D-6E8A-4147-A177-3AD203B41FA5}">
                      <a16:colId xmlns:a16="http://schemas.microsoft.com/office/drawing/2014/main" val="2786926379"/>
                    </a:ext>
                  </a:extLst>
                </a:gridCol>
                <a:gridCol w="1741717">
                  <a:extLst>
                    <a:ext uri="{9D8B030D-6E8A-4147-A177-3AD203B41FA5}">
                      <a16:colId xmlns:a16="http://schemas.microsoft.com/office/drawing/2014/main" val="769604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Q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¬ ( P </a:t>
                      </a:r>
                      <a:r>
                        <a:rPr lang="en-US" sz="2400" dirty="0">
                          <a:sym typeface="Wingdings" pitchFamily="2" charset="2"/>
                        </a:rPr>
                        <a:t> Q)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3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03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74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996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06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570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72D510A-D439-4CF7-D912-C853F71E9C32}"/>
              </a:ext>
            </a:extLst>
          </p:cNvPr>
          <p:cNvGrpSpPr/>
          <p:nvPr/>
        </p:nvGrpSpPr>
        <p:grpSpPr>
          <a:xfrm>
            <a:off x="4702628" y="440927"/>
            <a:ext cx="2786743" cy="1325563"/>
            <a:chOff x="3984172" y="0"/>
            <a:chExt cx="2786743" cy="132556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8F45441-A152-83A6-F8CD-8CC7507D44E2}"/>
                </a:ext>
              </a:extLst>
            </p:cNvPr>
            <p:cNvSpPr txBox="1">
              <a:spLocks/>
            </p:cNvSpPr>
            <p:nvPr/>
          </p:nvSpPr>
          <p:spPr>
            <a:xfrm>
              <a:off x="3984172" y="0"/>
              <a:ext cx="2786743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/>
                <a:t>P V Q         R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D4D9421-F198-504F-DC48-F358BF47A603}"/>
                </a:ext>
              </a:extLst>
            </p:cNvPr>
            <p:cNvCxnSpPr>
              <a:cxnSpLocks/>
            </p:cNvCxnSpPr>
            <p:nvPr/>
          </p:nvCxnSpPr>
          <p:spPr>
            <a:xfrm>
              <a:off x="5529943" y="656772"/>
              <a:ext cx="56605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AC5162D-CC23-4E5C-E4BD-A7582B2273D2}"/>
              </a:ext>
            </a:extLst>
          </p:cNvPr>
          <p:cNvGrpSpPr/>
          <p:nvPr/>
        </p:nvGrpSpPr>
        <p:grpSpPr>
          <a:xfrm>
            <a:off x="3396343" y="1943894"/>
            <a:ext cx="5399314" cy="4114800"/>
            <a:chOff x="4702627" y="1603602"/>
            <a:chExt cx="5399314" cy="4114800"/>
          </a:xfrm>
        </p:grpSpPr>
        <p:graphicFrame>
          <p:nvGraphicFramePr>
            <p:cNvPr id="8" name="Content Placeholder 4">
              <a:extLst>
                <a:ext uri="{FF2B5EF4-FFF2-40B4-BE49-F238E27FC236}">
                  <a16:creationId xmlns:a16="http://schemas.microsoft.com/office/drawing/2014/main" id="{6D2AFD17-BC6C-2E51-69CD-7DACFD1AEB4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20922973"/>
                </p:ext>
              </p:extLst>
            </p:nvPr>
          </p:nvGraphicFramePr>
          <p:xfrm>
            <a:off x="4702627" y="1603602"/>
            <a:ext cx="5399314" cy="41148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0942">
                    <a:extLst>
                      <a:ext uri="{9D8B030D-6E8A-4147-A177-3AD203B41FA5}">
                        <a16:colId xmlns:a16="http://schemas.microsoft.com/office/drawing/2014/main" val="2148052445"/>
                      </a:ext>
                    </a:extLst>
                  </a:gridCol>
                  <a:gridCol w="616097">
                    <a:extLst>
                      <a:ext uri="{9D8B030D-6E8A-4147-A177-3AD203B41FA5}">
                        <a16:colId xmlns:a16="http://schemas.microsoft.com/office/drawing/2014/main" val="3161441581"/>
                      </a:ext>
                    </a:extLst>
                  </a:gridCol>
                  <a:gridCol w="616097">
                    <a:extLst>
                      <a:ext uri="{9D8B030D-6E8A-4147-A177-3AD203B41FA5}">
                        <a16:colId xmlns:a16="http://schemas.microsoft.com/office/drawing/2014/main" val="848698371"/>
                      </a:ext>
                    </a:extLst>
                  </a:gridCol>
                  <a:gridCol w="1211685">
                    <a:extLst>
                      <a:ext uri="{9D8B030D-6E8A-4147-A177-3AD203B41FA5}">
                        <a16:colId xmlns:a16="http://schemas.microsoft.com/office/drawing/2014/main" val="2786926379"/>
                      </a:ext>
                    </a:extLst>
                  </a:gridCol>
                  <a:gridCol w="2584493">
                    <a:extLst>
                      <a:ext uri="{9D8B030D-6E8A-4147-A177-3AD203B41FA5}">
                        <a16:colId xmlns:a16="http://schemas.microsoft.com/office/drawing/2014/main" val="769604203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P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Q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R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P V Q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P V Q            R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4713674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b="1" dirty="0"/>
                          <a:t>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14203121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96870257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b="1" dirty="0"/>
                          <a:t>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465464912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960447122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b="1" dirty="0"/>
                          <a:t>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4141610083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832743231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065996233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dirty="0"/>
                          <a:t>F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2400" b="1" dirty="0"/>
                          <a:t>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715065767"/>
                    </a:ext>
                  </a:extLst>
                </a:tr>
              </a:tbl>
            </a:graphicData>
          </a:graphic>
        </p:graphicFrame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705F184-6496-42E0-0C3F-D7170A8D090E}"/>
                </a:ext>
              </a:extLst>
            </p:cNvPr>
            <p:cNvCxnSpPr>
              <a:cxnSpLocks/>
            </p:cNvCxnSpPr>
            <p:nvPr/>
          </p:nvCxnSpPr>
          <p:spPr>
            <a:xfrm>
              <a:off x="8723085" y="1839686"/>
              <a:ext cx="566057" cy="0"/>
            </a:xfrm>
            <a:prstGeom prst="straightConnector1">
              <a:avLst/>
            </a:prstGeom>
            <a:ln w="57150">
              <a:solidFill>
                <a:schemeClr val="bg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0708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DBAF-8217-7A3A-074A-D4AAEB49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 ∧ ¬P 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R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571E931-B92F-D94C-A6AD-6F5E4DCFDE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514658"/>
              </p:ext>
            </p:extLst>
          </p:nvPr>
        </p:nvGraphicFramePr>
        <p:xfrm>
          <a:off x="6023427" y="2012315"/>
          <a:ext cx="61685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934">
                  <a:extLst>
                    <a:ext uri="{9D8B030D-6E8A-4147-A177-3AD203B41FA5}">
                      <a16:colId xmlns:a16="http://schemas.microsoft.com/office/drawing/2014/main" val="2148052445"/>
                    </a:ext>
                  </a:extLst>
                </a:gridCol>
                <a:gridCol w="881826">
                  <a:extLst>
                    <a:ext uri="{9D8B030D-6E8A-4147-A177-3AD203B41FA5}">
                      <a16:colId xmlns:a16="http://schemas.microsoft.com/office/drawing/2014/main" val="3161441581"/>
                    </a:ext>
                  </a:extLst>
                </a:gridCol>
                <a:gridCol w="881826">
                  <a:extLst>
                    <a:ext uri="{9D8B030D-6E8A-4147-A177-3AD203B41FA5}">
                      <a16:colId xmlns:a16="http://schemas.microsoft.com/office/drawing/2014/main" val="3227694413"/>
                    </a:ext>
                  </a:extLst>
                </a:gridCol>
                <a:gridCol w="1346133">
                  <a:extLst>
                    <a:ext uri="{9D8B030D-6E8A-4147-A177-3AD203B41FA5}">
                      <a16:colId xmlns:a16="http://schemas.microsoft.com/office/drawing/2014/main" val="2786926379"/>
                    </a:ext>
                  </a:extLst>
                </a:gridCol>
                <a:gridCol w="2527853">
                  <a:extLst>
                    <a:ext uri="{9D8B030D-6E8A-4147-A177-3AD203B41FA5}">
                      <a16:colId xmlns:a16="http://schemas.microsoft.com/office/drawing/2014/main" val="769604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 ∧ ¬P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 ∧ ¬P  </a:t>
                      </a:r>
                      <a:r>
                        <a:rPr lang="en-US" sz="2400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dirty="0"/>
                        <a:t>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3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03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89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60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6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124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Contract broken!</a:t>
                      </a:r>
                      <a:endParaRPr lang="en-US" sz="2400" dirty="0">
                        <a:sym typeface="Wingdings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74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996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06576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D1066B4-DD52-C79C-ABEF-FECC07D4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686629"/>
            <a:ext cx="3834476" cy="317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15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AE18-3133-EA49-7ADA-4DEF6892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13" y="18255"/>
            <a:ext cx="11916257" cy="1325563"/>
          </a:xfrm>
        </p:spPr>
        <p:txBody>
          <a:bodyPr>
            <a:normAutofit/>
          </a:bodyPr>
          <a:lstStyle/>
          <a:p>
            <a:r>
              <a:rPr lang="en-US" i="1" dirty="0"/>
              <a:t>The garbage truck comes down my street if and only if it is Thursday morning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F73F-D652-E43B-01DA-96C93118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13" y="1552347"/>
            <a:ext cx="11916257" cy="4351338"/>
          </a:xfrm>
        </p:spPr>
        <p:txBody>
          <a:bodyPr/>
          <a:lstStyle/>
          <a:p>
            <a:r>
              <a:rPr lang="en-US" dirty="0"/>
              <a:t>“If and only if” is a good signal we’re in for a biconditional</a:t>
            </a:r>
          </a:p>
          <a:p>
            <a:endParaRPr lang="en-US" dirty="0"/>
          </a:p>
          <a:p>
            <a:r>
              <a:rPr lang="en-US" dirty="0"/>
              <a:t>It needs to be Thursday morning for the garbage truck to come</a:t>
            </a:r>
          </a:p>
          <a:p>
            <a:endParaRPr lang="en-US" dirty="0"/>
          </a:p>
          <a:p>
            <a:r>
              <a:rPr lang="en-US" dirty="0"/>
              <a:t>D = It is Thursday Morning</a:t>
            </a:r>
          </a:p>
          <a:p>
            <a:r>
              <a:rPr lang="en-US" dirty="0"/>
              <a:t>G = The Garbage Truck is coming down my street</a:t>
            </a:r>
          </a:p>
          <a:p>
            <a:r>
              <a:rPr lang="en-US" dirty="0"/>
              <a:t>D </a:t>
            </a:r>
            <a:r>
              <a:rPr lang="en-US" dirty="0">
                <a:sym typeface="Wingdings" pitchFamily="2" charset="2"/>
              </a:rPr>
              <a:t>&lt; -- </a:t>
            </a:r>
            <a:r>
              <a:rPr lang="en-US" dirty="0"/>
              <a:t>&gt; 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D3999-EC6C-3A8A-80FD-7032A9EE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656" y="2936477"/>
            <a:ext cx="2923344" cy="190862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1BC25-2B88-3F0C-66F2-6277D873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06093"/>
              </p:ext>
            </p:extLst>
          </p:nvPr>
        </p:nvGraphicFramePr>
        <p:xfrm>
          <a:off x="3918887" y="494937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32293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37977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68548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 </a:t>
                      </a:r>
                      <a:r>
                        <a:rPr lang="en-US" dirty="0">
                          <a:sym typeface="Wingdings" pitchFamily="2" charset="2"/>
                        </a:rPr>
                        <a:t>&lt;--&gt;</a:t>
                      </a:r>
                      <a:r>
                        <a:rPr lang="en-US" dirty="0"/>
                        <a:t> 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2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3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1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581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403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20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E881A4-A468-403A-9941-F8FFD5C68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61BDC-C42D-68D8-B9D3-A2115765F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36" y="871444"/>
            <a:ext cx="2237862" cy="51151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168544-607B-491A-8601-3087D0FCE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8703" y="1"/>
            <a:ext cx="742329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7BA66-DA8C-CEDB-19C8-96426207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287" y="871442"/>
            <a:ext cx="5667269" cy="1289024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solidFill>
                  <a:srgbClr val="595959"/>
                </a:solidFill>
              </a:rPr>
              <a:t>Order of Operations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6DBE-7B27-E958-1AFE-17765A51A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287" y="2447336"/>
            <a:ext cx="5667269" cy="4242221"/>
          </a:xfrm>
        </p:spPr>
        <p:txBody>
          <a:bodyPr anchor="t">
            <a:normAutofit/>
          </a:bodyPr>
          <a:lstStyle/>
          <a:p>
            <a:r>
              <a:rPr lang="en-US" dirty="0"/>
              <a:t>Which of the following is logically equivalent to ¬P V Q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R </a:t>
            </a:r>
          </a:p>
          <a:p>
            <a:pPr lvl="1"/>
            <a:r>
              <a:rPr lang="en-US" sz="2000" dirty="0">
                <a:sym typeface="Wingdings" pitchFamily="2" charset="2"/>
              </a:rPr>
              <a:t>((</a:t>
            </a:r>
            <a:r>
              <a:rPr lang="en-US" sz="2000" dirty="0"/>
              <a:t>¬P) V Q) </a:t>
            </a:r>
            <a:r>
              <a:rPr lang="en-US" sz="2000" dirty="0">
                <a:sym typeface="Wingdings" pitchFamily="2" charset="2"/>
              </a:rPr>
              <a:t> R</a:t>
            </a:r>
          </a:p>
          <a:p>
            <a:pPr lvl="1"/>
            <a:r>
              <a:rPr lang="en-US" sz="2000" dirty="0"/>
              <a:t>¬(P V Q) </a:t>
            </a:r>
            <a:r>
              <a:rPr lang="en-US" sz="2000" dirty="0">
                <a:sym typeface="Wingdings" pitchFamily="2" charset="2"/>
              </a:rPr>
              <a:t> R</a:t>
            </a:r>
          </a:p>
          <a:p>
            <a:pPr lvl="1"/>
            <a:br>
              <a:rPr lang="en-US" sz="2000" dirty="0">
                <a:sym typeface="Wingdings" pitchFamily="2" charset="2"/>
              </a:rPr>
            </a:br>
            <a:endParaRPr lang="en-US" sz="2000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Is P V (Q </a:t>
            </a:r>
            <a:r>
              <a:rPr lang="en-US" dirty="0"/>
              <a:t>∧ ¬R) ≡ (</a:t>
            </a:r>
            <a:r>
              <a:rPr lang="en-US" dirty="0">
                <a:sym typeface="Wingdings" pitchFamily="2" charset="2"/>
              </a:rPr>
              <a:t>P V Q) </a:t>
            </a:r>
            <a:r>
              <a:rPr lang="en-US" dirty="0"/>
              <a:t>∧ ¬R) ?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altLang="en-US" sz="2000" dirty="0">
                <a:sym typeface="Symbol" pitchFamily="2" charset="2"/>
              </a:rPr>
            </a:b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51A62-2C5A-3977-A296-FB5DFEB9B951}"/>
              </a:ext>
            </a:extLst>
          </p:cNvPr>
          <p:cNvSpPr txBox="1"/>
          <p:nvPr/>
        </p:nvSpPr>
        <p:spPr>
          <a:xfrm>
            <a:off x="3190778" y="1331288"/>
            <a:ext cx="618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C0097-9E6C-6821-B95F-36830698554E}"/>
              </a:ext>
            </a:extLst>
          </p:cNvPr>
          <p:cNvSpPr txBox="1"/>
          <p:nvPr/>
        </p:nvSpPr>
        <p:spPr>
          <a:xfrm>
            <a:off x="3190337" y="5342046"/>
            <a:ext cx="61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</a:t>
            </a:r>
          </a:p>
        </p:txBody>
      </p:sp>
    </p:spTree>
    <p:extLst>
      <p:ext uri="{BB962C8B-B14F-4D97-AF65-F5344CB8AC3E}">
        <p14:creationId xmlns:p14="http://schemas.microsoft.com/office/powerpoint/2010/main" val="32946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F223-E67A-CA4E-B7EF-758E31F4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FD656F-99DD-78AD-AD85-E99CEC146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506404"/>
              </p:ext>
            </p:extLst>
          </p:nvPr>
        </p:nvGraphicFramePr>
        <p:xfrm>
          <a:off x="2875549" y="0"/>
          <a:ext cx="7105837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20">
                  <a:extLst>
                    <a:ext uri="{9D8B030D-6E8A-4147-A177-3AD203B41FA5}">
                      <a16:colId xmlns:a16="http://schemas.microsoft.com/office/drawing/2014/main" val="3425112945"/>
                    </a:ext>
                  </a:extLst>
                </a:gridCol>
                <a:gridCol w="637752">
                  <a:extLst>
                    <a:ext uri="{9D8B030D-6E8A-4147-A177-3AD203B41FA5}">
                      <a16:colId xmlns:a16="http://schemas.microsoft.com/office/drawing/2014/main" val="2803682481"/>
                    </a:ext>
                  </a:extLst>
                </a:gridCol>
                <a:gridCol w="637752">
                  <a:extLst>
                    <a:ext uri="{9D8B030D-6E8A-4147-A177-3AD203B41FA5}">
                      <a16:colId xmlns:a16="http://schemas.microsoft.com/office/drawing/2014/main" val="322552785"/>
                    </a:ext>
                  </a:extLst>
                </a:gridCol>
                <a:gridCol w="1627440">
                  <a:extLst>
                    <a:ext uri="{9D8B030D-6E8A-4147-A177-3AD203B41FA5}">
                      <a16:colId xmlns:a16="http://schemas.microsoft.com/office/drawing/2014/main" val="1192017555"/>
                    </a:ext>
                  </a:extLst>
                </a:gridCol>
                <a:gridCol w="1729131">
                  <a:extLst>
                    <a:ext uri="{9D8B030D-6E8A-4147-A177-3AD203B41FA5}">
                      <a16:colId xmlns:a16="http://schemas.microsoft.com/office/drawing/2014/main" val="3401191025"/>
                    </a:ext>
                  </a:extLst>
                </a:gridCol>
                <a:gridCol w="1884442">
                  <a:extLst>
                    <a:ext uri="{9D8B030D-6E8A-4147-A177-3AD203B41FA5}">
                      <a16:colId xmlns:a16="http://schemas.microsoft.com/office/drawing/2014/main" val="360771162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¬P V Q </a:t>
                      </a:r>
                      <a:r>
                        <a:rPr lang="en-US" dirty="0">
                          <a:sym typeface="Wingdings" pitchFamily="2" charset="2"/>
                        </a:rPr>
                        <a:t></a:t>
                      </a:r>
                      <a:r>
                        <a:rPr lang="en-US" dirty="0"/>
                        <a:t> R </a:t>
                      </a:r>
                      <a:br>
                        <a:rPr lang="en-US" dirty="0"/>
                      </a:br>
                      <a:r>
                        <a:rPr lang="en-US" dirty="0"/>
                        <a:t>(original)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itchFamily="2" charset="2"/>
                        </a:rPr>
                        <a:t>((</a:t>
                      </a:r>
                      <a:r>
                        <a:rPr lang="en-US" sz="1800" dirty="0"/>
                        <a:t>¬P) V Q) </a:t>
                      </a:r>
                      <a:r>
                        <a:rPr lang="en-US" sz="1800" dirty="0">
                          <a:sym typeface="Wingdings" pitchFamily="2" charset="2"/>
                        </a:rPr>
                        <a:t>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¬(P V Q) </a:t>
                      </a:r>
                      <a:r>
                        <a:rPr lang="en-US" sz="1800" dirty="0">
                          <a:sym typeface="Wingdings" pitchFamily="2" charset="2"/>
                        </a:rPr>
                        <a:t> R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41654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16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225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1609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6288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752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358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5604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D0EDBB-FEA8-BF73-F86E-3C9068FACD0A}"/>
              </a:ext>
            </a:extLst>
          </p:cNvPr>
          <p:cNvSpPr txBox="1"/>
          <p:nvPr/>
        </p:nvSpPr>
        <p:spPr>
          <a:xfrm>
            <a:off x="4844717" y="768908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V T --&gt; T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5B48D-3FFB-7C76-0844-5DEAF41C5339}"/>
              </a:ext>
            </a:extLst>
          </p:cNvPr>
          <p:cNvSpPr txBox="1"/>
          <p:nvPr/>
        </p:nvSpPr>
        <p:spPr>
          <a:xfrm>
            <a:off x="4844717" y="1505247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V T --&gt; F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A3144-2284-04B6-7333-59DCA3DC03CD}"/>
              </a:ext>
            </a:extLst>
          </p:cNvPr>
          <p:cNvSpPr txBox="1"/>
          <p:nvPr/>
        </p:nvSpPr>
        <p:spPr>
          <a:xfrm>
            <a:off x="4844717" y="2289712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V F --&gt; T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528BF-B6BB-3445-DD2D-860D89CFC611}"/>
              </a:ext>
            </a:extLst>
          </p:cNvPr>
          <p:cNvSpPr txBox="1"/>
          <p:nvPr/>
        </p:nvSpPr>
        <p:spPr>
          <a:xfrm>
            <a:off x="4844716" y="3010236"/>
            <a:ext cx="1151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V F --&gt; F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14D7B1-6897-4A94-8A39-6F213696E15A}"/>
              </a:ext>
            </a:extLst>
          </p:cNvPr>
          <p:cNvSpPr txBox="1"/>
          <p:nvPr/>
        </p:nvSpPr>
        <p:spPr>
          <a:xfrm>
            <a:off x="4844715" y="3855079"/>
            <a:ext cx="1117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V T --&gt; T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CB8C-A3CF-03D3-A4C9-C125DB2690E7}"/>
              </a:ext>
            </a:extLst>
          </p:cNvPr>
          <p:cNvSpPr txBox="1"/>
          <p:nvPr/>
        </p:nvSpPr>
        <p:spPr>
          <a:xfrm>
            <a:off x="4844715" y="4573856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V T --&gt; F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E6F88-362C-6115-5CFC-A42217866CB7}"/>
              </a:ext>
            </a:extLst>
          </p:cNvPr>
          <p:cNvSpPr txBox="1"/>
          <p:nvPr/>
        </p:nvSpPr>
        <p:spPr>
          <a:xfrm>
            <a:off x="4844715" y="5360068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V F --&gt; T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5EE86D-AF6F-B35C-C756-A84D60871ED5}"/>
              </a:ext>
            </a:extLst>
          </p:cNvPr>
          <p:cNvSpPr txBox="1"/>
          <p:nvPr/>
        </p:nvSpPr>
        <p:spPr>
          <a:xfrm>
            <a:off x="4844715" y="6089092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V F --&gt; F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9C773-0030-0A20-5F1E-6D591EC67C7D}"/>
              </a:ext>
            </a:extLst>
          </p:cNvPr>
          <p:cNvSpPr txBox="1"/>
          <p:nvPr/>
        </p:nvSpPr>
        <p:spPr>
          <a:xfrm>
            <a:off x="6502549" y="760922"/>
            <a:ext cx="1375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T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456C7-F8A6-47E5-38D3-F73F92B89430}"/>
              </a:ext>
            </a:extLst>
          </p:cNvPr>
          <p:cNvSpPr txBox="1"/>
          <p:nvPr/>
        </p:nvSpPr>
        <p:spPr>
          <a:xfrm>
            <a:off x="6502549" y="1497261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T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B93F4-F26C-7C73-00F9-AB6454DDE706}"/>
              </a:ext>
            </a:extLst>
          </p:cNvPr>
          <p:cNvSpPr txBox="1"/>
          <p:nvPr/>
        </p:nvSpPr>
        <p:spPr>
          <a:xfrm>
            <a:off x="6502549" y="2281726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F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30F9F-0D7A-3411-6430-C7D3B210159B}"/>
              </a:ext>
            </a:extLst>
          </p:cNvPr>
          <p:cNvSpPr txBox="1"/>
          <p:nvPr/>
        </p:nvSpPr>
        <p:spPr>
          <a:xfrm>
            <a:off x="6502548" y="3002250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F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B4388-1279-5DA0-93AA-F8F1E997E9F6}"/>
              </a:ext>
            </a:extLst>
          </p:cNvPr>
          <p:cNvSpPr txBox="1"/>
          <p:nvPr/>
        </p:nvSpPr>
        <p:spPr>
          <a:xfrm>
            <a:off x="6502547" y="3847093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T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6C2D2C-A681-CA86-7B50-3D810ACD4A3D}"/>
              </a:ext>
            </a:extLst>
          </p:cNvPr>
          <p:cNvSpPr txBox="1"/>
          <p:nvPr/>
        </p:nvSpPr>
        <p:spPr>
          <a:xfrm>
            <a:off x="6502547" y="4565870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T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628545-0DD9-AFFA-7861-D0C86D5493F9}"/>
              </a:ext>
            </a:extLst>
          </p:cNvPr>
          <p:cNvSpPr txBox="1"/>
          <p:nvPr/>
        </p:nvSpPr>
        <p:spPr>
          <a:xfrm>
            <a:off x="6502547" y="5352082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F --&gt; T)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590D3-4B5A-662B-525B-D78A46652429}"/>
              </a:ext>
            </a:extLst>
          </p:cNvPr>
          <p:cNvSpPr txBox="1"/>
          <p:nvPr/>
        </p:nvSpPr>
        <p:spPr>
          <a:xfrm>
            <a:off x="6502547" y="6081106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F --&gt;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EA1519-C16F-0ADD-AD52-CD24F03DBB0C}"/>
              </a:ext>
            </a:extLst>
          </p:cNvPr>
          <p:cNvSpPr txBox="1"/>
          <p:nvPr/>
        </p:nvSpPr>
        <p:spPr>
          <a:xfrm>
            <a:off x="8456229" y="735711"/>
            <a:ext cx="1375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T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D31E5F-4A78-A96D-D17F-8DA87284478A}"/>
              </a:ext>
            </a:extLst>
          </p:cNvPr>
          <p:cNvSpPr txBox="1"/>
          <p:nvPr/>
        </p:nvSpPr>
        <p:spPr>
          <a:xfrm>
            <a:off x="8456229" y="1472050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T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BBACFA-9EAD-1A5F-3FE2-254A9D916BB3}"/>
              </a:ext>
            </a:extLst>
          </p:cNvPr>
          <p:cNvSpPr txBox="1"/>
          <p:nvPr/>
        </p:nvSpPr>
        <p:spPr>
          <a:xfrm>
            <a:off x="8456229" y="2256515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F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013802-D53F-24EA-4942-2DABB9571101}"/>
              </a:ext>
            </a:extLst>
          </p:cNvPr>
          <p:cNvSpPr txBox="1"/>
          <p:nvPr/>
        </p:nvSpPr>
        <p:spPr>
          <a:xfrm>
            <a:off x="8456228" y="2977039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¬(T V F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B3B3A3-20EC-4569-4D6A-BE02F580CD39}"/>
              </a:ext>
            </a:extLst>
          </p:cNvPr>
          <p:cNvSpPr txBox="1"/>
          <p:nvPr/>
        </p:nvSpPr>
        <p:spPr>
          <a:xfrm>
            <a:off x="8456227" y="3821882"/>
            <a:ext cx="1386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T --&gt;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82D304-4131-922D-CA9F-6431833911C2}"/>
              </a:ext>
            </a:extLst>
          </p:cNvPr>
          <p:cNvSpPr txBox="1"/>
          <p:nvPr/>
        </p:nvSpPr>
        <p:spPr>
          <a:xfrm>
            <a:off x="8456227" y="4540659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T --&gt; F)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F8546-F5F1-CA90-6D9A-27880F403AC4}"/>
              </a:ext>
            </a:extLst>
          </p:cNvPr>
          <p:cNvSpPr txBox="1"/>
          <p:nvPr/>
        </p:nvSpPr>
        <p:spPr>
          <a:xfrm>
            <a:off x="8456227" y="5326871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F --&gt; T)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985ED5-851A-4051-D542-A4D081488148}"/>
              </a:ext>
            </a:extLst>
          </p:cNvPr>
          <p:cNvSpPr txBox="1"/>
          <p:nvPr/>
        </p:nvSpPr>
        <p:spPr>
          <a:xfrm>
            <a:off x="8456227" y="6055895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¬(F V F --&gt;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AE450-3E4E-79EB-0FE3-0BDB6B27DC48}"/>
              </a:ext>
            </a:extLst>
          </p:cNvPr>
          <p:cNvSpPr txBox="1"/>
          <p:nvPr/>
        </p:nvSpPr>
        <p:spPr>
          <a:xfrm>
            <a:off x="459983" y="2725250"/>
            <a:ext cx="1909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Most simply: </a:t>
            </a:r>
            <a:br>
              <a:rPr lang="en-US" dirty="0"/>
            </a:br>
            <a:r>
              <a:rPr lang="en-US" dirty="0"/>
              <a:t>negation happens before V or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7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968E-6019-4D7C-59C0-006928B5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5935971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Wingdings" pitchFamily="2" charset="2"/>
              </a:rPr>
              <a:t>P V Q </a:t>
            </a:r>
            <a:r>
              <a:rPr lang="en-US" dirty="0"/>
              <a:t>∧ ¬R ≡ (</a:t>
            </a:r>
            <a:r>
              <a:rPr lang="en-US" dirty="0">
                <a:sym typeface="Wingdings" pitchFamily="2" charset="2"/>
              </a:rPr>
              <a:t>P V Q) </a:t>
            </a:r>
            <a:r>
              <a:rPr lang="en-US" dirty="0"/>
              <a:t>∧ ¬R)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5A2CD-8622-6C53-FE2C-D435E0BB2D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141377"/>
              </p:ext>
            </p:extLst>
          </p:nvPr>
        </p:nvGraphicFramePr>
        <p:xfrm>
          <a:off x="6837948" y="0"/>
          <a:ext cx="5221395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20">
                  <a:extLst>
                    <a:ext uri="{9D8B030D-6E8A-4147-A177-3AD203B41FA5}">
                      <a16:colId xmlns:a16="http://schemas.microsoft.com/office/drawing/2014/main" val="3425112945"/>
                    </a:ext>
                  </a:extLst>
                </a:gridCol>
                <a:gridCol w="637752">
                  <a:extLst>
                    <a:ext uri="{9D8B030D-6E8A-4147-A177-3AD203B41FA5}">
                      <a16:colId xmlns:a16="http://schemas.microsoft.com/office/drawing/2014/main" val="2803682481"/>
                    </a:ext>
                  </a:extLst>
                </a:gridCol>
                <a:gridCol w="637752">
                  <a:extLst>
                    <a:ext uri="{9D8B030D-6E8A-4147-A177-3AD203B41FA5}">
                      <a16:colId xmlns:a16="http://schemas.microsoft.com/office/drawing/2014/main" val="322552785"/>
                    </a:ext>
                  </a:extLst>
                </a:gridCol>
                <a:gridCol w="1627440">
                  <a:extLst>
                    <a:ext uri="{9D8B030D-6E8A-4147-A177-3AD203B41FA5}">
                      <a16:colId xmlns:a16="http://schemas.microsoft.com/office/drawing/2014/main" val="1192017555"/>
                    </a:ext>
                  </a:extLst>
                </a:gridCol>
                <a:gridCol w="1729131">
                  <a:extLst>
                    <a:ext uri="{9D8B030D-6E8A-4147-A177-3AD203B41FA5}">
                      <a16:colId xmlns:a16="http://schemas.microsoft.com/office/drawing/2014/main" val="340119102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" pitchFamily="2" charset="2"/>
                        </a:rPr>
                        <a:t>P V Q </a:t>
                      </a:r>
                      <a:r>
                        <a:rPr lang="en-US" dirty="0"/>
                        <a:t>∧ ¬R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(</a:t>
                      </a:r>
                      <a:r>
                        <a:rPr lang="en-US" dirty="0">
                          <a:sym typeface="Wingdings" pitchFamily="2" charset="2"/>
                        </a:rPr>
                        <a:t>P V Q) </a:t>
                      </a:r>
                      <a:r>
                        <a:rPr lang="en-US" dirty="0"/>
                        <a:t>∧ ¬R) </a:t>
                      </a:r>
                      <a:endParaRPr lang="en-US" sz="1800" dirty="0">
                        <a:sym typeface="Wingdings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41654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16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225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1609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6288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752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358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5604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E7160C-F220-FB3D-8266-B2E4392FC39D}"/>
              </a:ext>
            </a:extLst>
          </p:cNvPr>
          <p:cNvSpPr txBox="1"/>
          <p:nvPr/>
        </p:nvSpPr>
        <p:spPr>
          <a:xfrm>
            <a:off x="8807116" y="768908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T V T </a:t>
            </a:r>
            <a:r>
              <a:rPr lang="en-US" dirty="0"/>
              <a:t>∧ F</a:t>
            </a:r>
            <a:br>
              <a:rPr lang="en-US" dirty="0"/>
            </a:br>
            <a:r>
              <a:rPr lang="en-US" dirty="0"/>
              <a:t>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3910D-487F-BECF-8B05-7EC1B0449364}"/>
              </a:ext>
            </a:extLst>
          </p:cNvPr>
          <p:cNvSpPr txBox="1"/>
          <p:nvPr/>
        </p:nvSpPr>
        <p:spPr>
          <a:xfrm>
            <a:off x="8807116" y="1505247"/>
            <a:ext cx="973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T V T </a:t>
            </a:r>
            <a:r>
              <a:rPr lang="en-US" dirty="0"/>
              <a:t>∧ T</a:t>
            </a:r>
            <a:br>
              <a:rPr lang="en-US" dirty="0"/>
            </a:br>
            <a:r>
              <a:rPr lang="en-US" dirty="0"/>
              <a:t>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D3D56-6CB0-3977-6BCF-343A1E605D11}"/>
              </a:ext>
            </a:extLst>
          </p:cNvPr>
          <p:cNvSpPr txBox="1"/>
          <p:nvPr/>
        </p:nvSpPr>
        <p:spPr>
          <a:xfrm>
            <a:off x="8807116" y="2289712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T V F </a:t>
            </a:r>
            <a:r>
              <a:rPr lang="en-US" dirty="0"/>
              <a:t>∧ F</a:t>
            </a:r>
            <a:br>
              <a:rPr lang="en-US" dirty="0"/>
            </a:br>
            <a:r>
              <a:rPr lang="en-US" dirty="0"/>
              <a:t>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0A59E-7934-08F6-69AE-427108DB43CA}"/>
              </a:ext>
            </a:extLst>
          </p:cNvPr>
          <p:cNvSpPr txBox="1"/>
          <p:nvPr/>
        </p:nvSpPr>
        <p:spPr>
          <a:xfrm>
            <a:off x="8807115" y="3010236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T V F </a:t>
            </a:r>
            <a:r>
              <a:rPr lang="en-US" dirty="0"/>
              <a:t>∧ T</a:t>
            </a:r>
            <a:br>
              <a:rPr lang="en-US" dirty="0"/>
            </a:br>
            <a:r>
              <a:rPr lang="en-US" dirty="0"/>
              <a:t>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E06C7-E541-E7D6-A8D9-C9C897CDF8CB}"/>
              </a:ext>
            </a:extLst>
          </p:cNvPr>
          <p:cNvSpPr txBox="1"/>
          <p:nvPr/>
        </p:nvSpPr>
        <p:spPr>
          <a:xfrm>
            <a:off x="8807114" y="3855079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F V T </a:t>
            </a:r>
            <a:r>
              <a:rPr lang="en-US" dirty="0"/>
              <a:t>∧ F</a:t>
            </a:r>
            <a:br>
              <a:rPr lang="en-US" dirty="0"/>
            </a:br>
            <a:r>
              <a:rPr lang="en-US" dirty="0"/>
              <a:t>F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44379-06BF-A389-1391-383022638ECB}"/>
              </a:ext>
            </a:extLst>
          </p:cNvPr>
          <p:cNvSpPr txBox="1"/>
          <p:nvPr/>
        </p:nvSpPr>
        <p:spPr>
          <a:xfrm>
            <a:off x="8807114" y="4573856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F V T </a:t>
            </a:r>
            <a:r>
              <a:rPr lang="en-US" dirty="0"/>
              <a:t>∧ T</a:t>
            </a:r>
            <a:br>
              <a:rPr lang="en-US" dirty="0"/>
            </a:br>
            <a:r>
              <a:rPr lang="en-US" dirty="0"/>
              <a:t>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D28EE-6474-7F10-0B1B-ADDC112B2475}"/>
              </a:ext>
            </a:extLst>
          </p:cNvPr>
          <p:cNvSpPr txBox="1"/>
          <p:nvPr/>
        </p:nvSpPr>
        <p:spPr>
          <a:xfrm>
            <a:off x="8807114" y="5360068"/>
            <a:ext cx="100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F V F </a:t>
            </a:r>
            <a:r>
              <a:rPr lang="en-US" dirty="0"/>
              <a:t>∧ F</a:t>
            </a:r>
            <a:br>
              <a:rPr lang="en-US" dirty="0"/>
            </a:br>
            <a:r>
              <a:rPr lang="en-US" dirty="0"/>
              <a:t>F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9DF39-9134-8D1D-320B-200E7199BCE1}"/>
              </a:ext>
            </a:extLst>
          </p:cNvPr>
          <p:cNvSpPr txBox="1"/>
          <p:nvPr/>
        </p:nvSpPr>
        <p:spPr>
          <a:xfrm>
            <a:off x="8807114" y="6089092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F V F </a:t>
            </a:r>
            <a:r>
              <a:rPr lang="en-US" dirty="0"/>
              <a:t>∧ T</a:t>
            </a:r>
          </a:p>
          <a:p>
            <a:r>
              <a:rPr lang="en-US" dirty="0"/>
              <a:t>F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BE64A-3197-17E3-956E-32260442CD78}"/>
              </a:ext>
            </a:extLst>
          </p:cNvPr>
          <p:cNvSpPr txBox="1"/>
          <p:nvPr/>
        </p:nvSpPr>
        <p:spPr>
          <a:xfrm>
            <a:off x="10464948" y="760922"/>
            <a:ext cx="1186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T V T) </a:t>
            </a:r>
            <a:r>
              <a:rPr lang="en-US" dirty="0"/>
              <a:t>∧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C9ED95-6044-1112-AC7B-9F4969A7A214}"/>
              </a:ext>
            </a:extLst>
          </p:cNvPr>
          <p:cNvSpPr txBox="1"/>
          <p:nvPr/>
        </p:nvSpPr>
        <p:spPr>
          <a:xfrm>
            <a:off x="10464948" y="1497261"/>
            <a:ext cx="1175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T V T) </a:t>
            </a:r>
            <a:r>
              <a:rPr lang="en-US" dirty="0"/>
              <a:t>∧ T)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96BB9-F110-F721-85B3-7F3BF3DB6157}"/>
              </a:ext>
            </a:extLst>
          </p:cNvPr>
          <p:cNvSpPr txBox="1"/>
          <p:nvPr/>
        </p:nvSpPr>
        <p:spPr>
          <a:xfrm>
            <a:off x="10464948" y="2281726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T V F) </a:t>
            </a:r>
            <a:r>
              <a:rPr lang="en-US" dirty="0"/>
              <a:t>∧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49A51E-4C4A-3684-3E49-7A8D44DA59AB}"/>
              </a:ext>
            </a:extLst>
          </p:cNvPr>
          <p:cNvSpPr txBox="1"/>
          <p:nvPr/>
        </p:nvSpPr>
        <p:spPr>
          <a:xfrm>
            <a:off x="10464947" y="3002250"/>
            <a:ext cx="1186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T V F) </a:t>
            </a:r>
            <a:r>
              <a:rPr lang="en-US" dirty="0"/>
              <a:t>∧ T)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888D6-FD8D-2223-5360-9216E44EE5A8}"/>
              </a:ext>
            </a:extLst>
          </p:cNvPr>
          <p:cNvSpPr txBox="1"/>
          <p:nvPr/>
        </p:nvSpPr>
        <p:spPr>
          <a:xfrm>
            <a:off x="10464946" y="3847093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F V T) </a:t>
            </a:r>
            <a:r>
              <a:rPr lang="en-US" dirty="0"/>
              <a:t>∧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96A9A6-3E19-AD2B-D02C-B0A2AF94DB88}"/>
              </a:ext>
            </a:extLst>
          </p:cNvPr>
          <p:cNvSpPr txBox="1"/>
          <p:nvPr/>
        </p:nvSpPr>
        <p:spPr>
          <a:xfrm>
            <a:off x="10464946" y="4565870"/>
            <a:ext cx="1186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F V T) </a:t>
            </a:r>
            <a:r>
              <a:rPr lang="en-US" dirty="0"/>
              <a:t>∧ T)</a:t>
            </a:r>
            <a:br>
              <a:rPr lang="en-US" dirty="0"/>
            </a:br>
            <a:r>
              <a:rPr lang="en-U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E905C-6E38-E9FC-0E35-B5A080711429}"/>
              </a:ext>
            </a:extLst>
          </p:cNvPr>
          <p:cNvSpPr txBox="1"/>
          <p:nvPr/>
        </p:nvSpPr>
        <p:spPr>
          <a:xfrm>
            <a:off x="10464946" y="5352082"/>
            <a:ext cx="1208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F V F) </a:t>
            </a:r>
            <a:r>
              <a:rPr lang="en-US" dirty="0"/>
              <a:t>∧ F)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55158-1CD6-D256-887E-3104971773D8}"/>
              </a:ext>
            </a:extLst>
          </p:cNvPr>
          <p:cNvSpPr txBox="1"/>
          <p:nvPr/>
        </p:nvSpPr>
        <p:spPr>
          <a:xfrm>
            <a:off x="10464946" y="6081106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ym typeface="Wingdings" pitchFamily="2" charset="2"/>
              </a:rPr>
              <a:t>F V F) </a:t>
            </a:r>
            <a:r>
              <a:rPr lang="en-US" dirty="0"/>
              <a:t>∧ T)</a:t>
            </a:r>
            <a:br>
              <a:rPr lang="en-US" dirty="0"/>
            </a:br>
            <a:r>
              <a:rPr lang="en-US" dirty="0"/>
              <a:t>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5D23EB-D890-2F50-CD85-74FCFB205B58}"/>
              </a:ext>
            </a:extLst>
          </p:cNvPr>
          <p:cNvSpPr/>
          <p:nvPr/>
        </p:nvSpPr>
        <p:spPr>
          <a:xfrm>
            <a:off x="8746633" y="725755"/>
            <a:ext cx="3312710" cy="77949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C21594-0E15-5C34-8670-3BB90C5C8BFD}"/>
              </a:ext>
            </a:extLst>
          </p:cNvPr>
          <p:cNvSpPr txBox="1"/>
          <p:nvPr/>
        </p:nvSpPr>
        <p:spPr>
          <a:xfrm>
            <a:off x="1010653" y="2614863"/>
            <a:ext cx="4343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Logical AND has precedence over logical OR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If we want an OR evaluated before an AND, we need </a:t>
            </a:r>
            <a:r>
              <a:rPr lang="en-US" sz="2800" dirty="0" err="1"/>
              <a:t>parens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25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CB8D-2A17-BC4B-CAB5-73CC2141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BF09-A447-3FCC-C7FE-8B7BAC69F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now, just keep notes on the truth tables for conditionals and biconditionals</a:t>
            </a:r>
          </a:p>
          <a:p>
            <a:endParaRPr lang="en-US" dirty="0"/>
          </a:p>
          <a:p>
            <a:r>
              <a:rPr lang="en-US" dirty="0"/>
              <a:t>Overall:</a:t>
            </a:r>
          </a:p>
          <a:p>
            <a:pPr lvl="1"/>
            <a:r>
              <a:rPr lang="en-US" dirty="0"/>
              <a:t>For simple 2 variable proofs, Truth Table may be easiest</a:t>
            </a:r>
          </a:p>
          <a:p>
            <a:pPr lvl="1"/>
            <a:r>
              <a:rPr lang="en-US" dirty="0"/>
              <a:t>For complex (3 +) variable expressions, Logical equivalence laws may be better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04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1827-4A79-A127-C868-492F807C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F3B44-4981-FE69-E9C2-1691FA322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dirty="0"/>
              <a:t>Not always in a conditional (if/then) format</a:t>
            </a:r>
          </a:p>
          <a:p>
            <a:pPr lvl="1"/>
            <a:endParaRPr lang="en-US" dirty="0"/>
          </a:p>
          <a:p>
            <a:r>
              <a:rPr lang="en-US" dirty="0"/>
              <a:t>X is a prime number</a:t>
            </a:r>
          </a:p>
          <a:p>
            <a:pPr lvl="1"/>
            <a:r>
              <a:rPr lang="en-US" dirty="0"/>
              <a:t>Is a predicate </a:t>
            </a:r>
          </a:p>
          <a:p>
            <a:pPr lvl="2"/>
            <a:r>
              <a:rPr lang="en-US" dirty="0"/>
              <a:t>Truth value depends on what X is</a:t>
            </a:r>
          </a:p>
          <a:p>
            <a:pPr lvl="1"/>
            <a:r>
              <a:rPr lang="en-US" dirty="0"/>
              <a:t>Isn’t a conditional</a:t>
            </a:r>
            <a:br>
              <a:rPr lang="en-US" dirty="0"/>
            </a:br>
            <a:endParaRPr lang="en-US" dirty="0"/>
          </a:p>
          <a:p>
            <a:r>
              <a:rPr lang="en-US" dirty="0"/>
              <a:t>Different way to express these in math: </a:t>
            </a:r>
            <a:r>
              <a:rPr lang="en-US" b="1" dirty="0"/>
              <a:t>Propositional Function</a:t>
            </a:r>
          </a:p>
          <a:p>
            <a:pPr lvl="1"/>
            <a:r>
              <a:rPr lang="en-US" dirty="0"/>
              <a:t>P(x) = X is a prime number</a:t>
            </a:r>
          </a:p>
          <a:p>
            <a:pPr lvl="1"/>
            <a:r>
              <a:rPr lang="en-US" dirty="0"/>
              <a:t>P(2) = “2 is a prime number” =  True</a:t>
            </a:r>
          </a:p>
          <a:p>
            <a:pPr lvl="1"/>
            <a:r>
              <a:rPr lang="en-US" dirty="0"/>
              <a:t>P(4) = “4 is a prime number” =  False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4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7EC6-1FAC-8CDF-EB95-79DB690D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aside to remember high school algebra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EEA26-A6C2-A8E8-17D2-04703B949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754033" cy="5167312"/>
          </a:xfrm>
        </p:spPr>
        <p:txBody>
          <a:bodyPr>
            <a:normAutofit/>
          </a:bodyPr>
          <a:lstStyle/>
          <a:p>
            <a:r>
              <a:rPr lang="en-US" dirty="0"/>
              <a:t>In high school: F(x) = x + 4</a:t>
            </a:r>
          </a:p>
          <a:p>
            <a:pPr lvl="1"/>
            <a:r>
              <a:rPr lang="en-US" dirty="0"/>
              <a:t>F(7) = 7 + 4 = 11</a:t>
            </a:r>
          </a:p>
          <a:p>
            <a:pPr lvl="1"/>
            <a:r>
              <a:rPr lang="en-US" dirty="0"/>
              <a:t>F(10) = 14</a:t>
            </a:r>
          </a:p>
          <a:p>
            <a:r>
              <a:rPr lang="en-US" dirty="0"/>
              <a:t>Short version:</a:t>
            </a:r>
          </a:p>
          <a:p>
            <a:pPr lvl="1"/>
            <a:r>
              <a:rPr lang="en-US" dirty="0"/>
              <a:t>Whatever number replaces our variable replaces it everywhere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Could have many variables</a:t>
            </a:r>
          </a:p>
          <a:p>
            <a:pPr lvl="1"/>
            <a:r>
              <a:rPr lang="en-US" dirty="0"/>
              <a:t>F(x, y, z) = (x + y) / z</a:t>
            </a:r>
          </a:p>
          <a:p>
            <a:pPr lvl="1"/>
            <a:r>
              <a:rPr lang="en-US" dirty="0"/>
              <a:t>F(3, 2, 5) = (3 + 2) / 5 =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E49C7D-F754-5147-F920-B93117B9E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720071"/>
              </p:ext>
            </p:extLst>
          </p:nvPr>
        </p:nvGraphicFramePr>
        <p:xfrm>
          <a:off x="9592234" y="3170872"/>
          <a:ext cx="176156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83">
                  <a:extLst>
                    <a:ext uri="{9D8B030D-6E8A-4147-A177-3AD203B41FA5}">
                      <a16:colId xmlns:a16="http://schemas.microsoft.com/office/drawing/2014/main" val="3449428162"/>
                    </a:ext>
                  </a:extLst>
                </a:gridCol>
                <a:gridCol w="880783">
                  <a:extLst>
                    <a:ext uri="{9D8B030D-6E8A-4147-A177-3AD203B41FA5}">
                      <a16:colId xmlns:a16="http://schemas.microsoft.com/office/drawing/2014/main" val="875893087"/>
                    </a:ext>
                  </a:extLst>
                </a:gridCol>
              </a:tblGrid>
              <a:tr h="2419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78763"/>
                  </a:ext>
                </a:extLst>
              </a:tr>
              <a:tr h="2995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76177"/>
                  </a:ext>
                </a:extLst>
              </a:tr>
              <a:tr h="4344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39491"/>
                  </a:ext>
                </a:extLst>
              </a:tr>
              <a:tr h="4344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3248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8E79D7-83C3-312B-31EF-8D2A459C30B4}"/>
              </a:ext>
            </a:extLst>
          </p:cNvPr>
          <p:cNvSpPr txBox="1"/>
          <p:nvPr/>
        </p:nvSpPr>
        <p:spPr>
          <a:xfrm>
            <a:off x="9592235" y="2709207"/>
            <a:ext cx="176156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F(X) = X + 4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FF448-93A0-18C6-1DE7-253EDA7C0221}"/>
              </a:ext>
            </a:extLst>
          </p:cNvPr>
          <p:cNvSpPr txBox="1"/>
          <p:nvPr/>
        </p:nvSpPr>
        <p:spPr>
          <a:xfrm>
            <a:off x="9715437" y="5335845"/>
            <a:ext cx="151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 algebra:</a:t>
            </a:r>
            <a:br>
              <a:rPr lang="en-US" dirty="0"/>
            </a:br>
            <a:r>
              <a:rPr lang="en-US" dirty="0"/>
              <a:t>Plotting lines </a:t>
            </a:r>
          </a:p>
        </p:txBody>
      </p:sp>
    </p:spTree>
    <p:extLst>
      <p:ext uri="{BB962C8B-B14F-4D97-AF65-F5344CB8AC3E}">
        <p14:creationId xmlns:p14="http://schemas.microsoft.com/office/powerpoint/2010/main" val="2476115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F2EF-F24C-5B13-4C6E-2CB37A696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Expanding our vocabulary in a new way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911B4-3C4D-72CE-2410-CADAE8CB1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Translating the following sentence into math: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all natural numbers, that number squared is greater than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761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647F-39B4-86A7-5DF2-B239B6E0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First: Language to talk about groups of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1E82-2A5F-D3F3-C891-BBFE5535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7650"/>
          </a:xfrm>
        </p:spPr>
        <p:txBody>
          <a:bodyPr>
            <a:normAutofit/>
          </a:bodyPr>
          <a:lstStyle/>
          <a:p>
            <a:r>
              <a:rPr lang="en-US" dirty="0"/>
              <a:t>Or “sets” of things</a:t>
            </a:r>
          </a:p>
          <a:p>
            <a:pPr lvl="1"/>
            <a:r>
              <a:rPr lang="en-US" dirty="0"/>
              <a:t>More on things we can do with sets next week</a:t>
            </a:r>
          </a:p>
          <a:p>
            <a:pPr lvl="1"/>
            <a:r>
              <a:rPr lang="en-US" dirty="0"/>
              <a:t>Today we’ll just identify some</a:t>
            </a:r>
          </a:p>
          <a:p>
            <a:endParaRPr lang="en-US" dirty="0"/>
          </a:p>
          <a:p>
            <a:r>
              <a:rPr lang="en-US" dirty="0"/>
              <a:t>Sets can be groups of anything</a:t>
            </a:r>
          </a:p>
          <a:p>
            <a:pPr lvl="1"/>
            <a:r>
              <a:rPr lang="en-US" dirty="0"/>
              <a:t>Think about when you’ve moved in somewhere new</a:t>
            </a:r>
          </a:p>
          <a:p>
            <a:pPr lvl="1"/>
            <a:r>
              <a:rPr lang="en-US" dirty="0"/>
              <a:t>You may have a box full of stuff related to the kitchen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15AD153-53A1-257B-AD34-ED165A9D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488" y="4038600"/>
            <a:ext cx="3175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795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5BCA-5D7C-EF8D-4233-CEF2DD23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en-US" dirty="0"/>
              <a:t>Common sets of numbers</a:t>
            </a:r>
          </a:p>
        </p:txBody>
      </p:sp>
      <p:pic>
        <p:nvPicPr>
          <p:cNvPr id="7170" name="Picture 2" descr="Comprehensive List of Set Theory Symbols | Math Vault">
            <a:extLst>
              <a:ext uri="{FF2B5EF4-FFF2-40B4-BE49-F238E27FC236}">
                <a16:creationId xmlns:a16="http://schemas.microsoft.com/office/drawing/2014/main" id="{5E7C52B2-C8C4-5478-B875-B84E74691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6350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548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5DB9-83AD-BE47-EB40-0EF971C1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to pay attention to right now…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262AC73-B97A-1BD4-40EA-C18259ABDE2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96964" y="1950883"/>
              <a:ext cx="10398072" cy="45419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9518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905808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3293228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599518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8840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b="0" dirty="0" err="1"/>
                            <a:t>ℕ</a:t>
                          </a:r>
                          <a:r>
                            <a:rPr lang="en-US" sz="4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400" b="0" dirty="0" err="1"/>
                            <a:t>ℤ</a:t>
                          </a:r>
                          <a:endParaRPr lang="en-US" sz="4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dirty="0" err="1"/>
                            <a:t>ℚ</a:t>
                          </a:r>
                          <a:endParaRPr lang="en-US" sz="4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dirty="0" err="1"/>
                            <a:t>ℝ</a:t>
                          </a:r>
                          <a:endParaRPr lang="en-US" sz="4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/>
                            <a:t>π</a:t>
                          </a:r>
                          <a:r>
                            <a:rPr lang="en-US" sz="20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8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:r>
                            <a:rPr lang="en-US" sz="2000" dirty="0"/>
                            <a:t>3/10, 400,</a:t>
                          </a:r>
                          <a:r>
                            <a:rPr lang="en-US" sz="2000" baseline="0" dirty="0"/>
                            <a:t> 0, -3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262AC73-B97A-1BD4-40EA-C18259ABDE2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96964" y="1950883"/>
              <a:ext cx="10398072" cy="45419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9518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905808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3293228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599518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8840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b="0" dirty="0" err="1"/>
                            <a:t>ℕ</a:t>
                          </a:r>
                          <a:r>
                            <a:rPr lang="en-US" sz="4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400" b="0" dirty="0" err="1"/>
                            <a:t>ℤ</a:t>
                          </a:r>
                          <a:endParaRPr lang="en-US" sz="4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dirty="0" err="1"/>
                            <a:t>ℚ</a:t>
                          </a:r>
                          <a:endParaRPr lang="en-US" sz="4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884038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400" dirty="0" err="1"/>
                            <a:t>ℝ</a:t>
                          </a:r>
                          <a:endParaRPr lang="en-US" sz="4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421429" r="-976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4278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4C2A-2121-5F62-1626-9F4E17F4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to translate our sentence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FEEA-5531-CBB6-9399-C24D0E7F8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all natural numbers, any number squared is greater than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For all numbers in </a:t>
            </a:r>
            <a:r>
              <a:rPr lang="en-US" b="1" dirty="0" err="1"/>
              <a:t>ℕ</a:t>
            </a:r>
            <a:r>
              <a:rPr lang="en-US" b="1" dirty="0"/>
              <a:t>, any number squared is greater than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7E909-8AD0-6A3C-29B8-CFF4125F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7963"/>
            <a:ext cx="7772400" cy="137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E23E-04E4-C53C-6629-D6F4ECB7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516EB-CE36-8F6C-68BE-208360D1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1343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7EB68D-FC49-1668-A216-7E00ECCFCFCC}"/>
              </a:ext>
            </a:extLst>
          </p:cNvPr>
          <p:cNvSpPr txBox="1"/>
          <p:nvPr/>
        </p:nvSpPr>
        <p:spPr>
          <a:xfrm>
            <a:off x="0" y="3116039"/>
            <a:ext cx="9793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∈ is our symbol for </a:t>
            </a:r>
            <a:r>
              <a:rPr lang="en-US" sz="4000" i="1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“within a set”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83604-1B1F-9C08-A9D0-3765FDB0A107}"/>
              </a:ext>
            </a:extLst>
          </p:cNvPr>
          <p:cNvSpPr txBox="1"/>
          <p:nvPr/>
        </p:nvSpPr>
        <p:spPr>
          <a:xfrm>
            <a:off x="0" y="4520981"/>
            <a:ext cx="1219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 all numbers in </a:t>
            </a:r>
            <a:r>
              <a:rPr lang="en-US" sz="3200" dirty="0" err="1"/>
              <a:t>ℕ</a:t>
            </a:r>
            <a:r>
              <a:rPr lang="en-US" sz="3200" dirty="0"/>
              <a:t>, any number squared is greater than 0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814D4-16A4-2C19-504C-41A88F817C91}"/>
              </a:ext>
            </a:extLst>
          </p:cNvPr>
          <p:cNvSpPr txBox="1"/>
          <p:nvPr/>
        </p:nvSpPr>
        <p:spPr>
          <a:xfrm>
            <a:off x="0" y="5382755"/>
            <a:ext cx="1219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∀ x ∈ </a:t>
            </a:r>
            <a:r>
              <a:rPr lang="en-US" sz="3200" b="1" dirty="0" err="1"/>
              <a:t>ℕ</a:t>
            </a:r>
            <a:r>
              <a:rPr lang="en-US" sz="3200" b="1" dirty="0"/>
              <a:t>, x squared is greater than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5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D32C-B242-0048-BED2-72D3DA28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Propositional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A3FD-963D-9508-50BF-8E14C75A7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074581"/>
          </a:xfrm>
        </p:spPr>
        <p:txBody>
          <a:bodyPr>
            <a:normAutofit/>
          </a:bodyPr>
          <a:lstStyle/>
          <a:p>
            <a:r>
              <a:rPr lang="en-US" dirty="0"/>
              <a:t>X squared is greater than 0 </a:t>
            </a:r>
          </a:p>
          <a:p>
            <a:endParaRPr lang="en-US" dirty="0"/>
          </a:p>
          <a:p>
            <a:r>
              <a:rPr lang="en-US" dirty="0"/>
              <a:t>Expressed as a function: P(x) = x</a:t>
            </a:r>
            <a:r>
              <a:rPr lang="en-US" baseline="30000" dirty="0"/>
              <a:t>2</a:t>
            </a:r>
            <a:r>
              <a:rPr lang="en-US" dirty="0"/>
              <a:t> &gt; 0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BA6E0-07AC-8879-5DC7-75E94A55CB95}"/>
              </a:ext>
            </a:extLst>
          </p:cNvPr>
          <p:cNvSpPr txBox="1"/>
          <p:nvPr/>
        </p:nvSpPr>
        <p:spPr>
          <a:xfrm>
            <a:off x="159489" y="5035141"/>
            <a:ext cx="1782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translation: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4EA29-C3E2-D878-6E4D-F2C3C6D65D39}"/>
              </a:ext>
            </a:extLst>
          </p:cNvPr>
          <p:cNvSpPr txBox="1"/>
          <p:nvPr/>
        </p:nvSpPr>
        <p:spPr>
          <a:xfrm>
            <a:off x="159489" y="4038431"/>
            <a:ext cx="1219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∀ x ∈ </a:t>
            </a:r>
            <a:r>
              <a:rPr lang="en-US" sz="3200" dirty="0" err="1"/>
              <a:t>ℕ</a:t>
            </a:r>
            <a:r>
              <a:rPr lang="en-US" sz="3200" dirty="0"/>
              <a:t>, x squared is greater than 0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C8AF4-556D-98A7-A0B7-CB1B2A6B34C4}"/>
              </a:ext>
            </a:extLst>
          </p:cNvPr>
          <p:cNvSpPr txBox="1"/>
          <p:nvPr/>
        </p:nvSpPr>
        <p:spPr>
          <a:xfrm>
            <a:off x="159489" y="540552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Let P(x) = x</a:t>
            </a:r>
            <a:r>
              <a:rPr lang="en-US" sz="3200" baseline="30000" dirty="0"/>
              <a:t>2</a:t>
            </a:r>
            <a:r>
              <a:rPr lang="en-US" sz="3200" dirty="0"/>
              <a:t> &gt; 0</a:t>
            </a:r>
            <a:br>
              <a:rPr lang="en-US" sz="3200" dirty="0"/>
            </a:br>
            <a:r>
              <a:rPr lang="en-US" sz="3200" dirty="0"/>
              <a:t>∀ x ∈ </a:t>
            </a:r>
            <a:r>
              <a:rPr lang="en-US" sz="3200" dirty="0" err="1"/>
              <a:t>ℕ</a:t>
            </a:r>
            <a:r>
              <a:rPr lang="en-US" sz="3200" dirty="0"/>
              <a:t> P(x)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4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6784-EE85-AEAA-5BF7-0C3398FA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6CF26-1E9A-C58B-0798-DD1F77B5B3BF}"/>
              </a:ext>
            </a:extLst>
          </p:cNvPr>
          <p:cNvSpPr txBox="1"/>
          <p:nvPr/>
        </p:nvSpPr>
        <p:spPr>
          <a:xfrm>
            <a:off x="1613491" y="2552942"/>
            <a:ext cx="60977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Let P(x) = x</a:t>
            </a:r>
            <a:r>
              <a:rPr lang="en-US" sz="4000" baseline="30000" dirty="0"/>
              <a:t>2</a:t>
            </a:r>
            <a:r>
              <a:rPr lang="en-US" sz="4000" dirty="0"/>
              <a:t> &gt; 0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∀ x ∈ </a:t>
            </a:r>
            <a:r>
              <a:rPr lang="en-US" sz="4000" dirty="0" err="1"/>
              <a:t>ℕ</a:t>
            </a:r>
            <a:r>
              <a:rPr lang="en-US" sz="4000" dirty="0"/>
              <a:t>, P(x)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0C560-9667-0FF1-A634-734994AFB449}"/>
              </a:ext>
            </a:extLst>
          </p:cNvPr>
          <p:cNvSpPr txBox="1"/>
          <p:nvPr/>
        </p:nvSpPr>
        <p:spPr>
          <a:xfrm>
            <a:off x="5231219" y="1937149"/>
            <a:ext cx="410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 assumption before our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1D39D-A394-AD8D-6C75-C0F47F8F06F3}"/>
              </a:ext>
            </a:extLst>
          </p:cNvPr>
          <p:cNvSpPr txBox="1"/>
          <p:nvPr/>
        </p:nvSpPr>
        <p:spPr>
          <a:xfrm>
            <a:off x="42533" y="6023719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2D6EC-26E8-A71C-DE56-223430E1E6BE}"/>
              </a:ext>
            </a:extLst>
          </p:cNvPr>
          <p:cNvSpPr txBox="1"/>
          <p:nvPr/>
        </p:nvSpPr>
        <p:spPr>
          <a:xfrm>
            <a:off x="2110562" y="5387699"/>
            <a:ext cx="2788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Elements within the set </a:t>
            </a:r>
            <a:br>
              <a:rPr lang="en-US" dirty="0"/>
            </a:br>
            <a:r>
              <a:rPr lang="en-US" dirty="0"/>
              <a:t>of positive whole numbers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887A0FD-E4F6-3649-20DE-6B8497E05E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8252" y="4534628"/>
            <a:ext cx="1615825" cy="13290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861A0BE-8DFA-768A-B599-87AB390DF0B4}"/>
              </a:ext>
            </a:extLst>
          </p:cNvPr>
          <p:cNvSpPr/>
          <p:nvPr/>
        </p:nvSpPr>
        <p:spPr>
          <a:xfrm rot="5400000">
            <a:off x="2216540" y="4285270"/>
            <a:ext cx="962942" cy="1174897"/>
          </a:xfrm>
          <a:prstGeom prst="rightBrace">
            <a:avLst>
              <a:gd name="adj1" fmla="val 8333"/>
              <a:gd name="adj2" fmla="val 490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AF491-5126-BDB9-74C2-25B6DE3CF775}"/>
              </a:ext>
            </a:extLst>
          </p:cNvPr>
          <p:cNvSpPr txBox="1"/>
          <p:nvPr/>
        </p:nvSpPr>
        <p:spPr>
          <a:xfrm>
            <a:off x="6836017" y="4021915"/>
            <a:ext cx="499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Strictly speaking we don’t </a:t>
            </a:r>
            <a:r>
              <a:rPr lang="en-US" i="1" dirty="0"/>
              <a:t>need</a:t>
            </a:r>
            <a:r>
              <a:rPr lang="en-US" dirty="0"/>
              <a:t> the function 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7BFF6-1372-A9C0-9CE9-CED9F1EA51E9}"/>
              </a:ext>
            </a:extLst>
          </p:cNvPr>
          <p:cNvSpPr txBox="1"/>
          <p:nvPr/>
        </p:nvSpPr>
        <p:spPr>
          <a:xfrm>
            <a:off x="6836017" y="4553729"/>
            <a:ext cx="499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∀ x ∈ </a:t>
            </a:r>
            <a:r>
              <a:rPr lang="en-US" dirty="0" err="1"/>
              <a:t>ℕ</a:t>
            </a:r>
            <a:r>
              <a:rPr lang="en-US" dirty="0"/>
              <a:t>, x</a:t>
            </a:r>
            <a:r>
              <a:rPr lang="en-US" baseline="30000" dirty="0"/>
              <a:t>2</a:t>
            </a:r>
            <a:r>
              <a:rPr lang="en-US" dirty="0"/>
              <a:t> &gt; 0 still gets our meaning across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C130F-0908-E9BC-86E1-9E92421706E8}"/>
              </a:ext>
            </a:extLst>
          </p:cNvPr>
          <p:cNvSpPr txBox="1"/>
          <p:nvPr/>
        </p:nvSpPr>
        <p:spPr>
          <a:xfrm>
            <a:off x="6836019" y="5114260"/>
            <a:ext cx="499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when our statements get more complex dividing things up will keep things organized</a:t>
            </a:r>
          </a:p>
        </p:txBody>
      </p:sp>
    </p:spTree>
    <p:extLst>
      <p:ext uri="{BB962C8B-B14F-4D97-AF65-F5344CB8AC3E}">
        <p14:creationId xmlns:p14="http://schemas.microsoft.com/office/powerpoint/2010/main" val="217689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26A8-8B80-6433-D796-DC87CB5A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90C31-1D17-38B5-D344-17348ADB2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627652" cy="4720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5B9F99-6B6E-340F-13BE-78077AD1E653}"/>
              </a:ext>
            </a:extLst>
          </p:cNvPr>
          <p:cNvSpPr txBox="1"/>
          <p:nvPr/>
        </p:nvSpPr>
        <p:spPr>
          <a:xfrm>
            <a:off x="10443411" y="6488668"/>
            <a:ext cx="1564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Geeks4Geeks</a:t>
            </a:r>
          </a:p>
        </p:txBody>
      </p:sp>
    </p:spTree>
    <p:extLst>
      <p:ext uri="{BB962C8B-B14F-4D97-AF65-F5344CB8AC3E}">
        <p14:creationId xmlns:p14="http://schemas.microsoft.com/office/powerpoint/2010/main" val="1256786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7DF3-6C29-10BF-E48C-A52D5923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Note, statements with quantifiers don’t have to be True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B4CF-47A4-D11C-3ADE-D8B27CEB7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42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Together translate</a:t>
            </a:r>
          </a:p>
          <a:p>
            <a:pPr marL="457200" lvl="1" indent="0">
              <a:buNone/>
            </a:pPr>
            <a:r>
              <a:rPr lang="en-US" dirty="0"/>
              <a:t>Let E(n) = n is even</a:t>
            </a:r>
          </a:p>
          <a:p>
            <a:pPr marL="457200" lvl="1" indent="0">
              <a:buNone/>
            </a:pPr>
            <a:r>
              <a:rPr lang="en-US" dirty="0"/>
              <a:t>∀ n ∈ </a:t>
            </a:r>
            <a:r>
              <a:rPr lang="en-US" dirty="0" err="1"/>
              <a:t>ℤ</a:t>
            </a:r>
            <a:r>
              <a:rPr lang="en-US" dirty="0"/>
              <a:t>, E(n)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50540-C080-5C68-09FF-4667F3FA6C1C}"/>
              </a:ext>
            </a:extLst>
          </p:cNvPr>
          <p:cNvSpPr txBox="1"/>
          <p:nvPr/>
        </p:nvSpPr>
        <p:spPr>
          <a:xfrm>
            <a:off x="838200" y="3298901"/>
            <a:ext cx="1479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∀ = for all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3493E-7860-952F-F0F9-ED5E35A134C8}"/>
              </a:ext>
            </a:extLst>
          </p:cNvPr>
          <p:cNvSpPr txBox="1"/>
          <p:nvPr/>
        </p:nvSpPr>
        <p:spPr>
          <a:xfrm>
            <a:off x="838199" y="3668233"/>
            <a:ext cx="5456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 ∈ </a:t>
            </a:r>
            <a:r>
              <a:rPr lang="en-US" sz="2400" dirty="0" err="1"/>
              <a:t>ℤ</a:t>
            </a:r>
            <a:r>
              <a:rPr lang="en-US" sz="2400" dirty="0"/>
              <a:t> numbers within the set of integers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3EB5E589-15D0-D17D-3B77-4366554CA92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96119623"/>
                  </p:ext>
                </p:extLst>
              </p:nvPr>
            </p:nvGraphicFramePr>
            <p:xfrm>
              <a:off x="6689558" y="4264835"/>
              <a:ext cx="5502443" cy="25931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75611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00851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742707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375611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837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658269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000" dirty="0"/>
                            <a:t>π</a:t>
                          </a:r>
                          <a:r>
                            <a:rPr lang="en-US" sz="10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9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9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9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000" dirty="0"/>
                            <a:t>3/10, 400,</a:t>
                          </a:r>
                          <a:r>
                            <a:rPr lang="en-US" sz="1000" baseline="0" dirty="0"/>
                            <a:t> 0, -3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3EB5E589-15D0-D17D-3B77-4366554CA92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96119623"/>
                  </p:ext>
                </p:extLst>
              </p:nvPr>
            </p:nvGraphicFramePr>
            <p:xfrm>
              <a:off x="6689558" y="4264835"/>
              <a:ext cx="5502443" cy="25931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75611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00851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742707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375611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837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658269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8372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083" t="-439474" r="-1835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77A835B-B92B-7FBB-6BAF-CABA9ED64E2F}"/>
              </a:ext>
            </a:extLst>
          </p:cNvPr>
          <p:cNvSpPr txBox="1"/>
          <p:nvPr/>
        </p:nvSpPr>
        <p:spPr>
          <a:xfrm>
            <a:off x="838198" y="4264835"/>
            <a:ext cx="414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Overall: “all integers are even”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9721-EAF4-B379-C28B-93C01BE51BEB}"/>
              </a:ext>
            </a:extLst>
          </p:cNvPr>
          <p:cNvSpPr txBox="1"/>
          <p:nvPr/>
        </p:nvSpPr>
        <p:spPr>
          <a:xfrm>
            <a:off x="1422078" y="4861437"/>
            <a:ext cx="1790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statement</a:t>
            </a:r>
          </a:p>
        </p:txBody>
      </p:sp>
    </p:spTree>
    <p:extLst>
      <p:ext uri="{BB962C8B-B14F-4D97-AF65-F5344CB8AC3E}">
        <p14:creationId xmlns:p14="http://schemas.microsoft.com/office/powerpoint/2010/main" val="3049899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AFD0-1477-C12F-79B7-61F33E33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some more false 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39970-D4FE-E31A-F09D-C278810E0F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P(n) = (n</a:t>
                </a:r>
                <a:r>
                  <a:rPr lang="en-US" baseline="30000" dirty="0"/>
                  <a:t>2</a:t>
                </a:r>
                <a:r>
                  <a:rPr lang="en-US" dirty="0"/>
                  <a:t> is equal to 2)</a:t>
                </a:r>
                <a:br>
                  <a:rPr lang="en-US" dirty="0"/>
                </a:br>
                <a:r>
                  <a:rPr lang="en-US" dirty="0"/>
                  <a:t>∃ n ∈ </a:t>
                </a:r>
                <a:r>
                  <a:rPr lang="en-US" dirty="0" err="1"/>
                  <a:t>ℤ</a:t>
                </a:r>
                <a:r>
                  <a:rPr lang="en-US" dirty="0"/>
                  <a:t>, P(n)</a:t>
                </a:r>
              </a:p>
              <a:p>
                <a:r>
                  <a:rPr lang="en-US" dirty="0"/>
                  <a:t>Translated…</a:t>
                </a:r>
              </a:p>
              <a:p>
                <a:endParaRPr lang="en-US" dirty="0"/>
              </a:p>
              <a:p>
                <a:r>
                  <a:rPr lang="en-US" dirty="0"/>
                  <a:t>S(a, b)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dirty="0"/>
                  <a:t> ∈ </a:t>
                </a:r>
                <a:r>
                  <a:rPr lang="en-US" dirty="0" err="1"/>
                  <a:t>ℚ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∀ a, b ∈ Q, S(a, b)</a:t>
                </a:r>
              </a:p>
              <a:p>
                <a:r>
                  <a:rPr lang="en-US" dirty="0"/>
                  <a:t>Translated…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39970-D4FE-E31A-F09D-C278810E0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40DFAC0-AC73-EC71-769F-E65A44131C24}"/>
              </a:ext>
            </a:extLst>
          </p:cNvPr>
          <p:cNvSpPr txBox="1"/>
          <p:nvPr/>
        </p:nvSpPr>
        <p:spPr>
          <a:xfrm>
            <a:off x="3286126" y="2757488"/>
            <a:ext cx="436978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There exists an integer for which n</a:t>
            </a:r>
            <a:r>
              <a:rPr lang="en-US" sz="2000" baseline="30000" dirty="0"/>
              <a:t>2</a:t>
            </a:r>
            <a:r>
              <a:rPr lang="en-US" sz="2000" dirty="0"/>
              <a:t>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F12CD74B-9E31-8ED1-8FE8-9ABE6C4D6E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7645032"/>
                  </p:ext>
                </p:extLst>
              </p:nvPr>
            </p:nvGraphicFramePr>
            <p:xfrm>
              <a:off x="7517504" y="-3884"/>
              <a:ext cx="4674496" cy="216129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68624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5676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480484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168624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458712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000" dirty="0"/>
                            <a:t>π</a:t>
                          </a:r>
                          <a:r>
                            <a:rPr lang="en-US" sz="10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9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9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9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000" dirty="0"/>
                            <a:t>3/10, 400,</a:t>
                          </a:r>
                          <a:r>
                            <a:rPr lang="en-US" sz="1000" baseline="0" dirty="0"/>
                            <a:t> 0, -3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F12CD74B-9E31-8ED1-8FE8-9ABE6C4D6E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7645032"/>
                  </p:ext>
                </p:extLst>
              </p:nvPr>
            </p:nvGraphicFramePr>
            <p:xfrm>
              <a:off x="7517504" y="-3884"/>
              <a:ext cx="4674496" cy="216129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68624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5676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480484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168624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087" t="-434375" r="-3261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6550780-5482-893A-83C2-9EAE1D89B404}"/>
              </a:ext>
            </a:extLst>
          </p:cNvPr>
          <p:cNvSpPr txBox="1"/>
          <p:nvPr/>
        </p:nvSpPr>
        <p:spPr>
          <a:xfrm>
            <a:off x="3286126" y="4696704"/>
            <a:ext cx="871537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For any two rational numbers a and b, the square root of their product is also rational </a:t>
            </a:r>
          </a:p>
        </p:txBody>
      </p:sp>
    </p:spTree>
    <p:extLst>
      <p:ext uri="{BB962C8B-B14F-4D97-AF65-F5344CB8AC3E}">
        <p14:creationId xmlns:p14="http://schemas.microsoft.com/office/powerpoint/2010/main" val="697198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80A-9F4D-27E2-D29F-E1C96DA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a less “math”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37256-955B-4C97-9AAF-0DE31EB12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32388"/>
          </a:xfrm>
        </p:spPr>
        <p:txBody>
          <a:bodyPr>
            <a:normAutofit/>
          </a:bodyPr>
          <a:lstStyle/>
          <a:p>
            <a:r>
              <a:rPr lang="en-US" dirty="0"/>
              <a:t>Let L(x, y) = x likes y</a:t>
            </a:r>
          </a:p>
          <a:p>
            <a:r>
              <a:rPr lang="en-US" dirty="0"/>
              <a:t>Let P be a set of all people (past, present, and future)</a:t>
            </a:r>
          </a:p>
          <a:p>
            <a:endParaRPr lang="en-US" dirty="0"/>
          </a:p>
          <a:p>
            <a:r>
              <a:rPr lang="en-US" dirty="0"/>
              <a:t>Translate the following into symbolic logic</a:t>
            </a:r>
          </a:p>
          <a:p>
            <a:pPr lvl="1"/>
            <a:r>
              <a:rPr lang="en-US" dirty="0"/>
              <a:t>Everyone likes everyone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Someone does not like anyone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Everyone likes George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There is no one whom everyone likes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5CA2C-5B38-3C7D-F1F6-26C1A74483F3}"/>
              </a:ext>
            </a:extLst>
          </p:cNvPr>
          <p:cNvSpPr txBox="1"/>
          <p:nvPr/>
        </p:nvSpPr>
        <p:spPr>
          <a:xfrm>
            <a:off x="4943476" y="3816628"/>
            <a:ext cx="169738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∀ x, y ∈ P, L(</a:t>
            </a:r>
            <a:r>
              <a:rPr lang="en-US" dirty="0" err="1"/>
              <a:t>x,y</a:t>
            </a:r>
            <a:r>
              <a:rPr lang="en-US" dirty="0"/>
              <a:t>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D2CD0-A428-B391-18B3-959AFF8BF30F}"/>
              </a:ext>
            </a:extLst>
          </p:cNvPr>
          <p:cNvSpPr txBox="1"/>
          <p:nvPr/>
        </p:nvSpPr>
        <p:spPr>
          <a:xfrm>
            <a:off x="5819092" y="4278868"/>
            <a:ext cx="90685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∃ x ∈ P</a:t>
            </a:r>
            <a:br>
              <a:rPr lang="en-US" dirty="0"/>
            </a:br>
            <a:r>
              <a:rPr lang="en-US" dirty="0"/>
              <a:t>∀ y ∈ P</a:t>
            </a:r>
            <a:br>
              <a:rPr lang="en-US" dirty="0"/>
            </a:br>
            <a:r>
              <a:rPr lang="en-US" dirty="0"/>
              <a:t>¬ L(</a:t>
            </a:r>
            <a:r>
              <a:rPr lang="en-US" dirty="0" err="1"/>
              <a:t>x,y</a:t>
            </a:r>
            <a:r>
              <a:rPr lang="en-US" dirty="0"/>
              <a:t>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E1C2A-FA7D-423E-36BC-A4D73A09AF72}"/>
              </a:ext>
            </a:extLst>
          </p:cNvPr>
          <p:cNvSpPr txBox="1"/>
          <p:nvPr/>
        </p:nvSpPr>
        <p:spPr>
          <a:xfrm>
            <a:off x="4536561" y="5412581"/>
            <a:ext cx="21893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∀ x ∈ P, L(x, George)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DC083-C263-2078-1491-B2F53FCD8596}"/>
              </a:ext>
            </a:extLst>
          </p:cNvPr>
          <p:cNvSpPr txBox="1"/>
          <p:nvPr/>
        </p:nvSpPr>
        <p:spPr>
          <a:xfrm>
            <a:off x="6640864" y="5992297"/>
            <a:ext cx="24518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¬ ∃ x ∈ P, ∀ y ∈ P, L(x, y) </a:t>
            </a:r>
          </a:p>
        </p:txBody>
      </p:sp>
    </p:spTree>
    <p:extLst>
      <p:ext uri="{BB962C8B-B14F-4D97-AF65-F5344CB8AC3E}">
        <p14:creationId xmlns:p14="http://schemas.microsoft.com/office/powerpoint/2010/main" val="155206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A45F-03DF-91D8-63FC-2ABA46F8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0319"/>
            <a:ext cx="10515600" cy="1325563"/>
          </a:xfrm>
        </p:spPr>
        <p:txBody>
          <a:bodyPr/>
          <a:lstStyle/>
          <a:p>
            <a:r>
              <a:rPr lang="en-US" dirty="0"/>
              <a:t>More practice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206261-F24D-B9FE-5E3B-0D7CCF0A5E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855869"/>
              </p:ext>
            </p:extLst>
          </p:nvPr>
        </p:nvGraphicFramePr>
        <p:xfrm>
          <a:off x="838200" y="863356"/>
          <a:ext cx="10515600" cy="3754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897368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51232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Symbolic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65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Let P(x) = (x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 &lt; x)</a:t>
                      </a:r>
                      <a:br>
                        <a:rPr lang="en-US" baseline="0" dirty="0"/>
                      </a:br>
                      <a:r>
                        <a:rPr lang="en-US" sz="1800" dirty="0">
                          <a:latin typeface="Angsana New" panose="02020603050405020304" pitchFamily="18" charset="-34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∃ </a:t>
                      </a:r>
                      <a:r>
                        <a:rPr lang="en-US" sz="1800" dirty="0">
                          <a:latin typeface="+mn-lt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a</a:t>
                      </a:r>
                      <a:r>
                        <a:rPr lang="en-US" sz="1800" dirty="0">
                          <a:latin typeface="Angsana New" panose="02020603050405020304" pitchFamily="18" charset="-34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 ∈ </a:t>
                      </a:r>
                      <a:r>
                        <a:rPr lang="en-US" sz="1800" dirty="0" err="1"/>
                        <a:t>ℚ</a:t>
                      </a:r>
                      <a:r>
                        <a:rPr lang="en-US" sz="1800" dirty="0"/>
                        <a:t>, P(a)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04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exists an odd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76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Let B(x) = x has a book</a:t>
                      </a:r>
                      <a:br>
                        <a:rPr lang="en-US" dirty="0"/>
                      </a:br>
                      <a:r>
                        <a:rPr lang="en-US" dirty="0"/>
                        <a:t>Let S be a set of all students at the Roux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∀ </a:t>
                      </a:r>
                      <a:r>
                        <a:rPr lang="en-US" sz="1800" dirty="0">
                          <a:latin typeface="+mn-lt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x</a:t>
                      </a:r>
                      <a:r>
                        <a:rPr lang="en-US" sz="1800" dirty="0">
                          <a:latin typeface="Angsana New" panose="02020603050405020304" pitchFamily="18" charset="-34"/>
                          <a:ea typeface="Baskerville" panose="02020502070401020303" pitchFamily="18" charset="0"/>
                          <a:cs typeface="Angsana New" panose="02020603050405020304" pitchFamily="18" charset="-34"/>
                        </a:rPr>
                        <a:t> ∈ </a:t>
                      </a:r>
                      <a:r>
                        <a:rPr lang="en-US" dirty="0"/>
                        <a:t>S, B(x)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709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two integers, X and Y, that are are 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7825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A7E7549C-019D-AB0F-7E7F-EDD8A6015EF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8663055"/>
                  </p:ext>
                </p:extLst>
              </p:nvPr>
            </p:nvGraphicFramePr>
            <p:xfrm>
              <a:off x="0" y="4696704"/>
              <a:ext cx="4674496" cy="216129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68624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5676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480484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168624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458712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000" dirty="0"/>
                            <a:t>π</a:t>
                          </a:r>
                          <a:r>
                            <a:rPr lang="en-US" sz="10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9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9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9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000" dirty="0"/>
                            <a:t>3/10, 400,</a:t>
                          </a:r>
                          <a:r>
                            <a:rPr lang="en-US" sz="1000" baseline="0" dirty="0"/>
                            <a:t> 0, -3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A7E7549C-019D-AB0F-7E7F-EDD8A6015EF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8663055"/>
                  </p:ext>
                </p:extLst>
              </p:nvPr>
            </p:nvGraphicFramePr>
            <p:xfrm>
              <a:off x="0" y="4696704"/>
              <a:ext cx="4674496" cy="216129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68624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56764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480484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168624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 err="1"/>
                            <a:t>ℕ</a:t>
                          </a:r>
                          <a:r>
                            <a:rPr lang="en-US" sz="18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err="1"/>
                            <a:t>ℤ</a:t>
                          </a: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ℚ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/>
                            <a:t>ℝ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174" t="-434375" r="-2174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4225D7E-4420-0138-D956-F13B8D18B4EE}"/>
              </a:ext>
            </a:extLst>
          </p:cNvPr>
          <p:cNvSpPr txBox="1"/>
          <p:nvPr/>
        </p:nvSpPr>
        <p:spPr>
          <a:xfrm>
            <a:off x="5717481" y="4919008"/>
            <a:ext cx="66505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∀ is “for all”, ”for every”, or “for each”</a:t>
            </a:r>
            <a:b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</a:br>
            <a: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∃ is “there exists” or “there is”</a:t>
            </a:r>
            <a:b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</a:br>
            <a:r>
              <a:rPr lang="en-US" sz="40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∈ is our symbol for </a:t>
            </a:r>
            <a:r>
              <a:rPr lang="en-US" sz="4000" i="1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“within a set”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B37B2-C227-A213-35AB-88C82A12DE6A}"/>
              </a:ext>
            </a:extLst>
          </p:cNvPr>
          <p:cNvSpPr txBox="1"/>
          <p:nvPr/>
        </p:nvSpPr>
        <p:spPr>
          <a:xfrm>
            <a:off x="6096000" y="1186192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rational number that gets smaller when squared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34863-6629-1FE8-870D-D466F96181C7}"/>
              </a:ext>
            </a:extLst>
          </p:cNvPr>
          <p:cNvSpPr txBox="1"/>
          <p:nvPr/>
        </p:nvSpPr>
        <p:spPr>
          <a:xfrm>
            <a:off x="838200" y="1865753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Let P(n) = n is odd</a:t>
            </a:r>
            <a:b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</a:br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∃ n ∈</a:t>
            </a:r>
            <a:r>
              <a:rPr lang="en-US" dirty="0"/>
              <a:t> </a:t>
            </a:r>
            <a:r>
              <a:rPr lang="en-US" dirty="0" err="1"/>
              <a:t>ℤ</a:t>
            </a:r>
            <a:r>
              <a:rPr lang="en-US" dirty="0"/>
              <a:t>, </a:t>
            </a:r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 P(n)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D74E2-214A-5213-0EC8-F9FF5CE1DEF0}"/>
              </a:ext>
            </a:extLst>
          </p:cNvPr>
          <p:cNvSpPr txBox="1"/>
          <p:nvPr/>
        </p:nvSpPr>
        <p:spPr>
          <a:xfrm>
            <a:off x="6127651" y="2767269"/>
            <a:ext cx="259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students have a book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06BEE-B5B0-433C-CDD7-ECB1CC20AD6A}"/>
              </a:ext>
            </a:extLst>
          </p:cNvPr>
          <p:cNvSpPr txBox="1"/>
          <p:nvPr/>
        </p:nvSpPr>
        <p:spPr>
          <a:xfrm>
            <a:off x="869851" y="3491093"/>
            <a:ext cx="2332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G(x) = x  is even</a:t>
            </a:r>
            <a:br>
              <a:rPr lang="en-US" dirty="0"/>
            </a:br>
            <a:r>
              <a:rPr lang="en-US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∃ </a:t>
            </a:r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x, y ∈</a:t>
            </a:r>
            <a:r>
              <a:rPr lang="en-US" dirty="0"/>
              <a:t> </a:t>
            </a:r>
            <a:r>
              <a:rPr lang="en-US" dirty="0" err="1"/>
              <a:t>ℤ</a:t>
            </a:r>
            <a:r>
              <a:rPr lang="en-US" dirty="0"/>
              <a:t>, (G(x) V G(y))</a:t>
            </a:r>
          </a:p>
        </p:txBody>
      </p:sp>
    </p:spTree>
    <p:extLst>
      <p:ext uri="{BB962C8B-B14F-4D97-AF65-F5344CB8AC3E}">
        <p14:creationId xmlns:p14="http://schemas.microsoft.com/office/powerpoint/2010/main" val="137760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0A13-3061-B2A4-C993-6F10AFE5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13C4-349D-B2ED-66C5-5A854F982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7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Every integer that is not odd is even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67DB0A-0966-3D94-0B62-7FE5BEF6B45E}"/>
              </a:ext>
            </a:extLst>
          </p:cNvPr>
          <p:cNvCxnSpPr>
            <a:cxnSpLocks/>
          </p:cNvCxnSpPr>
          <p:nvPr/>
        </p:nvCxnSpPr>
        <p:spPr>
          <a:xfrm>
            <a:off x="994611" y="2646947"/>
            <a:ext cx="14598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4780B4-DEB9-742D-4108-AB757DE8547C}"/>
              </a:ext>
            </a:extLst>
          </p:cNvPr>
          <p:cNvCxnSpPr>
            <a:cxnSpLocks/>
          </p:cNvCxnSpPr>
          <p:nvPr/>
        </p:nvCxnSpPr>
        <p:spPr>
          <a:xfrm>
            <a:off x="2719137" y="2646947"/>
            <a:ext cx="193307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D41C31-95DF-2533-84A2-87AE8911D147}"/>
              </a:ext>
            </a:extLst>
          </p:cNvPr>
          <p:cNvCxnSpPr>
            <a:cxnSpLocks/>
          </p:cNvCxnSpPr>
          <p:nvPr/>
        </p:nvCxnSpPr>
        <p:spPr>
          <a:xfrm>
            <a:off x="6906126" y="2646947"/>
            <a:ext cx="215766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31F8C0-E281-D4AE-F75E-B411038AF456}"/>
              </a:ext>
            </a:extLst>
          </p:cNvPr>
          <p:cNvCxnSpPr>
            <a:cxnSpLocks/>
          </p:cNvCxnSpPr>
          <p:nvPr/>
        </p:nvCxnSpPr>
        <p:spPr>
          <a:xfrm>
            <a:off x="9893969" y="2646947"/>
            <a:ext cx="130342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F72B16-0454-29F6-0E9E-783EEA60898D}"/>
              </a:ext>
            </a:extLst>
          </p:cNvPr>
          <p:cNvSpPr txBox="1"/>
          <p:nvPr/>
        </p:nvSpPr>
        <p:spPr>
          <a:xfrm>
            <a:off x="1211179" y="3013501"/>
            <a:ext cx="51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FBD7D-8EE4-673D-BEF5-064EA77EB0B0}"/>
              </a:ext>
            </a:extLst>
          </p:cNvPr>
          <p:cNvSpPr txBox="1"/>
          <p:nvPr/>
        </p:nvSpPr>
        <p:spPr>
          <a:xfrm>
            <a:off x="2719137" y="3013500"/>
            <a:ext cx="1604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+mn-lt"/>
                <a:ea typeface="Baskerville" panose="02020502070401020303" pitchFamily="18" charset="0"/>
                <a:cs typeface="Angsana New" panose="02020603050405020304" pitchFamily="18" charset="-34"/>
              </a:rPr>
              <a:t>x</a:t>
            </a:r>
            <a:r>
              <a:rPr lang="en-US" sz="4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∈ </a:t>
            </a:r>
            <a:r>
              <a:rPr lang="en-US" sz="4800" dirty="0" err="1"/>
              <a:t>ℤ</a:t>
            </a:r>
            <a:r>
              <a:rPr lang="en-US" sz="4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</a:t>
            </a:r>
            <a:endParaRPr lang="en-US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D0ACAB-233A-7A5D-5F76-0A22BA704EC8}"/>
              </a:ext>
            </a:extLst>
          </p:cNvPr>
          <p:cNvSpPr txBox="1"/>
          <p:nvPr/>
        </p:nvSpPr>
        <p:spPr>
          <a:xfrm>
            <a:off x="6653464" y="3013499"/>
            <a:ext cx="24303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P(x) =</a:t>
            </a:r>
            <a:br>
              <a:rPr lang="en-US" sz="4800" dirty="0"/>
            </a:br>
            <a:r>
              <a:rPr lang="en-US" sz="4800" dirty="0"/>
              <a:t> x is odd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3375C-6E37-3E73-1739-593BBA8767D1}"/>
              </a:ext>
            </a:extLst>
          </p:cNvPr>
          <p:cNvSpPr txBox="1"/>
          <p:nvPr/>
        </p:nvSpPr>
        <p:spPr>
          <a:xfrm>
            <a:off x="9893969" y="3013499"/>
            <a:ext cx="1604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¬P(x)</a:t>
            </a:r>
          </a:p>
        </p:txBody>
      </p:sp>
    </p:spTree>
    <p:extLst>
      <p:ext uri="{BB962C8B-B14F-4D97-AF65-F5344CB8AC3E}">
        <p14:creationId xmlns:p14="http://schemas.microsoft.com/office/powerpoint/2010/main" val="105023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78D5-0D8E-0BDD-BE9B-55F0B75A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07E8-0353-B796-9499-EFD5C6DE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8AAA-A236-2F10-11CD-33D6805C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7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Every integer that is not odd is even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63646A-B09C-C774-41E2-681D154E2D0E}"/>
              </a:ext>
            </a:extLst>
          </p:cNvPr>
          <p:cNvCxnSpPr>
            <a:cxnSpLocks/>
          </p:cNvCxnSpPr>
          <p:nvPr/>
        </p:nvCxnSpPr>
        <p:spPr>
          <a:xfrm>
            <a:off x="994611" y="2646947"/>
            <a:ext cx="14598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0A41DF-4E2E-E3B8-85FF-375A18DE2463}"/>
              </a:ext>
            </a:extLst>
          </p:cNvPr>
          <p:cNvCxnSpPr>
            <a:cxnSpLocks/>
          </p:cNvCxnSpPr>
          <p:nvPr/>
        </p:nvCxnSpPr>
        <p:spPr>
          <a:xfrm>
            <a:off x="2719137" y="2646947"/>
            <a:ext cx="193307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07D929-3671-4F3E-3888-0A39D3D88854}"/>
              </a:ext>
            </a:extLst>
          </p:cNvPr>
          <p:cNvCxnSpPr>
            <a:cxnSpLocks/>
          </p:cNvCxnSpPr>
          <p:nvPr/>
        </p:nvCxnSpPr>
        <p:spPr>
          <a:xfrm>
            <a:off x="6906126" y="2646947"/>
            <a:ext cx="215766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D18E67-50AB-0A23-13A3-AA09A1F5D3C8}"/>
              </a:ext>
            </a:extLst>
          </p:cNvPr>
          <p:cNvCxnSpPr>
            <a:cxnSpLocks/>
          </p:cNvCxnSpPr>
          <p:nvPr/>
        </p:nvCxnSpPr>
        <p:spPr>
          <a:xfrm>
            <a:off x="9893969" y="2646947"/>
            <a:ext cx="130342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B035C1-5307-0E13-C9C6-C75A6A6952C9}"/>
              </a:ext>
            </a:extLst>
          </p:cNvPr>
          <p:cNvSpPr txBox="1"/>
          <p:nvPr/>
        </p:nvSpPr>
        <p:spPr>
          <a:xfrm>
            <a:off x="1002632" y="4497758"/>
            <a:ext cx="51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4B487-3485-1123-87CF-97AA90EA583E}"/>
              </a:ext>
            </a:extLst>
          </p:cNvPr>
          <p:cNvSpPr txBox="1"/>
          <p:nvPr/>
        </p:nvSpPr>
        <p:spPr>
          <a:xfrm>
            <a:off x="1917031" y="4497757"/>
            <a:ext cx="1604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+mn-lt"/>
                <a:ea typeface="Baskerville" panose="02020502070401020303" pitchFamily="18" charset="0"/>
                <a:cs typeface="Angsana New" panose="02020603050405020304" pitchFamily="18" charset="-34"/>
              </a:rPr>
              <a:t>x</a:t>
            </a:r>
            <a:r>
              <a:rPr lang="en-US" sz="4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∈ </a:t>
            </a:r>
            <a:r>
              <a:rPr lang="en-US" sz="4800" dirty="0" err="1"/>
              <a:t>ℤ</a:t>
            </a:r>
            <a:r>
              <a:rPr lang="en-US" sz="4800" dirty="0"/>
              <a:t>,</a:t>
            </a:r>
            <a:r>
              <a:rPr lang="en-US" sz="4800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 </a:t>
            </a:r>
            <a:endParaRPr lang="en-US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E8F3E-A54F-6967-0E1C-4FFB43F8E55C}"/>
              </a:ext>
            </a:extLst>
          </p:cNvPr>
          <p:cNvSpPr txBox="1"/>
          <p:nvPr/>
        </p:nvSpPr>
        <p:spPr>
          <a:xfrm>
            <a:off x="1022685" y="3618633"/>
            <a:ext cx="8081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Let P(x) = x is odd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74AD3-42C1-63E8-2D15-EBD0CEF6B1EA}"/>
              </a:ext>
            </a:extLst>
          </p:cNvPr>
          <p:cNvSpPr txBox="1"/>
          <p:nvPr/>
        </p:nvSpPr>
        <p:spPr>
          <a:xfrm>
            <a:off x="3521242" y="4455598"/>
            <a:ext cx="38059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¬P(x) </a:t>
            </a:r>
            <a:r>
              <a:rPr lang="en-US" sz="4800" dirty="0">
                <a:sym typeface="Wingdings" pitchFamily="2" charset="2"/>
              </a:rPr>
              <a:t> P(X)</a:t>
            </a:r>
            <a:endParaRPr lang="en-US" sz="4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E56AE88-C142-6E09-0988-CBDB1134F0BF}"/>
              </a:ext>
            </a:extLst>
          </p:cNvPr>
          <p:cNvSpPr txBox="1">
            <a:spLocks/>
          </p:cNvSpPr>
          <p:nvPr/>
        </p:nvSpPr>
        <p:spPr>
          <a:xfrm>
            <a:off x="838200" y="5548151"/>
            <a:ext cx="10515600" cy="11878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5400" dirty="0"/>
              <a:t>For all integers, if a number X is not odd, then it is even</a:t>
            </a:r>
          </a:p>
        </p:txBody>
      </p:sp>
    </p:spTree>
    <p:extLst>
      <p:ext uri="{BB962C8B-B14F-4D97-AF65-F5344CB8AC3E}">
        <p14:creationId xmlns:p14="http://schemas.microsoft.com/office/powerpoint/2010/main" val="20097314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FAD7-9F0B-510F-C491-B05C0013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 fontScale="90000"/>
          </a:bodyPr>
          <a:lstStyle/>
          <a:p>
            <a:r>
              <a:rPr lang="en-US" dirty="0"/>
              <a:t>More practice together</a:t>
            </a:r>
            <a:br>
              <a:rPr lang="en-US" dirty="0"/>
            </a:br>
            <a:r>
              <a:rPr lang="en-US" dirty="0"/>
              <a:t>Given any two rational numbers a and b, the product a*b is rational.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1565-D338-CE1B-43A6-0798E7316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02088"/>
            <a:ext cx="10515600" cy="4351338"/>
          </a:xfrm>
        </p:spPr>
        <p:txBody>
          <a:bodyPr/>
          <a:lstStyle/>
          <a:p>
            <a:r>
              <a:rPr lang="en-US" dirty="0"/>
              <a:t>Any = ∀</a:t>
            </a:r>
          </a:p>
          <a:p>
            <a:r>
              <a:rPr lang="en-US" dirty="0"/>
              <a:t>2 variables that are in the set of rational numbers = </a:t>
            </a:r>
            <a:r>
              <a:rPr lang="en-US" dirty="0" err="1"/>
              <a:t>a,b</a:t>
            </a:r>
            <a:r>
              <a:rPr lang="en-US" dirty="0"/>
              <a:t> </a:t>
            </a:r>
            <a:r>
              <a:rPr lang="en-US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∈ </a:t>
            </a:r>
            <a:r>
              <a:rPr lang="en-US" dirty="0" err="1"/>
              <a:t>ℚ</a:t>
            </a:r>
            <a:endParaRPr lang="en-US" dirty="0"/>
          </a:p>
          <a:p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Let P(</a:t>
            </a:r>
            <a:r>
              <a:rPr lang="en-US" dirty="0" err="1">
                <a:ea typeface="Baskerville" panose="02020502070401020303" pitchFamily="18" charset="0"/>
                <a:cs typeface="Angsana New" panose="02020603050405020304" pitchFamily="18" charset="-34"/>
              </a:rPr>
              <a:t>a,b</a:t>
            </a:r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) = (a * b) </a:t>
            </a:r>
            <a:r>
              <a:rPr lang="en-US" dirty="0">
                <a:latin typeface="Angsana New" panose="02020603050405020304" pitchFamily="18" charset="-34"/>
                <a:ea typeface="Baskerville" panose="02020502070401020303" pitchFamily="18" charset="0"/>
                <a:cs typeface="Angsana New" panose="02020603050405020304" pitchFamily="18" charset="-34"/>
              </a:rPr>
              <a:t>∈ </a:t>
            </a:r>
            <a:r>
              <a:rPr lang="en-US" dirty="0" err="1"/>
              <a:t>ℚ</a:t>
            </a:r>
            <a:endParaRPr lang="en-US" dirty="0">
              <a:ea typeface="Baskerville" panose="02020502070401020303" pitchFamily="18" charset="0"/>
              <a:cs typeface="Angsana New" panose="02020603050405020304" pitchFamily="18" charset="-34"/>
            </a:endParaRPr>
          </a:p>
          <a:p>
            <a:pPr lvl="1"/>
            <a:r>
              <a:rPr lang="en-US" dirty="0">
                <a:ea typeface="Baskerville" panose="02020502070401020303" pitchFamily="18" charset="0"/>
                <a:cs typeface="Angsana New" panose="02020603050405020304" pitchFamily="18" charset="-34"/>
              </a:rPr>
              <a:t>a * b is within the set of rational numbers is a proposition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600" b="1" dirty="0"/>
              <a:t>∀ a, b ∈ </a:t>
            </a:r>
            <a:r>
              <a:rPr lang="en-US" sz="3600" b="1" dirty="0" err="1"/>
              <a:t>ℚ</a:t>
            </a:r>
            <a:r>
              <a:rPr lang="en-US" sz="3600" b="1" dirty="0"/>
              <a:t>, P(</a:t>
            </a:r>
            <a:r>
              <a:rPr lang="en-US" sz="3600" b="1" dirty="0" err="1"/>
              <a:t>a,b</a:t>
            </a:r>
            <a:r>
              <a:rPr lang="en-US" sz="3600" b="1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2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2817-820A-B165-993B-5E1C051D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0C50-FFED-EDF8-F1E1-A2A71DB3C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825624"/>
            <a:ext cx="115824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all real numbers X, there exists a real number Y such that X + Y = 4</a:t>
            </a:r>
          </a:p>
          <a:p>
            <a:endParaRPr lang="en-US" dirty="0"/>
          </a:p>
          <a:p>
            <a:r>
              <a:rPr lang="en-US" dirty="0"/>
              <a:t>Let P(</a:t>
            </a:r>
            <a:r>
              <a:rPr lang="en-US" dirty="0" err="1"/>
              <a:t>x,y</a:t>
            </a:r>
            <a:r>
              <a:rPr lang="en-US" dirty="0"/>
              <a:t>) = 4</a:t>
            </a:r>
          </a:p>
          <a:p>
            <a:pPr marL="0" indent="0">
              <a:buNone/>
            </a:pPr>
            <a:r>
              <a:rPr lang="en-US" dirty="0"/>
              <a:t>   ∀</a:t>
            </a:r>
            <a:r>
              <a:rPr lang="en-US" dirty="0" err="1"/>
              <a:t>x∈ℝ</a:t>
            </a:r>
            <a:r>
              <a:rPr lang="en-US" dirty="0"/>
              <a:t>,  ∃y ∈</a:t>
            </a:r>
            <a:r>
              <a:rPr lang="en-US" dirty="0" err="1"/>
              <a:t>ℝ</a:t>
            </a:r>
            <a:r>
              <a:rPr lang="en-US" dirty="0"/>
              <a:t> , 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 that the same as saying: ∃ </a:t>
            </a:r>
            <a:r>
              <a:rPr lang="en-US" dirty="0" err="1"/>
              <a:t>x∈ℝ</a:t>
            </a:r>
            <a:r>
              <a:rPr lang="en-US" dirty="0"/>
              <a:t>, ∀y ∈</a:t>
            </a:r>
            <a:r>
              <a:rPr lang="en-US" dirty="0" err="1"/>
              <a:t>ℝ</a:t>
            </a:r>
            <a:r>
              <a:rPr lang="en-US" dirty="0"/>
              <a:t> , 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any electronic device in my house I can find a charger for it…somewhere</a:t>
            </a:r>
          </a:p>
          <a:p>
            <a:r>
              <a:rPr lang="en-US" dirty="0"/>
              <a:t>There exists a charger in my house that can work with ALL electronic devices in my house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42929-A98B-C3DA-F523-7CFF96207E41}"/>
              </a:ext>
            </a:extLst>
          </p:cNvPr>
          <p:cNvSpPr txBox="1"/>
          <p:nvPr/>
        </p:nvSpPr>
        <p:spPr>
          <a:xfrm>
            <a:off x="433137" y="4138862"/>
            <a:ext cx="9332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000" dirty="0"/>
              <a:t>There exists x ∈ R such that for all y ∈ R, x + y = 4</a:t>
            </a:r>
          </a:p>
          <a:p>
            <a:pPr lvl="1"/>
            <a:r>
              <a:rPr lang="en-US" sz="2000" dirty="0"/>
              <a:t>There exists 1 number such that it can be added to ANY number and you’ll get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00DEB-F828-F726-B77B-4B10440E6824}"/>
              </a:ext>
            </a:extLst>
          </p:cNvPr>
          <p:cNvSpPr txBox="1"/>
          <p:nvPr/>
        </p:nvSpPr>
        <p:spPr>
          <a:xfrm>
            <a:off x="9120770" y="115007"/>
            <a:ext cx="2894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of quantifiers matter!</a:t>
            </a:r>
          </a:p>
        </p:txBody>
      </p:sp>
    </p:spTree>
    <p:extLst>
      <p:ext uri="{BB962C8B-B14F-4D97-AF65-F5344CB8AC3E}">
        <p14:creationId xmlns:p14="http://schemas.microsoft.com/office/powerpoint/2010/main" val="254003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5493-E141-C75B-1199-169C6775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02A6-1EAF-D9F1-C46F-ABB514362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684836"/>
          </a:xfrm>
        </p:spPr>
        <p:txBody>
          <a:bodyPr/>
          <a:lstStyle/>
          <a:p>
            <a:r>
              <a:rPr lang="en-US" dirty="0"/>
              <a:t>Check to see if a sentence can be phrased as a conditional</a:t>
            </a:r>
          </a:p>
          <a:p>
            <a:r>
              <a:rPr lang="en-US" dirty="0"/>
              <a:t>Look for keywords like every, any, or there exists</a:t>
            </a:r>
          </a:p>
          <a:p>
            <a:r>
              <a:rPr lang="en-US" dirty="0"/>
              <a:t>Create functions to represent any propositions</a:t>
            </a:r>
          </a:p>
          <a:p>
            <a:r>
              <a:rPr lang="en-US" dirty="0"/>
              <a:t>Try translating back to make sure your English and math are logically equivalent</a:t>
            </a:r>
          </a:p>
          <a:p>
            <a:endParaRPr lang="en-US" dirty="0"/>
          </a:p>
          <a:p>
            <a:r>
              <a:rPr lang="en-US" dirty="0"/>
              <a:t>Keep in mind that our brains can correct English to get the meaning</a:t>
            </a:r>
          </a:p>
          <a:p>
            <a:pPr marL="457200" lvl="1" indent="0">
              <a:buNone/>
            </a:pPr>
            <a:r>
              <a:rPr lang="en-US" dirty="0"/>
              <a:t>   All students do not come to campus for class</a:t>
            </a:r>
          </a:p>
          <a:p>
            <a:pPr marL="457200" lvl="1" indent="0">
              <a:buNone/>
            </a:pPr>
            <a:r>
              <a:rPr lang="en-US" dirty="0"/>
              <a:t>   Really means</a:t>
            </a:r>
          </a:p>
          <a:p>
            <a:pPr marL="457200" lvl="1" indent="0">
              <a:buNone/>
            </a:pPr>
            <a:r>
              <a:rPr lang="en-US" dirty="0"/>
              <a:t>   Not all students come to campus for class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50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5E8630-5FB9-EE8C-A926-DEC51D6E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time, more practice: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03908-68D8-C7C0-17BC-0FF0F750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A is a set of numbers (with at least 2 elements in it)</a:t>
            </a:r>
          </a:p>
          <a:p>
            <a:pPr marL="0" indent="0">
              <a:buNone/>
            </a:pPr>
            <a:r>
              <a:rPr lang="en-US" sz="2800" dirty="0"/>
              <a:t>Let P(x) be some proposition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Translate the following:</a:t>
            </a:r>
          </a:p>
          <a:p>
            <a:pPr marL="457200" lvl="1" indent="0">
              <a:buNone/>
            </a:pPr>
            <a:r>
              <a:rPr lang="en-US" sz="2800" dirty="0"/>
              <a:t>	</a:t>
            </a:r>
            <a:r>
              <a:rPr lang="en-US" sz="2800" b="1" dirty="0"/>
              <a:t>∃</a:t>
            </a:r>
            <a:r>
              <a:rPr lang="en-US" sz="2800" b="1" dirty="0" err="1"/>
              <a:t>x∈A</a:t>
            </a:r>
            <a:r>
              <a:rPr lang="en-US" sz="2800" b="1" dirty="0"/>
              <a:t>, P(x) → ∀</a:t>
            </a:r>
            <a:r>
              <a:rPr lang="en-US" sz="2800" b="1" dirty="0" err="1"/>
              <a:t>y∈A</a:t>
            </a:r>
            <a:r>
              <a:rPr lang="en-US" sz="2800" b="1" dirty="0"/>
              <a:t>, P(y)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E5264-F388-571E-C59C-F0FEDA2B8997}"/>
              </a:ext>
            </a:extLst>
          </p:cNvPr>
          <p:cNvSpPr txBox="1"/>
          <p:nvPr/>
        </p:nvSpPr>
        <p:spPr>
          <a:xfrm>
            <a:off x="1764632" y="4273647"/>
            <a:ext cx="928658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If there exists an item in A with some property, then all items in A have that property</a:t>
            </a:r>
          </a:p>
        </p:txBody>
      </p:sp>
    </p:spTree>
    <p:extLst>
      <p:ext uri="{BB962C8B-B14F-4D97-AF65-F5344CB8AC3E}">
        <p14:creationId xmlns:p14="http://schemas.microsoft.com/office/powerpoint/2010/main" val="4227101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9CDC-F568-7C0A-86E0-980F747D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 so what do we </a:t>
            </a:r>
            <a:r>
              <a:rPr lang="en-US" i="1" dirty="0"/>
              <a:t>do</a:t>
            </a:r>
            <a:r>
              <a:rPr lang="en-US" dirty="0"/>
              <a:t> with all of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99D39-4E36-7884-946C-AC7DBAE4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Prove or disprove ∀ x ∈ </a:t>
            </a:r>
            <a:r>
              <a:rPr lang="en-US" dirty="0" err="1"/>
              <a:t>ℝ</a:t>
            </a:r>
            <a:r>
              <a:rPr lang="en-US" dirty="0"/>
              <a:t>, x</a:t>
            </a:r>
            <a:r>
              <a:rPr lang="en-US" baseline="30000" dirty="0"/>
              <a:t>2</a:t>
            </a:r>
            <a:r>
              <a:rPr lang="en-US" dirty="0"/>
              <a:t> &gt; 0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What does this mean in English?</a:t>
            </a:r>
          </a:p>
          <a:p>
            <a:pPr marL="514350" indent="-514350">
              <a:buAutoNum type="arabicPeriod"/>
            </a:pPr>
            <a:r>
              <a:rPr lang="en-US" dirty="0"/>
              <a:t>Let's think through some examples</a:t>
            </a:r>
          </a:p>
          <a:p>
            <a:pPr marL="971550" lvl="1" indent="-514350">
              <a:buAutoNum type="arabicPeriod"/>
            </a:pPr>
            <a:r>
              <a:rPr lang="en-US" dirty="0"/>
              <a:t>Integer (no decimal) Ex. 400 or -3</a:t>
            </a:r>
          </a:p>
          <a:p>
            <a:pPr marL="971550" lvl="1" indent="-514350">
              <a:buAutoNum type="arabicPeriod"/>
            </a:pPr>
            <a:r>
              <a:rPr lang="en-US" dirty="0"/>
              <a:t>Rational (can be a fraction) Ex. ½ or -1/3</a:t>
            </a:r>
          </a:p>
          <a:p>
            <a:pPr marL="971550" lvl="1" indent="-514350">
              <a:buAutoNum type="arabicPeriod"/>
            </a:pPr>
            <a:r>
              <a:rPr lang="en-US" dirty="0"/>
              <a:t>Irrational (can’t be a fraction) Ex. Pi</a:t>
            </a:r>
          </a:p>
          <a:p>
            <a:pPr marL="971550" lvl="1" indent="-514350">
              <a:buAutoNum type="arabicPeriod"/>
            </a:pPr>
            <a:r>
              <a:rPr lang="en-US" dirty="0"/>
              <a:t>Can be 0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0D4CAF1-FF51-5C48-5AE2-30D22FC91EC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35663500"/>
                  </p:ext>
                </p:extLst>
              </p:nvPr>
            </p:nvGraphicFramePr>
            <p:xfrm>
              <a:off x="0" y="5814756"/>
              <a:ext cx="7924800" cy="104324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81200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452495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876242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614863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0316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 err="1"/>
                            <a:t>ℝ</a:t>
                          </a:r>
                          <a:endParaRPr 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600" dirty="0"/>
                            <a:t>π</a:t>
                          </a:r>
                          <a:r>
                            <a:rPr lang="en-US" sz="16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4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4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600" dirty="0"/>
                            <a:t>3/10, 400,</a:t>
                          </a:r>
                          <a:r>
                            <a:rPr lang="en-US" sz="1600" baseline="0" dirty="0"/>
                            <a:t> 0, -3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0D4CAF1-FF51-5C48-5AE2-30D22FC91EC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35663500"/>
                  </p:ext>
                </p:extLst>
              </p:nvPr>
            </p:nvGraphicFramePr>
            <p:xfrm>
              <a:off x="0" y="5814756"/>
              <a:ext cx="7924800" cy="104324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81200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1452495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876242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2614863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4031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 err="1"/>
                            <a:t>ℝ</a:t>
                          </a:r>
                          <a:endParaRPr 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398" t="-64706" r="-1456" b="-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001D461-D615-6913-E487-673ECEB4BD68}"/>
              </a:ext>
            </a:extLst>
          </p:cNvPr>
          <p:cNvSpPr txBox="1"/>
          <p:nvPr/>
        </p:nvSpPr>
        <p:spPr>
          <a:xfrm>
            <a:off x="7218946" y="3816628"/>
            <a:ext cx="3182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400</a:t>
            </a:r>
            <a:r>
              <a:rPr lang="en-US" baseline="30000" dirty="0"/>
              <a:t>2</a:t>
            </a:r>
            <a:r>
              <a:rPr lang="en-US" dirty="0"/>
              <a:t> is positive, -3</a:t>
            </a:r>
            <a:r>
              <a:rPr lang="en-US" baseline="30000" dirty="0"/>
              <a:t>2</a:t>
            </a:r>
            <a:r>
              <a:rPr lang="en-US" dirty="0"/>
              <a:t> is positive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333B0-F33F-F42D-2391-D4C659509091}"/>
              </a:ext>
            </a:extLst>
          </p:cNvPr>
          <p:cNvSpPr txBox="1"/>
          <p:nvPr/>
        </p:nvSpPr>
        <p:spPr>
          <a:xfrm>
            <a:off x="7218946" y="4185960"/>
            <a:ext cx="456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of those examples squared are positive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42D36-06E7-9485-A4C5-687A8A973E51}"/>
              </a:ext>
            </a:extLst>
          </p:cNvPr>
          <p:cNvSpPr txBox="1"/>
          <p:nvPr/>
        </p:nvSpPr>
        <p:spPr>
          <a:xfrm>
            <a:off x="7218946" y="4555292"/>
            <a:ext cx="49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 is positive so whatever it is squared is positive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C3E2A-DCF9-C9D7-90DD-18D44B35525F}"/>
              </a:ext>
            </a:extLst>
          </p:cNvPr>
          <p:cNvSpPr txBox="1"/>
          <p:nvPr/>
        </p:nvSpPr>
        <p:spPr>
          <a:xfrm>
            <a:off x="7234988" y="4949053"/>
            <a:ext cx="1430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2</a:t>
            </a:r>
            <a:r>
              <a:rPr lang="en-US" dirty="0"/>
              <a:t> Is….still 0</a:t>
            </a:r>
          </a:p>
        </p:txBody>
      </p:sp>
    </p:spTree>
    <p:extLst>
      <p:ext uri="{BB962C8B-B14F-4D97-AF65-F5344CB8AC3E}">
        <p14:creationId xmlns:p14="http://schemas.microsoft.com/office/powerpoint/2010/main" val="238464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E75B-7461-FA81-EF4E-4674D9BC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 ones to prove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0873A-BA04-8463-88F0-72201247C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en-US" dirty="0"/>
              <a:t>To disprove a ∀</a:t>
            </a:r>
          </a:p>
          <a:p>
            <a:pPr lvl="1"/>
            <a:r>
              <a:rPr lang="en-US" dirty="0"/>
              <a:t>Find 1 counter example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prove ∃</a:t>
            </a:r>
          </a:p>
          <a:p>
            <a:pPr lvl="1"/>
            <a:r>
              <a:rPr lang="en-US" dirty="0"/>
              <a:t>Find one example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Given some propositional function Q(x) </a:t>
            </a:r>
          </a:p>
          <a:p>
            <a:r>
              <a:rPr lang="en-US" dirty="0"/>
              <a:t>∀ x ∈ N , Q(x) is logically equivalent to saying </a:t>
            </a:r>
            <a:r>
              <a:rPr lang="en-US" b="1" dirty="0"/>
              <a:t>∀ (x ∈ N ) ⇒ Q(x) is True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031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CEF7-79B3-EDD7-A139-8FCE53E1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78075"/>
          </a:xfrm>
        </p:spPr>
        <p:txBody>
          <a:bodyPr>
            <a:normAutofit fontScale="90000"/>
          </a:bodyPr>
          <a:lstStyle/>
          <a:p>
            <a:r>
              <a:rPr lang="en-US" dirty="0"/>
              <a:t>So long as x is a legal thing for us to be talking about (aka in N)</a:t>
            </a:r>
            <a:br>
              <a:rPr lang="en-US" dirty="0"/>
            </a:br>
            <a:r>
              <a:rPr lang="en-US" dirty="0"/>
              <a:t>Then Q(x) will hold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1C85CB-F947-ED90-36B5-9C13DFF08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945691"/>
              </p:ext>
            </p:extLst>
          </p:nvPr>
        </p:nvGraphicFramePr>
        <p:xfrm>
          <a:off x="838203" y="4335074"/>
          <a:ext cx="1051559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770194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794099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94203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X  is in the set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Q(x)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(x ∈ N ) </a:t>
                      </a:r>
                      <a:r>
                        <a:rPr lang="en-US" sz="2400" b="1" dirty="0">
                          <a:sym typeface="Wingdings" pitchFamily="2" charset="2"/>
                        </a:rPr>
                        <a:t></a:t>
                      </a:r>
                      <a:r>
                        <a:rPr lang="en-US" sz="2400" b="1" dirty="0"/>
                        <a:t> Q(x)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2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83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0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6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80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4267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F2ED-9E79-7806-059A-C9852C2E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AA5A-4E62-C58F-9757-51B67C1F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prove a ∀</a:t>
            </a:r>
          </a:p>
          <a:p>
            <a:r>
              <a:rPr lang="en-US" dirty="0"/>
              <a:t>To disprove ∃</a:t>
            </a:r>
          </a:p>
          <a:p>
            <a:pPr lvl="1"/>
            <a:endParaRPr lang="en-US" dirty="0"/>
          </a:p>
          <a:p>
            <a:r>
              <a:rPr lang="en-US" dirty="0"/>
              <a:t>Either way, we can’t just find 1</a:t>
            </a:r>
          </a:p>
          <a:p>
            <a:r>
              <a:rPr lang="en-US" dirty="0"/>
              <a:t>We need to show how it works for EVERYTHING in the set we’re talking about</a:t>
            </a:r>
          </a:p>
        </p:txBody>
      </p:sp>
    </p:spTree>
    <p:extLst>
      <p:ext uri="{BB962C8B-B14F-4D97-AF65-F5344CB8AC3E}">
        <p14:creationId xmlns:p14="http://schemas.microsoft.com/office/powerpoint/2010/main" val="2841626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0F09-6563-5D83-8822-0E2BDA9C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251158"/>
          </a:xfrm>
        </p:spPr>
        <p:txBody>
          <a:bodyPr>
            <a:normAutofit/>
          </a:bodyPr>
          <a:lstStyle/>
          <a:p>
            <a:r>
              <a:rPr lang="en-US" dirty="0"/>
              <a:t>What about proving the following:</a:t>
            </a:r>
            <a:br>
              <a:rPr lang="en-US" dirty="0"/>
            </a:br>
            <a:r>
              <a:rPr lang="en-US" dirty="0"/>
              <a:t>Let A be some set of numbers</a:t>
            </a:r>
            <a:br>
              <a:rPr lang="en-US" dirty="0"/>
            </a:br>
            <a:r>
              <a:rPr lang="en-US" dirty="0"/>
              <a:t>Let P and Q be some propositional functions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Prove</a:t>
            </a:r>
            <a:br>
              <a:rPr lang="en-US" dirty="0"/>
            </a:br>
            <a:r>
              <a:rPr lang="en-US" dirty="0"/>
              <a:t>∀</a:t>
            </a:r>
            <a:r>
              <a:rPr lang="en-US" dirty="0" err="1"/>
              <a:t>x∈A</a:t>
            </a:r>
            <a:r>
              <a:rPr lang="en-US" dirty="0"/>
              <a:t>, (P(x)∧Q(x))→P(x)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9483694-C0B5-3F6D-DCE5-3AC601645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494973"/>
              </p:ext>
            </p:extLst>
          </p:nvPr>
        </p:nvGraphicFramePr>
        <p:xfrm>
          <a:off x="489318" y="4795897"/>
          <a:ext cx="11213364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Checkbox Checked with solid fill">
            <a:extLst>
              <a:ext uri="{FF2B5EF4-FFF2-40B4-BE49-F238E27FC236}">
                <a16:creationId xmlns:a16="http://schemas.microsoft.com/office/drawing/2014/main" id="{399B524C-3E20-F33E-8E1F-75768A1295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18" y="44797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6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6E2C-9D36-8AA9-A37F-46309AB0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262"/>
            <a:ext cx="105156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6DAE-100E-325D-686D-1A51FBDFD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158"/>
            <a:ext cx="10515600" cy="4130842"/>
          </a:xfrm>
        </p:spPr>
        <p:txBody>
          <a:bodyPr/>
          <a:lstStyle/>
          <a:p>
            <a:r>
              <a:rPr lang="en-US" dirty="0"/>
              <a:t>For number x that is in A, P(x) will either be a true or false statement.  Same for Q</a:t>
            </a:r>
          </a:p>
          <a:p>
            <a:pPr lvl="1"/>
            <a:r>
              <a:rPr lang="en-US" dirty="0"/>
              <a:t>That’s how predicates work</a:t>
            </a:r>
          </a:p>
          <a:p>
            <a:r>
              <a:rPr lang="en-US" dirty="0"/>
              <a:t>Therefore, we can create 2 propositional statements</a:t>
            </a:r>
          </a:p>
          <a:p>
            <a:pPr lvl="1"/>
            <a:r>
              <a:rPr lang="en-US" dirty="0"/>
              <a:t>A = P(x) is True</a:t>
            </a:r>
          </a:p>
          <a:p>
            <a:pPr lvl="1"/>
            <a:r>
              <a:rPr lang="en-US" dirty="0"/>
              <a:t>B = Q(x) is True</a:t>
            </a:r>
          </a:p>
          <a:p>
            <a:r>
              <a:rPr lang="en-US" dirty="0"/>
              <a:t>Thus, this can be translated as A ∧ B </a:t>
            </a:r>
            <a:r>
              <a:rPr lang="en-US" dirty="0">
                <a:sym typeface="Wingdings" pitchFamily="2" charset="2"/>
              </a:rPr>
              <a:t> A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994CA5-4D98-1383-0F98-76C2933C87BF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2606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 A be some set of numbers</a:t>
            </a:r>
            <a:br>
              <a:rPr lang="en-US" sz="3200" dirty="0"/>
            </a:br>
            <a:r>
              <a:rPr lang="en-US" sz="3200" dirty="0"/>
              <a:t>Let P and Q be some propositional functions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Prove</a:t>
            </a:r>
            <a:br>
              <a:rPr lang="en-US" sz="3200" dirty="0"/>
            </a:br>
            <a:r>
              <a:rPr lang="en-US" sz="3200" dirty="0"/>
              <a:t>∀</a:t>
            </a:r>
            <a:r>
              <a:rPr lang="en-US" sz="3200" dirty="0" err="1"/>
              <a:t>x∈A</a:t>
            </a:r>
            <a:r>
              <a:rPr lang="en-US" sz="3200" dirty="0"/>
              <a:t>, (P(x)∧Q(x))→P(x)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96B13-33EF-148B-F03A-FF4D5F58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565"/>
          <a:stretch>
            <a:fillRect/>
          </a:stretch>
        </p:blipFill>
        <p:spPr>
          <a:xfrm>
            <a:off x="7881972" y="4932490"/>
            <a:ext cx="4951712" cy="150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583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9362-B504-08C2-E44E-5601CBA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D0DA-4816-FD76-F80D-F3AE2D83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262"/>
            <a:ext cx="105156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E7AF-596C-79E3-A1D8-FF4FC418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158"/>
            <a:ext cx="10515600" cy="4130842"/>
          </a:xfrm>
        </p:spPr>
        <p:txBody>
          <a:bodyPr/>
          <a:lstStyle/>
          <a:p>
            <a:r>
              <a:rPr lang="en-US" dirty="0"/>
              <a:t>For number x that is in A, P(x) will either be a true or false statement.  Same for Q</a:t>
            </a:r>
          </a:p>
          <a:p>
            <a:pPr lvl="1"/>
            <a:r>
              <a:rPr lang="en-US" dirty="0"/>
              <a:t>That’s how predicates work</a:t>
            </a:r>
          </a:p>
          <a:p>
            <a:r>
              <a:rPr lang="en-US" dirty="0"/>
              <a:t>Therefore, we can create 2 propositional statements</a:t>
            </a:r>
          </a:p>
          <a:p>
            <a:pPr lvl="1"/>
            <a:r>
              <a:rPr lang="en-US" dirty="0"/>
              <a:t>W = P(x) is True</a:t>
            </a:r>
          </a:p>
          <a:p>
            <a:pPr lvl="1"/>
            <a:r>
              <a:rPr lang="en-US" dirty="0"/>
              <a:t>Z = Q(x) is True</a:t>
            </a:r>
          </a:p>
          <a:p>
            <a:r>
              <a:rPr lang="en-US" dirty="0"/>
              <a:t>Thus, this can be translated as W ∧ Z </a:t>
            </a:r>
            <a:r>
              <a:rPr lang="en-US" dirty="0">
                <a:sym typeface="Wingdings" pitchFamily="2" charset="2"/>
              </a:rPr>
              <a:t> W</a:t>
            </a:r>
          </a:p>
          <a:p>
            <a:r>
              <a:rPr lang="en-US" dirty="0">
                <a:sym typeface="Wingdings" pitchFamily="2" charset="2"/>
              </a:rPr>
              <a:t>That all elements of A fit the above statement…</a:t>
            </a:r>
          </a:p>
          <a:p>
            <a:pPr lvl="1"/>
            <a:r>
              <a:rPr lang="en-US" dirty="0"/>
              <a:t>We need to prove W ∧ Z </a:t>
            </a:r>
            <a:r>
              <a:rPr lang="en-US" dirty="0">
                <a:sym typeface="Wingdings" pitchFamily="2" charset="2"/>
              </a:rPr>
              <a:t> W is a tautology (always true)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1837BE-11B5-6392-E2AC-BD4EC29EFB45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2606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 A be some set of numbers</a:t>
            </a:r>
            <a:br>
              <a:rPr lang="en-US" sz="3200" dirty="0"/>
            </a:br>
            <a:r>
              <a:rPr lang="en-US" sz="3200" dirty="0"/>
              <a:t>Let P and Q be some propositional functions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Prove</a:t>
            </a:r>
            <a:br>
              <a:rPr lang="en-US" sz="3200" dirty="0"/>
            </a:br>
            <a:r>
              <a:rPr lang="en-US" sz="3200" dirty="0"/>
              <a:t>∀</a:t>
            </a:r>
            <a:r>
              <a:rPr lang="en-US" sz="3200" dirty="0" err="1"/>
              <a:t>x∈A</a:t>
            </a:r>
            <a:r>
              <a:rPr lang="en-US" sz="3200" dirty="0"/>
              <a:t>, (P(x)∧Q(x))→P(x)</a:t>
            </a:r>
          </a:p>
        </p:txBody>
      </p:sp>
    </p:spTree>
    <p:extLst>
      <p:ext uri="{BB962C8B-B14F-4D97-AF65-F5344CB8AC3E}">
        <p14:creationId xmlns:p14="http://schemas.microsoft.com/office/powerpoint/2010/main" val="362073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1F9F-8317-2292-3E6D-19ABE79D6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A ∧ B </a:t>
            </a:r>
            <a:r>
              <a:rPr lang="en-US" dirty="0">
                <a:sym typeface="Wingdings" pitchFamily="2" charset="2"/>
              </a:rPr>
              <a:t> W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is a tautology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CB3085-070C-A789-FDEE-C63FB119AA6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8676185"/>
              </p:ext>
            </p:extLst>
          </p:nvPr>
        </p:nvGraphicFramePr>
        <p:xfrm>
          <a:off x="824864" y="2139883"/>
          <a:ext cx="4376805" cy="4001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3">
                  <a:extLst>
                    <a:ext uri="{9D8B030D-6E8A-4147-A177-3AD203B41FA5}">
                      <a16:colId xmlns:a16="http://schemas.microsoft.com/office/drawing/2014/main" val="1782482847"/>
                    </a:ext>
                  </a:extLst>
                </a:gridCol>
                <a:gridCol w="778203">
                  <a:extLst>
                    <a:ext uri="{9D8B030D-6E8A-4147-A177-3AD203B41FA5}">
                      <a16:colId xmlns:a16="http://schemas.microsoft.com/office/drawing/2014/main" val="366751367"/>
                    </a:ext>
                  </a:extLst>
                </a:gridCol>
                <a:gridCol w="2820399">
                  <a:extLst>
                    <a:ext uri="{9D8B030D-6E8A-4147-A177-3AD203B41FA5}">
                      <a16:colId xmlns:a16="http://schemas.microsoft.com/office/drawing/2014/main" val="1344223682"/>
                    </a:ext>
                  </a:extLst>
                </a:gridCol>
              </a:tblGrid>
              <a:tr h="879910">
                <a:tc>
                  <a:txBody>
                    <a:bodyPr/>
                    <a:lstStyle/>
                    <a:p>
                      <a:r>
                        <a:rPr lang="en-US" sz="28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 ∧ Z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W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547041"/>
                  </a:ext>
                </a:extLst>
              </a:tr>
              <a:tr h="170932"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T = 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351550"/>
                  </a:ext>
                </a:extLst>
              </a:tr>
              <a:tr h="867857"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T = 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920791"/>
                  </a:ext>
                </a:extLst>
              </a:tr>
              <a:tr h="867857"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F = 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28594"/>
                  </a:ext>
                </a:extLst>
              </a:tr>
              <a:tr h="867857"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 </a:t>
                      </a:r>
                      <a:r>
                        <a:rPr lang="en-US" sz="2800" dirty="0">
                          <a:sym typeface="Wingdings" pitchFamily="2" charset="2"/>
                        </a:rPr>
                        <a:t> F = 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22567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90FEA-A423-1A03-E927-914E9162E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57726"/>
            <a:ext cx="5181600" cy="5880100"/>
          </a:xfrm>
        </p:spPr>
        <p:txBody>
          <a:bodyPr/>
          <a:lstStyle/>
          <a:p>
            <a:r>
              <a:rPr lang="en-US" dirty="0"/>
              <a:t>W ∧ Z </a:t>
            </a:r>
            <a:r>
              <a:rPr lang="en-US" dirty="0">
                <a:sym typeface="Wingdings" pitchFamily="2" charset="2"/>
              </a:rPr>
              <a:t> W </a:t>
            </a:r>
            <a:r>
              <a:rPr lang="en-US" dirty="0"/>
              <a:t>≡ ¬(W ∧ Z ) V W</a:t>
            </a:r>
          </a:p>
          <a:p>
            <a:pPr marL="457200" lvl="1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¬(W ∧ Z ) V W ≡ ¬W V ¬ Z  V W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¬W V W is always True</a:t>
            </a:r>
          </a:p>
          <a:p>
            <a:endParaRPr lang="en-US" dirty="0"/>
          </a:p>
          <a:p>
            <a:r>
              <a:rPr lang="en-US" dirty="0"/>
              <a:t>True or anything is always True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1B220-52F7-C0B5-E0CD-27A6DEAF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565"/>
          <a:stretch>
            <a:fillRect/>
          </a:stretch>
        </p:blipFill>
        <p:spPr>
          <a:xfrm>
            <a:off x="6994357" y="1112546"/>
            <a:ext cx="3388911" cy="1027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A9EA99-C914-E08F-1047-E79F3117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157"/>
          <a:stretch>
            <a:fillRect/>
          </a:stretch>
        </p:blipFill>
        <p:spPr>
          <a:xfrm>
            <a:off x="6738336" y="2764886"/>
            <a:ext cx="5453664" cy="664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22FD0F-2F8D-2D6F-E8AD-9EE9BC8F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816" b="47672"/>
          <a:stretch>
            <a:fillRect/>
          </a:stretch>
        </p:blipFill>
        <p:spPr>
          <a:xfrm>
            <a:off x="6738336" y="4209872"/>
            <a:ext cx="5453664" cy="53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3FFC51-BCEA-E75D-46DA-B3BFF1444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154" b="38158"/>
          <a:stretch>
            <a:fillRect/>
          </a:stretch>
        </p:blipFill>
        <p:spPr>
          <a:xfrm>
            <a:off x="6738336" y="5368899"/>
            <a:ext cx="5453664" cy="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2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0E65-B7A2-FA1F-2BC0-A807C273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time, a few final practice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830A4-B5D9-164F-4716-980FF3CD8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Number 1 </a:t>
            </a:r>
          </a:p>
          <a:p>
            <a:pPr lvl="1"/>
            <a:r>
              <a:rPr lang="en-US" dirty="0"/>
              <a:t>Let A be a set of 3 numbers (aka A = {2, 3, 4})</a:t>
            </a:r>
          </a:p>
          <a:p>
            <a:pPr lvl="1"/>
            <a:r>
              <a:rPr lang="en-US" dirty="0"/>
              <a:t>Let P(x) = x &gt; 0</a:t>
            </a:r>
          </a:p>
          <a:p>
            <a:pPr lvl="1"/>
            <a:r>
              <a:rPr lang="en-US" dirty="0"/>
              <a:t>Prove that ∀</a:t>
            </a:r>
            <a:r>
              <a:rPr lang="en-US" dirty="0" err="1"/>
              <a:t>x∈A</a:t>
            </a:r>
            <a:r>
              <a:rPr lang="en-US" dirty="0"/>
              <a:t>, P(x)</a:t>
            </a:r>
          </a:p>
          <a:p>
            <a:pPr lvl="1"/>
            <a:r>
              <a:rPr lang="en-US" dirty="0"/>
              <a:t>(don’t overthink this one)</a:t>
            </a:r>
          </a:p>
          <a:p>
            <a:r>
              <a:rPr lang="en-US" dirty="0"/>
              <a:t>Number 2</a:t>
            </a:r>
          </a:p>
          <a:p>
            <a:pPr lvl="1"/>
            <a:r>
              <a:rPr lang="en-US" dirty="0"/>
              <a:t>Disprove the following…</a:t>
            </a:r>
          </a:p>
          <a:p>
            <a:pPr lvl="1"/>
            <a:r>
              <a:rPr lang="en-US" dirty="0"/>
              <a:t>Let P(</a:t>
            </a:r>
            <a:r>
              <a:rPr lang="en-US" dirty="0" err="1"/>
              <a:t>x,y</a:t>
            </a:r>
            <a:r>
              <a:rPr lang="en-US" dirty="0"/>
              <a:t>) = x &lt; 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∀x∈ </a:t>
            </a:r>
            <a:r>
              <a:rPr lang="en-US" dirty="0" err="1"/>
              <a:t>ℕ</a:t>
            </a:r>
            <a:r>
              <a:rPr lang="en-US" dirty="0"/>
              <a:t> ∃ y x∈ </a:t>
            </a:r>
            <a:r>
              <a:rPr lang="en-US" dirty="0" err="1"/>
              <a:t>ℕ</a:t>
            </a:r>
            <a:r>
              <a:rPr lang="en-US" dirty="0"/>
              <a:t>, P(x)</a:t>
            </a:r>
          </a:p>
          <a:p>
            <a:r>
              <a:rPr lang="en-US" dirty="0"/>
              <a:t>Number 3</a:t>
            </a:r>
          </a:p>
          <a:p>
            <a:pPr lvl="1"/>
            <a:r>
              <a:rPr lang="en-US" dirty="0"/>
              <a:t>Let S be a set of all integers EXCEPT for 0 </a:t>
            </a:r>
            <a:br>
              <a:rPr lang="en-US" dirty="0"/>
            </a:br>
            <a:r>
              <a:rPr lang="en-US" dirty="0"/>
              <a:t>Prove that if you squared any number in S, that number would be positive (aka &gt;0)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Hint: there are some external properties of how we multiply numbers that will help 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B726B209-CBCA-8862-39E5-1D0641CF4A3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78050903"/>
                  </p:ext>
                </p:extLst>
              </p:nvPr>
            </p:nvGraphicFramePr>
            <p:xfrm>
              <a:off x="6721642" y="2746167"/>
              <a:ext cx="5133475" cy="257000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83369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18147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748590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283369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err="1"/>
                            <a:t>ℕ</a:t>
                          </a:r>
                          <a:r>
                            <a:rPr 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61928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err="1"/>
                            <a:t>ℤ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ℚ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ℝ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100" dirty="0"/>
                            <a:t>π</a:t>
                          </a:r>
                          <a:r>
                            <a:rPr lang="en-US" sz="11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05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05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05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100" dirty="0"/>
                            <a:t>3/10, 400,</a:t>
                          </a:r>
                          <a:r>
                            <a:rPr lang="en-US" sz="1100" baseline="0" dirty="0"/>
                            <a:t> 0, -3</a:t>
                          </a:r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B726B209-CBCA-8862-39E5-1D0641CF4A3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78050903"/>
                  </p:ext>
                </p:extLst>
              </p:nvPr>
            </p:nvGraphicFramePr>
            <p:xfrm>
              <a:off x="6721642" y="2746167"/>
              <a:ext cx="5133475" cy="257000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83369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818147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748590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283369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err="1"/>
                            <a:t>ℕ</a:t>
                          </a:r>
                          <a:r>
                            <a:rPr 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61928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err="1"/>
                            <a:t>ℤ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ℚ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ℝ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980" t="-466667" r="-1980" b="-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960896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8197-EEE1-0E81-4A21-9AFF9491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AC993-7613-08F3-618F-2EDEB0D9A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33375" algn="l"/>
              </a:tabLst>
            </a:pPr>
            <a:r>
              <a:rPr lang="en-US" dirty="0"/>
              <a:t>Let A be a set of 3 numbers (aka A = {2, 3, 4})</a:t>
            </a:r>
          </a:p>
          <a:p>
            <a:pPr>
              <a:tabLst>
                <a:tab pos="333375" algn="l"/>
              </a:tabLst>
            </a:pPr>
            <a:r>
              <a:rPr lang="en-US" dirty="0"/>
              <a:t>Let P(x) = x &gt; 0</a:t>
            </a:r>
          </a:p>
          <a:p>
            <a:pPr>
              <a:tabLst>
                <a:tab pos="333375" algn="l"/>
              </a:tabLst>
            </a:pPr>
            <a:r>
              <a:rPr lang="en-US" dirty="0"/>
              <a:t>Prove that ∀</a:t>
            </a:r>
            <a:r>
              <a:rPr lang="en-US" dirty="0" err="1"/>
              <a:t>x∈A</a:t>
            </a:r>
            <a:r>
              <a:rPr lang="en-US" dirty="0"/>
              <a:t>, P(x)</a:t>
            </a:r>
          </a:p>
          <a:p>
            <a:pPr>
              <a:tabLst>
                <a:tab pos="333375" algn="l"/>
              </a:tabLst>
            </a:pPr>
            <a:endParaRPr lang="en-US" dirty="0"/>
          </a:p>
          <a:p>
            <a:pPr>
              <a:tabLst>
                <a:tab pos="333375" algn="l"/>
              </a:tabLst>
            </a:pPr>
            <a:r>
              <a:rPr lang="en-US" dirty="0"/>
              <a:t>Simple enough to do without much formal logic</a:t>
            </a:r>
          </a:p>
          <a:p>
            <a:pPr lvl="1">
              <a:tabLst>
                <a:tab pos="333375" algn="l"/>
              </a:tabLst>
            </a:pPr>
            <a:r>
              <a:rPr lang="en-US" dirty="0"/>
              <a:t>2 &gt; 0</a:t>
            </a:r>
          </a:p>
          <a:p>
            <a:pPr lvl="1">
              <a:tabLst>
                <a:tab pos="333375" algn="l"/>
              </a:tabLst>
            </a:pPr>
            <a:r>
              <a:rPr lang="en-US" dirty="0"/>
              <a:t>3 &gt; 0</a:t>
            </a:r>
          </a:p>
          <a:p>
            <a:pPr lvl="1">
              <a:tabLst>
                <a:tab pos="333375" algn="l"/>
              </a:tabLst>
            </a:pPr>
            <a:r>
              <a:rPr lang="en-US" dirty="0"/>
              <a:t>4 &gt; 0</a:t>
            </a:r>
          </a:p>
          <a:p>
            <a:pPr lvl="1">
              <a:tabLst>
                <a:tab pos="333375" algn="l"/>
              </a:tabLst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014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563D-5EE0-D42C-92EC-6F8CAF5B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2: Disprove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82F6-B85E-D793-4EEE-0502A9F4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P(</a:t>
            </a:r>
            <a:r>
              <a:rPr lang="en-US" dirty="0" err="1"/>
              <a:t>x,y</a:t>
            </a:r>
            <a:r>
              <a:rPr lang="en-US" dirty="0"/>
              <a:t>) = x &lt; 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∀x∈ </a:t>
            </a:r>
            <a:r>
              <a:rPr lang="en-US" dirty="0" err="1"/>
              <a:t>ℕ</a:t>
            </a:r>
            <a:r>
              <a:rPr lang="en-US" dirty="0"/>
              <a:t> ∃ y x∈ </a:t>
            </a:r>
            <a:r>
              <a:rPr lang="en-US" dirty="0" err="1"/>
              <a:t>ℕ</a:t>
            </a:r>
            <a:r>
              <a:rPr lang="en-US" dirty="0"/>
              <a:t>, P(x)</a:t>
            </a:r>
          </a:p>
          <a:p>
            <a:endParaRPr lang="en-US" dirty="0"/>
          </a:p>
          <a:p>
            <a:r>
              <a:rPr lang="en-US" dirty="0"/>
              <a:t>Smallest natural number is 1</a:t>
            </a:r>
          </a:p>
          <a:p>
            <a:r>
              <a:rPr lang="en-US" dirty="0"/>
              <a:t>So let's say x = 1</a:t>
            </a:r>
          </a:p>
          <a:p>
            <a:r>
              <a:rPr lang="en-US" dirty="0"/>
              <a:t>We can’t go SMALLER so let's say y is also 1</a:t>
            </a:r>
          </a:p>
          <a:p>
            <a:endParaRPr lang="en-US" dirty="0"/>
          </a:p>
          <a:p>
            <a:r>
              <a:rPr lang="en-US" b="1" dirty="0"/>
              <a:t>P(1, 1) is false because x isn’t smaller than y</a:t>
            </a:r>
          </a:p>
          <a:p>
            <a:r>
              <a:rPr lang="en-US" dirty="0"/>
              <a:t>Therefore the whole statement is disproven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D4A965D-4959-F7D9-EEC0-FF7DCF94C74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15665558"/>
                  </p:ext>
                </p:extLst>
              </p:nvPr>
            </p:nvGraphicFramePr>
            <p:xfrm>
              <a:off x="7058525" y="0"/>
              <a:ext cx="5133475" cy="30731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83369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940888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625849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283369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3604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err="1"/>
                            <a:t>ℕ</a:t>
                          </a:r>
                          <a:r>
                            <a:rPr 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619283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err="1"/>
                            <a:t>ℤ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ℚ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45507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ℝ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1400" dirty="0"/>
                            <a:t>π</a:t>
                          </a:r>
                          <a:r>
                            <a:rPr lang="en-US" sz="1400" dirty="0"/>
                            <a:t>,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20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</a:rPr>
                            <a:t>, </a:t>
                          </a:r>
                          <a:r>
                            <a:rPr lang="en-US" sz="1400" dirty="0"/>
                            <a:t>3/10, 400,</a:t>
                          </a:r>
                          <a:r>
                            <a:rPr lang="en-US" sz="1400" baseline="0" dirty="0"/>
                            <a:t> 0, -3</a:t>
                          </a:r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BD4A965D-4959-F7D9-EEC0-FF7DCF94C74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15665558"/>
                  </p:ext>
                </p:extLst>
              </p:nvPr>
            </p:nvGraphicFramePr>
            <p:xfrm>
              <a:off x="7058525" y="0"/>
              <a:ext cx="5133475" cy="30731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83369">
                      <a:extLst>
                        <a:ext uri="{9D8B030D-6E8A-4147-A177-3AD203B41FA5}">
                          <a16:colId xmlns:a16="http://schemas.microsoft.com/office/drawing/2014/main" val="847200756"/>
                        </a:ext>
                      </a:extLst>
                    </a:gridCol>
                    <a:gridCol w="940888">
                      <a:extLst>
                        <a:ext uri="{9D8B030D-6E8A-4147-A177-3AD203B41FA5}">
                          <a16:colId xmlns:a16="http://schemas.microsoft.com/office/drawing/2014/main" val="1948832487"/>
                        </a:ext>
                      </a:extLst>
                    </a:gridCol>
                    <a:gridCol w="1625849">
                      <a:extLst>
                        <a:ext uri="{9D8B030D-6E8A-4147-A177-3AD203B41FA5}">
                          <a16:colId xmlns:a16="http://schemas.microsoft.com/office/drawing/2014/main" val="2744395489"/>
                        </a:ext>
                      </a:extLst>
                    </a:gridCol>
                    <a:gridCol w="1283369">
                      <a:extLst>
                        <a:ext uri="{9D8B030D-6E8A-4147-A177-3AD203B41FA5}">
                          <a16:colId xmlns:a16="http://schemas.microsoft.com/office/drawing/2014/main" val="904331429"/>
                        </a:ext>
                      </a:extLst>
                    </a:gridCol>
                  </a:tblGrid>
                  <a:tr h="3604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Symbol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87878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Natural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err="1"/>
                            <a:t>ℕ</a:t>
                          </a:r>
                          <a:r>
                            <a:rPr 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Positive Whole numbers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1, 2, 3 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08309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Integers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err="1"/>
                            <a:t>ℤ</a:t>
                          </a:r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Positive whole numbers, negative whole numbers, and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-3, -2, -1, 0, 1, 2, 3…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48300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Rational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ℚ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Any number that can be expressed as a 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5, 1/10, 2/3, 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5136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ℝ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Any number on the number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980" t="-495122" r="-2970" b="-14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5014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1523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6062-5975-8DD1-F9D7-EE43E034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Number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304E8-E30A-8D81-5B1B-45BF41961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738"/>
            <a:ext cx="10515600" cy="58152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 S be a set of all integers EXCEPT for 0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Prove that if you squared any number in S, that number would be greater than 0</a:t>
            </a:r>
          </a:p>
          <a:p>
            <a:pPr lvl="1"/>
            <a:r>
              <a:rPr lang="en-US" dirty="0"/>
              <a:t>Integers are, by definition: positive whole numbers, negative whole numbers, and 0.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is all positive whole numbers and negative whole numbers but not 0</a:t>
            </a:r>
          </a:p>
          <a:p>
            <a:endParaRPr lang="en-US" dirty="0"/>
          </a:p>
          <a:p>
            <a:r>
              <a:rPr lang="en-US" dirty="0"/>
              <a:t>let's assume we have some random negative whole number N</a:t>
            </a:r>
          </a:p>
          <a:p>
            <a:pPr lvl="1"/>
            <a:r>
              <a:rPr lang="en-US" dirty="0"/>
              <a:t>A negative number times a negative number is always positive</a:t>
            </a:r>
          </a:p>
          <a:p>
            <a:r>
              <a:rPr lang="en-US" dirty="0"/>
              <a:t>Let's then assume we have some random Positive number</a:t>
            </a:r>
          </a:p>
          <a:p>
            <a:pPr lvl="1"/>
            <a:r>
              <a:rPr lang="en-US" dirty="0"/>
              <a:t>A positive number times a positive number is always positive</a:t>
            </a:r>
          </a:p>
          <a:p>
            <a:r>
              <a:rPr lang="en-US" dirty="0"/>
              <a:t>Therefore, since we only have positive and negative numbers,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∀</a:t>
            </a:r>
            <a:r>
              <a:rPr lang="en-US" b="1" dirty="0" err="1"/>
              <a:t>x∈S</a:t>
            </a:r>
            <a:r>
              <a:rPr lang="en-US" b="1" dirty="0"/>
              <a:t>, x</a:t>
            </a:r>
            <a:r>
              <a:rPr lang="en-US" b="1" baseline="30000" dirty="0"/>
              <a:t>2</a:t>
            </a:r>
            <a:r>
              <a:rPr lang="en-US" b="1" dirty="0"/>
              <a:t> &gt; 0</a:t>
            </a:r>
          </a:p>
        </p:txBody>
      </p:sp>
    </p:spTree>
    <p:extLst>
      <p:ext uri="{BB962C8B-B14F-4D97-AF65-F5344CB8AC3E}">
        <p14:creationId xmlns:p14="http://schemas.microsoft.com/office/powerpoint/2010/main" val="293542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8642</TotalTime>
  <Words>5570</Words>
  <Application>Microsoft Macintosh PowerPoint</Application>
  <PresentationFormat>Widescreen</PresentationFormat>
  <Paragraphs>1125</Paragraphs>
  <Slides>66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Angsana New</vt:lpstr>
      <vt:lpstr>Aptos</vt:lpstr>
      <vt:lpstr>Aptos Display</vt:lpstr>
      <vt:lpstr>Arial</vt:lpstr>
      <vt:lpstr>Baskerville</vt:lpstr>
      <vt:lpstr>Cambria Math</vt:lpstr>
      <vt:lpstr>Symbol</vt:lpstr>
      <vt:lpstr>Wingdings</vt:lpstr>
      <vt:lpstr>Office Theme</vt:lpstr>
      <vt:lpstr>Discrete Math Lecture 2</vt:lpstr>
      <vt:lpstr>Quiz</vt:lpstr>
      <vt:lpstr>Last week: Propositional Logic and Equivalence Proofs</vt:lpstr>
      <vt:lpstr>A refresher on the bigger issue here</vt:lpstr>
      <vt:lpstr>It’s similar to testing a program</vt:lpstr>
      <vt:lpstr>This week: Adding to our vocabulary</vt:lpstr>
      <vt:lpstr>Starting with Predicate Logic</vt:lpstr>
      <vt:lpstr>Conditional statements</vt:lpstr>
      <vt:lpstr>If I am elected, then I will lower taxes.</vt:lpstr>
      <vt:lpstr>Truth table may not be intuitive</vt:lpstr>
      <vt:lpstr>Drills</vt:lpstr>
      <vt:lpstr>Translate the following sentences into conditional logic</vt:lpstr>
      <vt:lpstr>Combining conditionals with our other statements: Is (P ∧ Q )  R ≡ P  Q  R</vt:lpstr>
      <vt:lpstr>Combining conditionals with our other statements: Is (P ∧ Q )  R ≡ P  (Q  R)</vt:lpstr>
      <vt:lpstr>Combining conditionals with our other statements: Is (P ∧ Q )  R ≡ P  (Q  R)</vt:lpstr>
      <vt:lpstr>Combining conditionals with our other statements: Is (P ∧ Q )  R ≡ P  (Q  R)</vt:lpstr>
      <vt:lpstr>Adding conditionals into Equivalence proofs</vt:lpstr>
      <vt:lpstr> Logical Equivalence:  Show that (P ∧ Q )  P ≡ True </vt:lpstr>
      <vt:lpstr>P  Q ≡  Q  P?</vt:lpstr>
      <vt:lpstr>Converse, Inverse, and Contrapositive </vt:lpstr>
      <vt:lpstr>Truth tables</vt:lpstr>
      <vt:lpstr>Anything logically equivalent?</vt:lpstr>
      <vt:lpstr>Biconditionals</vt:lpstr>
      <vt:lpstr>Biconditionals P          Q</vt:lpstr>
      <vt:lpstr>Conditional and Biconditional practice</vt:lpstr>
      <vt:lpstr>¬ ( P  Q)</vt:lpstr>
      <vt:lpstr>PowerPoint Presentation</vt:lpstr>
      <vt:lpstr>Q ∧ ¬P   R</vt:lpstr>
      <vt:lpstr>The garbage truck comes down my street if and only if it is Thursday morning</vt:lpstr>
      <vt:lpstr>Order of Operations Practice</vt:lpstr>
      <vt:lpstr>PowerPoint Presentation</vt:lpstr>
      <vt:lpstr>P V Q ∧ ¬R ≡ (P V Q) ∧ ¬R) </vt:lpstr>
      <vt:lpstr>This is a lot</vt:lpstr>
      <vt:lpstr>Other types of predicates</vt:lpstr>
      <vt:lpstr>Brief aside to remember high school algebra </vt:lpstr>
      <vt:lpstr>Expanding our vocabulary in a new way</vt:lpstr>
      <vt:lpstr>First: Language to talk about groups of things</vt:lpstr>
      <vt:lpstr>Common sets of numbers</vt:lpstr>
      <vt:lpstr>4 to pay attention to right now…</vt:lpstr>
      <vt:lpstr>Starting to translate our sentence </vt:lpstr>
      <vt:lpstr>Quantifiers</vt:lpstr>
      <vt:lpstr>Back to Propositional Functions</vt:lpstr>
      <vt:lpstr>One more time</vt:lpstr>
      <vt:lpstr>PowerPoint Presentation</vt:lpstr>
      <vt:lpstr>Note, statements with quantifiers don’t have to be True</vt:lpstr>
      <vt:lpstr>Here’s some more false ones</vt:lpstr>
      <vt:lpstr>How about a less “math” set</vt:lpstr>
      <vt:lpstr>More practice</vt:lpstr>
      <vt:lpstr>Putting it all together</vt:lpstr>
      <vt:lpstr>Putting it all together</vt:lpstr>
      <vt:lpstr>More practice together Given any two rational numbers a and b, the product a*b is rational.</vt:lpstr>
      <vt:lpstr>Mixed quantifiers</vt:lpstr>
      <vt:lpstr>Translation</vt:lpstr>
      <vt:lpstr>If time, more practice:</vt:lpstr>
      <vt:lpstr>Ok so what do we do with all of this</vt:lpstr>
      <vt:lpstr>The simple ones to prove </vt:lpstr>
      <vt:lpstr>So long as x is a legal thing for us to be talking about (aka in N) Then Q(x) will hold </vt:lpstr>
      <vt:lpstr>Harder…</vt:lpstr>
      <vt:lpstr>What about proving the following: Let A be some set of numbers Let P and Q be some propositional functions  Prove ∀x∈A, (P(x)∧Q(x))→P(x)</vt:lpstr>
      <vt:lpstr> </vt:lpstr>
      <vt:lpstr> </vt:lpstr>
      <vt:lpstr>Prove A ∧ B  W  is a tautology</vt:lpstr>
      <vt:lpstr>If time, a few final practice problems</vt:lpstr>
      <vt:lpstr>Number 1</vt:lpstr>
      <vt:lpstr>Number 2: Disprove</vt:lpstr>
      <vt:lpstr>Number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Domino, Molly</dc:creator>
  <cp:lastModifiedBy>Domino, Molly</cp:lastModifiedBy>
  <cp:revision>11</cp:revision>
  <dcterms:created xsi:type="dcterms:W3CDTF">2026-01-08T21:48:35Z</dcterms:created>
  <dcterms:modified xsi:type="dcterms:W3CDTF">2026-01-15T21:51:14Z</dcterms:modified>
</cp:coreProperties>
</file>