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81" r:id="rId15"/>
    <p:sldId id="277" r:id="rId16"/>
    <p:sldId id="274" r:id="rId17"/>
    <p:sldId id="275" r:id="rId18"/>
    <p:sldId id="282" r:id="rId19"/>
    <p:sldId id="283" r:id="rId20"/>
    <p:sldId id="284" r:id="rId21"/>
    <p:sldId id="285" r:id="rId22"/>
    <p:sldId id="287" r:id="rId23"/>
    <p:sldId id="286" r:id="rId24"/>
    <p:sldId id="288" r:id="rId25"/>
    <p:sldId id="289" r:id="rId26"/>
    <p:sldId id="290" r:id="rId27"/>
    <p:sldId id="291" r:id="rId28"/>
    <p:sldId id="273" r:id="rId29"/>
    <p:sldId id="276" r:id="rId30"/>
    <p:sldId id="272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18" r:id="rId40"/>
    <p:sldId id="319" r:id="rId41"/>
    <p:sldId id="321" r:id="rId42"/>
    <p:sldId id="320" r:id="rId43"/>
    <p:sldId id="322" r:id="rId44"/>
    <p:sldId id="323" r:id="rId45"/>
    <p:sldId id="324" r:id="rId46"/>
    <p:sldId id="325" r:id="rId47"/>
    <p:sldId id="326" r:id="rId48"/>
    <p:sldId id="327" r:id="rId49"/>
    <p:sldId id="328" r:id="rId50"/>
    <p:sldId id="329" r:id="rId51"/>
    <p:sldId id="330" r:id="rId52"/>
    <p:sldId id="331" r:id="rId53"/>
    <p:sldId id="300" r:id="rId54"/>
    <p:sldId id="301" r:id="rId55"/>
    <p:sldId id="302" r:id="rId56"/>
    <p:sldId id="303" r:id="rId57"/>
    <p:sldId id="304" r:id="rId58"/>
    <p:sldId id="306" r:id="rId59"/>
    <p:sldId id="307" r:id="rId60"/>
    <p:sldId id="308" r:id="rId61"/>
    <p:sldId id="309" r:id="rId62"/>
    <p:sldId id="270" r:id="rId63"/>
    <p:sldId id="271" r:id="rId64"/>
    <p:sldId id="310" r:id="rId65"/>
    <p:sldId id="311" r:id="rId66"/>
    <p:sldId id="313" r:id="rId67"/>
    <p:sldId id="314" r:id="rId68"/>
    <p:sldId id="315" r:id="rId69"/>
    <p:sldId id="316" r:id="rId70"/>
    <p:sldId id="317" r:id="rId7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44"/>
    <p:restoredTop sz="69986"/>
  </p:normalViewPr>
  <p:slideViewPr>
    <p:cSldViewPr snapToGrid="0">
      <p:cViewPr varScale="1">
        <p:scale>
          <a:sx n="82" d="100"/>
          <a:sy n="82" d="100"/>
        </p:scale>
        <p:origin x="13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80969-A004-B146-859F-ECC322790D21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51CFFD-8C9D-BE48-AD49-3091FEDD7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15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How many bitstrings of length 8 have 3 1s?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We’re picking </a:t>
            </a:r>
            <a:r>
              <a:rPr lang="en-US" dirty="0" err="1"/>
              <a:t>indicies</a:t>
            </a:r>
            <a:r>
              <a:rPr lang="en-US" dirty="0"/>
              <a:t> and those are combinations, </a:t>
            </a:r>
            <a:r>
              <a:rPr lang="en-US"/>
              <a:t>not permutations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Slow it down</a:t>
            </a:r>
          </a:p>
          <a:p>
            <a:pPr marL="171450" indent="-171450">
              <a:buFontTx/>
              <a:buChar char="-"/>
            </a:pPr>
            <a:r>
              <a:rPr lang="en-US" dirty="0"/>
              <a:t>Ask them to determine another diagram to encourage them getting the symbolism here</a:t>
            </a:r>
          </a:p>
          <a:p>
            <a:pPr marL="171450" indent="-171450">
              <a:buFontTx/>
              <a:buChar char="-"/>
            </a:pPr>
            <a:r>
              <a:rPr lang="en-US" dirty="0"/>
              <a:t>Maybe wait until after lists next time?</a:t>
            </a:r>
          </a:p>
          <a:p>
            <a:pPr marL="171450" indent="-171450">
              <a:buFontTx/>
              <a:buChar char="-"/>
            </a:pPr>
            <a:r>
              <a:rPr lang="en-US" dirty="0"/>
              <a:t>How many combinations of indices can we work?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Either 3 spots for the bars or 5 spots for the stars (either way we’re doing 8C3 or 8C5 and those end up being the same thing)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1CFFD-8C9D-BE48-AD49-3091FEDD771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39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1CFFD-8C9D-BE48-AD49-3091FEDD771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3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E8118-C078-5819-95C0-E7A2FB955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42D15A-24D1-E497-067C-CC3F8E229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B87BD-8FDA-B464-1FA9-58EDFF566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C19D-75E9-A94E-B3E7-BDE030228115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8FC70-AF53-68EB-352C-AA9F92955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D8E4B-00D6-A995-0FF1-EEEF88273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4B22-25DB-1C47-990D-211025BF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95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F5AD-4B71-C543-295D-F4583920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8D68B-4856-36A9-9452-324A365BB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C9772-78B6-2F17-EFBB-1ABB37B5F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C19D-75E9-A94E-B3E7-BDE030228115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1A2BA-7FF5-C43B-53B8-BB611B8E0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7E9FA-C3ED-7AF0-0D7F-7DBBB1B95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4B22-25DB-1C47-990D-211025BF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783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103EB-A95E-15EB-E503-788DC93A7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F8A19-00B2-AD7E-0CB0-E3AF36FDD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E7866-5055-D8A4-A631-F468D8D1F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C19D-75E9-A94E-B3E7-BDE030228115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DC369-3D6F-E97C-FA9F-3116DDF16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F7117-4962-241A-5498-699FA8A89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4B22-25DB-1C47-990D-211025BF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99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75E6B-F7C6-8A64-D3E3-7EB4A0257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104EE-975D-738B-4D5A-2BBE4E7877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EC0EC-C9B9-D82C-FD32-3C07B3727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4428E-BD74-EBA3-51AB-2F191DA44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C19D-75E9-A94E-B3E7-BDE030228115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5D9C2-1FF4-F9B9-9FB3-E6773F884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D4090-30D6-DFE3-B296-29316799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4B22-25DB-1C47-990D-211025BF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504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E1CA7-FAF6-682B-C071-2E543FA21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6FEF9-CF29-8F4E-39BB-9DBC8AE22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756AF-659C-EC81-4749-2DE44CF76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5265B0-F364-88A6-27FA-8A4DDDC06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C93AB9-7DE5-F0F1-090A-F787C90AB8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F4198D-2C9B-B8AD-003D-7CB38F639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C19D-75E9-A94E-B3E7-BDE030228115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187715-8C0C-7F15-A0A6-0186CACA2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BBEDE8-1D25-152A-B222-F12DBB382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4B22-25DB-1C47-990D-211025BF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99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581F6-BD41-0146-9D68-098E00E5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493EB5-C229-B4AA-5C30-2F5D1B3B2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C19D-75E9-A94E-B3E7-BDE030228115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EB6F8-7AA3-9CB7-CBCB-00BF3FDE3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350B1-1AA8-8527-1B9A-6A3F85668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4B22-25DB-1C47-990D-211025BF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59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3D987A-0FFC-D78E-0728-66FF4C66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C19D-75E9-A94E-B3E7-BDE030228115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872E3-A39C-0D0C-7204-D3D7557C7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065F1-603E-05B6-5DB6-B4734F6BC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4B22-25DB-1C47-990D-211025BF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44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844C-CCCF-3604-A926-D74FD046F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F0452-B359-3EAB-87AA-ACB96C6DD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A6817-94DB-F1AB-36AF-7C4D7268B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8C581-3BEF-943C-0F97-7A2B7A57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C19D-75E9-A94E-B3E7-BDE030228115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66654-AE83-A5F1-18AE-3E9904B3A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A6556-A1FA-13F3-38D7-AB4577ED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4B22-25DB-1C47-990D-211025BF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72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A68DB-BEFB-278B-FB5F-7B5F6A4F1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9C9F2C-FD80-2576-526B-8F7808C034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99FA7-DFCA-F8D3-01F1-54EE80476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FD651-8616-A436-C004-77578AF77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C19D-75E9-A94E-B3E7-BDE030228115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2614B-E3EA-C7F6-FE38-CAD7A82DC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60E5D-82BD-7837-0F81-34313BDCA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4B22-25DB-1C47-990D-211025BF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6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A9BC6-EB67-9CC9-99A8-12CE792F4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4F5DF-32F0-0FB4-7655-87EF7A765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31819-4AEB-A4AD-FAAC-69242608F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C19D-75E9-A94E-B3E7-BDE030228115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F588D-1C28-01C2-C6C5-83A8B4EE2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C734F-F3C1-A7B1-DD5C-DA50C5526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4B22-25DB-1C47-990D-211025BF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9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2EF4D6-DAE1-453F-B87F-BA4980D53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97DF2-61B0-9B05-6AD2-E913107C1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5E357-0AF6-BE3C-956D-E8A394C17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C19D-75E9-A94E-B3E7-BDE030228115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F9F1-90D2-6568-69F9-E2CF02A07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8D375-9B66-7185-3614-03903E983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24B22-25DB-1C47-990D-211025BF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90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F7AE44-6590-36FC-BC1E-5DF4762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5CC39-7051-CD97-39CE-5131518F0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25A69-DC89-1CFF-F51E-CBB441F34E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B3C19D-75E9-A94E-B3E7-BDE030228115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55114-ED81-00A5-9294-8618C5043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E461F-775E-75AF-A074-AB8CCF2BD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224B22-25DB-1C47-990D-211025BFA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54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8784D-D661-DCB0-815F-CE21CF3A2F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Counting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14CCE-8BED-3038-072B-ED48AD3200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5F90B-DC13-569D-431B-8C6CD1E29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Refreshing on Set Cardinality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1B35B-7746-5002-0221-5A72F90B6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Adding set cardinalities - intersection</a:t>
            </a:r>
          </a:p>
          <a:p>
            <a:pPr lvl="1"/>
            <a:r>
              <a:rPr lang="en-US" dirty="0"/>
              <a:t>A = {1, 2, 3, 4}</a:t>
            </a:r>
          </a:p>
          <a:p>
            <a:pPr lvl="1"/>
            <a:r>
              <a:rPr lang="en-US" dirty="0"/>
              <a:t>B = {a, b, c, d}</a:t>
            </a:r>
          </a:p>
          <a:p>
            <a:pPr lvl="1"/>
            <a:r>
              <a:rPr lang="en-US" dirty="0"/>
              <a:t>|A ∪ B| </a:t>
            </a:r>
          </a:p>
          <a:p>
            <a:pPr lvl="2"/>
            <a:r>
              <a:rPr lang="en-US" dirty="0"/>
              <a:t>{1, 2, 3, 4, a, b, c, d}</a:t>
            </a:r>
          </a:p>
          <a:p>
            <a:pPr lvl="2"/>
            <a:r>
              <a:rPr lang="en-US" dirty="0"/>
              <a:t>|A| + |B| = 8</a:t>
            </a:r>
          </a:p>
          <a:p>
            <a:endParaRPr lang="en-US" dirty="0"/>
          </a:p>
          <a:p>
            <a:r>
              <a:rPr lang="en-US" dirty="0"/>
              <a:t>Does this always work</a:t>
            </a:r>
          </a:p>
          <a:p>
            <a:pPr lvl="1"/>
            <a:r>
              <a:rPr lang="en-US" dirty="0"/>
              <a:t>At least with union?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B015AE-872F-0BF4-4725-B9311EAD3668}"/>
              </a:ext>
            </a:extLst>
          </p:cNvPr>
          <p:cNvSpPr txBox="1"/>
          <p:nvPr/>
        </p:nvSpPr>
        <p:spPr>
          <a:xfrm>
            <a:off x="9250747" y="5682132"/>
            <a:ext cx="2941254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 = {1, 2, 3, 4}</a:t>
            </a:r>
            <a:br>
              <a:rPr lang="en-US" sz="2400" dirty="0"/>
            </a:br>
            <a:r>
              <a:rPr lang="en-US" sz="2400" dirty="0"/>
              <a:t>B = {1, 2, 5, 8}</a:t>
            </a:r>
            <a:br>
              <a:rPr lang="en-US" sz="2400" dirty="0"/>
            </a:br>
            <a:r>
              <a:rPr lang="en-US" sz="2400" dirty="0"/>
              <a:t>| A U B | = 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660C51-0E5E-23B3-BB00-7A6FD9C5A102}"/>
              </a:ext>
            </a:extLst>
          </p:cNvPr>
          <p:cNvSpPr txBox="1"/>
          <p:nvPr/>
        </p:nvSpPr>
        <p:spPr>
          <a:xfrm>
            <a:off x="9250746" y="5035801"/>
            <a:ext cx="2941254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| A U B | = |A| + |B| </a:t>
            </a:r>
            <a:br>
              <a:rPr lang="en-US" dirty="0"/>
            </a:br>
            <a:r>
              <a:rPr lang="en-US" dirty="0"/>
              <a:t>ONLY when sets are disjoint</a:t>
            </a:r>
          </a:p>
        </p:txBody>
      </p:sp>
    </p:spTree>
    <p:extLst>
      <p:ext uri="{BB962C8B-B14F-4D97-AF65-F5344CB8AC3E}">
        <p14:creationId xmlns:p14="http://schemas.microsoft.com/office/powerpoint/2010/main" val="2452482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3EA08-EDBF-6BBA-0909-A66FD10C9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Inclusion Exclusion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776FC-1999-F3ED-06CC-41DF446C7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Lets look at a practical example…</a:t>
            </a:r>
          </a:p>
          <a:p>
            <a:pPr lvl="1"/>
            <a:r>
              <a:rPr lang="en-US" dirty="0"/>
              <a:t>I want you to tell me the number 6-letter of words in the dictionary that start with “A” or end with “Z” (or both)</a:t>
            </a:r>
          </a:p>
          <a:p>
            <a:pPr lvl="2"/>
            <a:r>
              <a:rPr lang="en-US" dirty="0"/>
              <a:t>Or – more precisely I want a formula to determine how I could count this</a:t>
            </a:r>
          </a:p>
          <a:p>
            <a:r>
              <a:rPr lang="en-US" dirty="0"/>
              <a:t>How could we frame this as a set operation</a:t>
            </a:r>
          </a:p>
          <a:p>
            <a:endParaRPr lang="en-US" dirty="0"/>
          </a:p>
          <a:p>
            <a:pPr lvl="1"/>
            <a:r>
              <a:rPr lang="en-US" dirty="0"/>
              <a:t>A = set of all 6- letter words that start with A</a:t>
            </a:r>
          </a:p>
          <a:p>
            <a:pPr lvl="1"/>
            <a:r>
              <a:rPr lang="en-US" dirty="0"/>
              <a:t>B = set of all 6 letter words that end with Z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2DD7A4-C7B0-6FFA-FA2A-A43443DD761B}"/>
              </a:ext>
            </a:extLst>
          </p:cNvPr>
          <p:cNvSpPr txBox="1"/>
          <p:nvPr/>
        </p:nvSpPr>
        <p:spPr>
          <a:xfrm>
            <a:off x="1618785" y="5296828"/>
            <a:ext cx="3867615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| A U B| = |A| + |B| - | A ∩ B |</a:t>
            </a:r>
          </a:p>
        </p:txBody>
      </p:sp>
    </p:spTree>
    <p:extLst>
      <p:ext uri="{BB962C8B-B14F-4D97-AF65-F5344CB8AC3E}">
        <p14:creationId xmlns:p14="http://schemas.microsoft.com/office/powerpoint/2010/main" val="345877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1F4B0-EAE9-EA3A-34D7-C93AA18C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 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EB5B4-5F25-1049-CD5F-1CD5D2FB6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= {1, 2, 3, 4}</a:t>
            </a:r>
          </a:p>
          <a:p>
            <a:r>
              <a:rPr lang="en-US" dirty="0"/>
              <a:t>B = {8, 2, 1, 6, 7}</a:t>
            </a:r>
          </a:p>
          <a:p>
            <a:r>
              <a:rPr lang="en-US" dirty="0"/>
              <a:t>C = {4, 1, 9, 12, 13}</a:t>
            </a:r>
          </a:p>
          <a:p>
            <a:r>
              <a:rPr lang="en-US" dirty="0"/>
              <a:t>D = {8, 3, 9, 1, 17}</a:t>
            </a:r>
          </a:p>
          <a:p>
            <a:endParaRPr lang="en-US" dirty="0"/>
          </a:p>
          <a:p>
            <a:r>
              <a:rPr lang="en-US" dirty="0"/>
              <a:t>What is | A U B U C U D | ?</a:t>
            </a:r>
          </a:p>
        </p:txBody>
      </p:sp>
    </p:spTree>
    <p:extLst>
      <p:ext uri="{BB962C8B-B14F-4D97-AF65-F5344CB8AC3E}">
        <p14:creationId xmlns:p14="http://schemas.microsoft.com/office/powerpoint/2010/main" val="3718941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002BE-CEF8-8DEE-B354-9C0C8B916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Cartesian Products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D290A-02E2-7B65-11A3-706392CFC11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 want to order a pizza</a:t>
            </a:r>
          </a:p>
          <a:p>
            <a:pPr lvl="2"/>
            <a:r>
              <a:rPr lang="en-US" dirty="0"/>
              <a:t>This pizza site is very limited</a:t>
            </a:r>
          </a:p>
          <a:p>
            <a:r>
              <a:rPr lang="en-US" dirty="0"/>
              <a:t>My options</a:t>
            </a:r>
          </a:p>
          <a:p>
            <a:pPr lvl="1"/>
            <a:r>
              <a:rPr lang="en-US" dirty="0"/>
              <a:t>Size:</a:t>
            </a:r>
          </a:p>
          <a:p>
            <a:pPr lvl="2"/>
            <a:r>
              <a:rPr lang="en-US" dirty="0"/>
              <a:t>Small</a:t>
            </a:r>
          </a:p>
          <a:p>
            <a:pPr lvl="2"/>
            <a:r>
              <a:rPr lang="en-US" dirty="0"/>
              <a:t>Medium</a:t>
            </a:r>
          </a:p>
          <a:p>
            <a:pPr lvl="2"/>
            <a:r>
              <a:rPr lang="en-US" dirty="0"/>
              <a:t>Large</a:t>
            </a:r>
          </a:p>
          <a:p>
            <a:pPr lvl="2"/>
            <a:r>
              <a:rPr lang="en-US" dirty="0"/>
              <a:t>XL</a:t>
            </a:r>
          </a:p>
          <a:p>
            <a:pPr lvl="1"/>
            <a:r>
              <a:rPr lang="en-US" dirty="0"/>
              <a:t>Toppings</a:t>
            </a:r>
          </a:p>
          <a:p>
            <a:pPr lvl="2"/>
            <a:r>
              <a:rPr lang="en-US" dirty="0"/>
              <a:t>Pepperoni</a:t>
            </a:r>
          </a:p>
          <a:p>
            <a:pPr lvl="2"/>
            <a:r>
              <a:rPr lang="en-US" dirty="0"/>
              <a:t>Sausage</a:t>
            </a:r>
          </a:p>
          <a:p>
            <a:pPr lvl="2"/>
            <a:r>
              <a:rPr lang="en-US" dirty="0"/>
              <a:t>Veggie</a:t>
            </a:r>
          </a:p>
          <a:p>
            <a:pPr lvl="2"/>
            <a:r>
              <a:rPr lang="en-US" dirty="0"/>
              <a:t>Anchovies</a:t>
            </a:r>
          </a:p>
          <a:p>
            <a:pPr lvl="2"/>
            <a:r>
              <a:rPr lang="en-US" dirty="0"/>
              <a:t>Pineapple </a:t>
            </a:r>
          </a:p>
          <a:p>
            <a:pPr lvl="2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279DF4-65A3-BCB6-7D25-AC8ACA47F6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How many 1 topping pizzas can I potentially order</a:t>
            </a:r>
          </a:p>
          <a:p>
            <a:pPr lvl="1"/>
            <a:r>
              <a:rPr lang="en-US" dirty="0"/>
              <a:t>(small pepperoni != large pepperoni)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A3B762-5444-6071-09CD-0E87D8B8B2E7}"/>
              </a:ext>
            </a:extLst>
          </p:cNvPr>
          <p:cNvSpPr txBox="1"/>
          <p:nvPr/>
        </p:nvSpPr>
        <p:spPr>
          <a:xfrm>
            <a:off x="6300440" y="3244334"/>
            <a:ext cx="2362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Size = {</a:t>
            </a:r>
            <a:r>
              <a:rPr lang="en-US" dirty="0" err="1"/>
              <a:t>sm</a:t>
            </a:r>
            <a:r>
              <a:rPr lang="en-US" dirty="0"/>
              <a:t>, med, lg, xl}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A31AF3-8F2D-D1E6-D03B-DBF387698F08}"/>
              </a:ext>
            </a:extLst>
          </p:cNvPr>
          <p:cNvSpPr txBox="1"/>
          <p:nvPr/>
        </p:nvSpPr>
        <p:spPr>
          <a:xfrm>
            <a:off x="6300440" y="3613666"/>
            <a:ext cx="3752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Toppings = {pep, </a:t>
            </a:r>
            <a:r>
              <a:rPr lang="en-US" dirty="0" err="1"/>
              <a:t>sau</a:t>
            </a:r>
            <a:r>
              <a:rPr lang="en-US" dirty="0"/>
              <a:t>, veg, </a:t>
            </a:r>
            <a:r>
              <a:rPr lang="en-US" dirty="0" err="1"/>
              <a:t>anch</a:t>
            </a:r>
            <a:r>
              <a:rPr lang="en-US" dirty="0"/>
              <a:t>, pin}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09A7A9-704E-9E4E-37E2-950A71E789C8}"/>
              </a:ext>
            </a:extLst>
          </p:cNvPr>
          <p:cNvSpPr txBox="1"/>
          <p:nvPr/>
        </p:nvSpPr>
        <p:spPr>
          <a:xfrm>
            <a:off x="6300440" y="3982998"/>
            <a:ext cx="1839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|Size x Toppings|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9041F5-C2A2-C854-4C2D-A98BF89D62C2}"/>
              </a:ext>
            </a:extLst>
          </p:cNvPr>
          <p:cNvSpPr txBox="1"/>
          <p:nvPr/>
        </p:nvSpPr>
        <p:spPr>
          <a:xfrm>
            <a:off x="6300440" y="4487267"/>
            <a:ext cx="377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|Size x Toppings| = |Size| * |Toppings| </a:t>
            </a:r>
          </a:p>
        </p:txBody>
      </p:sp>
    </p:spTree>
    <p:extLst>
      <p:ext uri="{BB962C8B-B14F-4D97-AF65-F5344CB8AC3E}">
        <p14:creationId xmlns:p14="http://schemas.microsoft.com/office/powerpoint/2010/main" val="1355176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08AA1-6D41-ED8B-459F-1C7312A14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01F36D-9B48-AF9D-1ADE-6ED388D70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1039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Personal Identification Numbers (PINs) are always 6-digit numbers containing only the digits 0-9</a:t>
            </a:r>
          </a:p>
          <a:p>
            <a:pPr lvl="1"/>
            <a:r>
              <a:rPr lang="en-US" dirty="0"/>
              <a:t>(Or at least for the purpose of this problem they are)</a:t>
            </a:r>
          </a:p>
          <a:p>
            <a:r>
              <a:rPr lang="en-US" dirty="0"/>
              <a:t>How many possible 6-digit pins are there?</a:t>
            </a:r>
          </a:p>
          <a:p>
            <a:pPr lvl="1"/>
            <a:r>
              <a:rPr lang="en-US" dirty="0"/>
              <a:t>Explain using set theory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5D830-750D-6D79-852F-CD12380A320A}"/>
              </a:ext>
            </a:extLst>
          </p:cNvPr>
          <p:cNvSpPr txBox="1"/>
          <p:nvPr/>
        </p:nvSpPr>
        <p:spPr>
          <a:xfrm>
            <a:off x="981307" y="5036349"/>
            <a:ext cx="3530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|A x A x A x A x A x A| = 10</a:t>
            </a:r>
            <a:r>
              <a:rPr lang="en-US" sz="2400" baseline="300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A8878C-351F-05A1-409D-BC6FCF029924}"/>
              </a:ext>
            </a:extLst>
          </p:cNvPr>
          <p:cNvSpPr txBox="1"/>
          <p:nvPr/>
        </p:nvSpPr>
        <p:spPr>
          <a:xfrm>
            <a:off x="981307" y="3836020"/>
            <a:ext cx="1988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 = {0, 1,..., 9}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67BCFF-5FCE-0140-4971-CD81CEAF5778}"/>
              </a:ext>
            </a:extLst>
          </p:cNvPr>
          <p:cNvSpPr txBox="1"/>
          <p:nvPr/>
        </p:nvSpPr>
        <p:spPr>
          <a:xfrm>
            <a:off x="981307" y="4436184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|A| = 10</a:t>
            </a:r>
          </a:p>
        </p:txBody>
      </p:sp>
    </p:spTree>
    <p:extLst>
      <p:ext uri="{BB962C8B-B14F-4D97-AF65-F5344CB8AC3E}">
        <p14:creationId xmlns:p14="http://schemas.microsoft.com/office/powerpoint/2010/main" val="279549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DA623-FB2D-FCBF-D663-CA2CEE6C3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complex 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AF49E-7E25-8920-3697-15B423F1F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Get into groups of at least 2 </a:t>
            </a:r>
          </a:p>
          <a:p>
            <a:pPr lvl="1"/>
            <a:r>
              <a:rPr lang="en-US" dirty="0"/>
              <a:t>Or I can do it for you</a:t>
            </a:r>
          </a:p>
          <a:p>
            <a:r>
              <a:rPr lang="en-US" dirty="0"/>
              <a:t>Go to Chipotle’s website for online ordering</a:t>
            </a:r>
          </a:p>
          <a:p>
            <a:endParaRPr lang="en-US" dirty="0"/>
          </a:p>
          <a:p>
            <a:r>
              <a:rPr lang="en-US" dirty="0"/>
              <a:t>Assuming that you could only pick 1 from each category, how many different types of </a:t>
            </a:r>
            <a:r>
              <a:rPr lang="en-US" u="sng" dirty="0"/>
              <a:t>burrito</a:t>
            </a:r>
            <a:r>
              <a:rPr lang="en-US" dirty="0"/>
              <a:t> can you make?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789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2EA68-C2B9-E176-9A12-C947D4809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Together: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F8211-76CB-2E31-4119-DDC537B72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Lock takes a 6-letter combination to open</a:t>
            </a:r>
          </a:p>
          <a:p>
            <a:endParaRPr lang="en-US" dirty="0"/>
          </a:p>
          <a:p>
            <a:r>
              <a:rPr lang="en-US" dirty="0"/>
              <a:t>How many potential combinations are there that </a:t>
            </a:r>
            <a:r>
              <a:rPr lang="en-US" u="sng" dirty="0"/>
              <a:t>EITHER</a:t>
            </a:r>
          </a:p>
          <a:p>
            <a:pPr lvl="1"/>
            <a:r>
              <a:rPr lang="en-US" dirty="0"/>
              <a:t>Start with “A”</a:t>
            </a:r>
          </a:p>
          <a:p>
            <a:pPr lvl="1"/>
            <a:r>
              <a:rPr lang="en-US" dirty="0"/>
              <a:t>End with “Z”</a:t>
            </a:r>
          </a:p>
          <a:p>
            <a:endParaRPr lang="en-US" dirty="0"/>
          </a:p>
        </p:txBody>
      </p:sp>
      <p:pic>
        <p:nvPicPr>
          <p:cNvPr id="1028" name="Picture 4" descr="Amazon.com: Cryptex Da Vinci Code Mini Cryptex Lock Puzzle Boxes with  Hidden Compartments Anniversary Valentine's Day Romantic Birthday Gifts for  Her Gifts for Girlfriend Box for Men : Toys &amp; Games">
            <a:extLst>
              <a:ext uri="{FF2B5EF4-FFF2-40B4-BE49-F238E27FC236}">
                <a16:creationId xmlns:a16="http://schemas.microsoft.com/office/drawing/2014/main" id="{3C85ECA0-1EEA-873F-897D-8E2D8E424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4081" y="3429000"/>
            <a:ext cx="4937919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76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A2510-F65F-4348-EE82-9D120E2B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C27A-BC37-C213-3EF4-BDF81C245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this logic again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F4E4DD-4DF4-DC05-D236-C18D7752D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1039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Personal Identification Numbers (PINs) are always 6-digit numbers containing only the digits 0-9</a:t>
            </a:r>
          </a:p>
          <a:p>
            <a:pPr lvl="1"/>
            <a:r>
              <a:rPr lang="en-US" dirty="0"/>
              <a:t>(Or at least for the purpose of this problem they are)</a:t>
            </a:r>
          </a:p>
          <a:p>
            <a:r>
              <a:rPr lang="en-US" dirty="0"/>
              <a:t>How many possible 6-digit pins are there?</a:t>
            </a:r>
          </a:p>
          <a:p>
            <a:pPr lvl="1"/>
            <a:r>
              <a:rPr lang="en-US" dirty="0"/>
              <a:t>Explain using set theory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A1613-7913-7027-C6C4-23D897E77A63}"/>
              </a:ext>
            </a:extLst>
          </p:cNvPr>
          <p:cNvSpPr txBox="1"/>
          <p:nvPr/>
        </p:nvSpPr>
        <p:spPr>
          <a:xfrm>
            <a:off x="981307" y="5747549"/>
            <a:ext cx="35301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|A x A x A x A x A x A| = 10</a:t>
            </a:r>
            <a:r>
              <a:rPr lang="en-US" sz="2400" baseline="300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EBA531-1626-A03E-F3AD-2EDC99EE29A5}"/>
              </a:ext>
            </a:extLst>
          </p:cNvPr>
          <p:cNvSpPr txBox="1"/>
          <p:nvPr/>
        </p:nvSpPr>
        <p:spPr>
          <a:xfrm>
            <a:off x="981307" y="3836020"/>
            <a:ext cx="1988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 = {0, 1,..., 9}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7844B8-339A-056A-5F0B-EA8F2E08A3B4}"/>
              </a:ext>
            </a:extLst>
          </p:cNvPr>
          <p:cNvSpPr txBox="1"/>
          <p:nvPr/>
        </p:nvSpPr>
        <p:spPr>
          <a:xfrm>
            <a:off x="981307" y="4436184"/>
            <a:ext cx="11528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|A| = 10</a:t>
            </a:r>
          </a:p>
        </p:txBody>
      </p:sp>
    </p:spTree>
    <p:extLst>
      <p:ext uri="{BB962C8B-B14F-4D97-AF65-F5344CB8AC3E}">
        <p14:creationId xmlns:p14="http://schemas.microsoft.com/office/powerpoint/2010/main" val="265133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E77183-7C53-D9F8-21DD-1A8D8879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0338" y="-40272"/>
            <a:ext cx="6251662" cy="2052522"/>
          </a:xfrm>
        </p:spPr>
        <p:txBody>
          <a:bodyPr anchor="t">
            <a:normAutofit/>
          </a:bodyPr>
          <a:lstStyle/>
          <a:p>
            <a:r>
              <a:rPr lang="en-US" sz="4300" dirty="0"/>
              <a:t>How many combos start with 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Amazon.com: Cryptex Da Vinci Code Mini Cryptex Lock Puzzle Boxes with  Hidden Compartments Anniversary Valentine's Day Romantic Birthday Gifts for  Her Gifts for Girlfriend Box for Men : Toys &amp; Games">
            <a:extLst>
              <a:ext uri="{FF2B5EF4-FFF2-40B4-BE49-F238E27FC236}">
                <a16:creationId xmlns:a16="http://schemas.microsoft.com/office/drawing/2014/main" id="{65A57674-33ED-13A2-6EF2-54617A95D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63" r="15036" b="-2"/>
          <a:stretch>
            <a:fillRect/>
          </a:stretch>
        </p:blipFill>
        <p:spPr bwMode="auto">
          <a:xfrm>
            <a:off x="505418" y="554151"/>
            <a:ext cx="4583609" cy="458360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9B7E4-289F-1AC9-0E2E-FF655B2CA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1326979"/>
            <a:ext cx="4195673" cy="86795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Any 1 slot can have 26 potential inputs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7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9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E6967B-2DE4-7610-A468-C9351BA28D43}"/>
              </a:ext>
            </a:extLst>
          </p:cNvPr>
          <p:cNvCxnSpPr/>
          <p:nvPr/>
        </p:nvCxnSpPr>
        <p:spPr>
          <a:xfrm>
            <a:off x="6247607" y="5410200"/>
            <a:ext cx="6484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A75142-9EE0-59FC-D769-88B3492A6EA0}"/>
              </a:ext>
            </a:extLst>
          </p:cNvPr>
          <p:cNvCxnSpPr/>
          <p:nvPr/>
        </p:nvCxnSpPr>
        <p:spPr>
          <a:xfrm>
            <a:off x="7847807" y="5410200"/>
            <a:ext cx="6484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3F0DE4B-C780-DA3D-E264-20367DAEFEEE}"/>
              </a:ext>
            </a:extLst>
          </p:cNvPr>
          <p:cNvCxnSpPr/>
          <p:nvPr/>
        </p:nvCxnSpPr>
        <p:spPr>
          <a:xfrm>
            <a:off x="8622507" y="5410200"/>
            <a:ext cx="6484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DDDBB1-79DD-E147-6CF6-2AA5B874955C}"/>
              </a:ext>
            </a:extLst>
          </p:cNvPr>
          <p:cNvCxnSpPr/>
          <p:nvPr/>
        </p:nvCxnSpPr>
        <p:spPr>
          <a:xfrm>
            <a:off x="9384507" y="5410200"/>
            <a:ext cx="6484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0F14E2-3AB9-542C-E176-23314C475196}"/>
              </a:ext>
            </a:extLst>
          </p:cNvPr>
          <p:cNvCxnSpPr/>
          <p:nvPr/>
        </p:nvCxnSpPr>
        <p:spPr>
          <a:xfrm>
            <a:off x="10204895" y="5410200"/>
            <a:ext cx="6484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BB15ADD-6776-1170-CF9C-DAE88A5FC5D3}"/>
              </a:ext>
            </a:extLst>
          </p:cNvPr>
          <p:cNvCxnSpPr/>
          <p:nvPr/>
        </p:nvCxnSpPr>
        <p:spPr>
          <a:xfrm>
            <a:off x="7029053" y="5410200"/>
            <a:ext cx="6484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FFC57CB-96A4-0E07-5E08-5E8971234726}"/>
              </a:ext>
            </a:extLst>
          </p:cNvPr>
          <p:cNvSpPr txBox="1"/>
          <p:nvPr/>
        </p:nvSpPr>
        <p:spPr>
          <a:xfrm>
            <a:off x="6343213" y="4946251"/>
            <a:ext cx="501245" cy="584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7D23A3-67E1-4DBA-17E8-DFCD37D544AE}"/>
              </a:ext>
            </a:extLst>
          </p:cNvPr>
          <p:cNvSpPr txBox="1"/>
          <p:nvPr/>
        </p:nvSpPr>
        <p:spPr>
          <a:xfrm>
            <a:off x="5104132" y="6248636"/>
            <a:ext cx="2979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potential thing can go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F735FF-7AEC-63D1-9557-2C399B5BD238}"/>
              </a:ext>
            </a:extLst>
          </p:cNvPr>
          <p:cNvSpPr txBox="1"/>
          <p:nvPr/>
        </p:nvSpPr>
        <p:spPr>
          <a:xfrm>
            <a:off x="7137607" y="5088572"/>
            <a:ext cx="520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A-Z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36C3D8-985F-07CF-FAF4-5E84A642C9E4}"/>
              </a:ext>
            </a:extLst>
          </p:cNvPr>
          <p:cNvSpPr txBox="1"/>
          <p:nvPr/>
        </p:nvSpPr>
        <p:spPr>
          <a:xfrm>
            <a:off x="7951585" y="5065236"/>
            <a:ext cx="571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A-Z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220008-4F8B-933B-3C71-60496357B93E}"/>
              </a:ext>
            </a:extLst>
          </p:cNvPr>
          <p:cNvSpPr txBox="1"/>
          <p:nvPr/>
        </p:nvSpPr>
        <p:spPr>
          <a:xfrm>
            <a:off x="8713128" y="5065236"/>
            <a:ext cx="520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A-Z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8A7BBD-BA1C-761B-3349-FE04CBC41C60}"/>
              </a:ext>
            </a:extLst>
          </p:cNvPr>
          <p:cNvSpPr txBox="1"/>
          <p:nvPr/>
        </p:nvSpPr>
        <p:spPr>
          <a:xfrm>
            <a:off x="9425784" y="5065236"/>
            <a:ext cx="520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A-Z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DDEE0B-8EB9-FD85-7CED-F8D53FD2BE30}"/>
              </a:ext>
            </a:extLst>
          </p:cNvPr>
          <p:cNvSpPr txBox="1"/>
          <p:nvPr/>
        </p:nvSpPr>
        <p:spPr>
          <a:xfrm>
            <a:off x="10226262" y="5065236"/>
            <a:ext cx="520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A-Z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ED83CFB-F0BA-E1FF-4629-02A7B31FDC90}"/>
              </a:ext>
            </a:extLst>
          </p:cNvPr>
          <p:cNvCxnSpPr>
            <a:stCxn id="20" idx="0"/>
            <a:endCxn id="18" idx="2"/>
          </p:cNvCxnSpPr>
          <p:nvPr/>
        </p:nvCxnSpPr>
        <p:spPr>
          <a:xfrm flipV="1">
            <a:off x="6593835" y="5531021"/>
            <a:ext cx="1" cy="7176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51B17DC-FF50-C90C-4363-8C1F08C4013A}"/>
              </a:ext>
            </a:extLst>
          </p:cNvPr>
          <p:cNvSpPr txBox="1"/>
          <p:nvPr/>
        </p:nvSpPr>
        <p:spPr>
          <a:xfrm>
            <a:off x="6883486" y="3884802"/>
            <a:ext cx="2514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26 potential things here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A0FC5A5-A3F7-992F-0ECA-B42977502654}"/>
              </a:ext>
            </a:extLst>
          </p:cNvPr>
          <p:cNvCxnSpPr>
            <a:cxnSpLocks/>
            <a:stCxn id="29" idx="2"/>
            <a:endCxn id="21" idx="0"/>
          </p:cNvCxnSpPr>
          <p:nvPr/>
        </p:nvCxnSpPr>
        <p:spPr>
          <a:xfrm flipH="1">
            <a:off x="7397775" y="4254134"/>
            <a:ext cx="742883" cy="834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8E9CA5CF-FA64-4F73-E904-B14A3F9BFCC9}"/>
              </a:ext>
            </a:extLst>
          </p:cNvPr>
          <p:cNvSpPr txBox="1">
            <a:spLocks/>
          </p:cNvSpPr>
          <p:nvPr/>
        </p:nvSpPr>
        <p:spPr>
          <a:xfrm>
            <a:off x="6657715" y="2052521"/>
            <a:ext cx="4195673" cy="111465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1 * 26 * 26 * 26 * 26 * 26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|starts with A | = 26^5</a:t>
            </a:r>
          </a:p>
        </p:txBody>
      </p:sp>
    </p:spTree>
    <p:extLst>
      <p:ext uri="{BB962C8B-B14F-4D97-AF65-F5344CB8AC3E}">
        <p14:creationId xmlns:p14="http://schemas.microsoft.com/office/powerpoint/2010/main" val="425910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9" grpId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B823B-D367-65FD-3731-3B52A0AE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for 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ACF82-C987-C8B4-3D3D-204412F42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7827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Same number of slots </a:t>
            </a:r>
          </a:p>
          <a:p>
            <a:r>
              <a:rPr lang="en-US" dirty="0"/>
              <a:t>Same number of choices per slot</a:t>
            </a:r>
          </a:p>
          <a:p>
            <a:endParaRPr lang="en-US" dirty="0"/>
          </a:p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|ends with Z| = 26^5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EF1D3B-3188-8F3B-73D2-E2F0D2F0D4E1}"/>
              </a:ext>
            </a:extLst>
          </p:cNvPr>
          <p:cNvCxnSpPr/>
          <p:nvPr/>
        </p:nvCxnSpPr>
        <p:spPr>
          <a:xfrm>
            <a:off x="6247607" y="5410200"/>
            <a:ext cx="6484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0518FD-FF9D-7455-CC0C-D9E2B0FABA5B}"/>
              </a:ext>
            </a:extLst>
          </p:cNvPr>
          <p:cNvCxnSpPr/>
          <p:nvPr/>
        </p:nvCxnSpPr>
        <p:spPr>
          <a:xfrm>
            <a:off x="7847807" y="5410200"/>
            <a:ext cx="6484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63478C3-19A4-A4B2-7967-AB9F69A156BD}"/>
              </a:ext>
            </a:extLst>
          </p:cNvPr>
          <p:cNvCxnSpPr/>
          <p:nvPr/>
        </p:nvCxnSpPr>
        <p:spPr>
          <a:xfrm>
            <a:off x="8622507" y="5410200"/>
            <a:ext cx="6484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C6A84F-A6C9-4227-4F77-D97C35842E15}"/>
              </a:ext>
            </a:extLst>
          </p:cNvPr>
          <p:cNvCxnSpPr/>
          <p:nvPr/>
        </p:nvCxnSpPr>
        <p:spPr>
          <a:xfrm>
            <a:off x="9384507" y="5410200"/>
            <a:ext cx="6484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7B0EB3-CBEE-713C-7781-98B0CD786C23}"/>
              </a:ext>
            </a:extLst>
          </p:cNvPr>
          <p:cNvCxnSpPr/>
          <p:nvPr/>
        </p:nvCxnSpPr>
        <p:spPr>
          <a:xfrm>
            <a:off x="10204895" y="5410200"/>
            <a:ext cx="6484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A52961-3504-EE22-1FEA-42BBE70729AF}"/>
              </a:ext>
            </a:extLst>
          </p:cNvPr>
          <p:cNvCxnSpPr/>
          <p:nvPr/>
        </p:nvCxnSpPr>
        <p:spPr>
          <a:xfrm>
            <a:off x="7029053" y="5410200"/>
            <a:ext cx="6484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3061A8D-0855-1746-EA9F-892BCA489821}"/>
              </a:ext>
            </a:extLst>
          </p:cNvPr>
          <p:cNvSpPr txBox="1"/>
          <p:nvPr/>
        </p:nvSpPr>
        <p:spPr>
          <a:xfrm>
            <a:off x="10278518" y="4957517"/>
            <a:ext cx="501245" cy="584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Z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C2A376-EE5F-7097-2D01-825D5CADF5CC}"/>
              </a:ext>
            </a:extLst>
          </p:cNvPr>
          <p:cNvSpPr txBox="1"/>
          <p:nvPr/>
        </p:nvSpPr>
        <p:spPr>
          <a:xfrm>
            <a:off x="7137607" y="5088572"/>
            <a:ext cx="520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A-Z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6D838F-5050-EDA1-BFB0-7818B15FC870}"/>
              </a:ext>
            </a:extLst>
          </p:cNvPr>
          <p:cNvSpPr txBox="1"/>
          <p:nvPr/>
        </p:nvSpPr>
        <p:spPr>
          <a:xfrm>
            <a:off x="7951585" y="5065236"/>
            <a:ext cx="571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A-Z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3166A1-8313-EF38-B951-ADD4B83D6D07}"/>
              </a:ext>
            </a:extLst>
          </p:cNvPr>
          <p:cNvSpPr txBox="1"/>
          <p:nvPr/>
        </p:nvSpPr>
        <p:spPr>
          <a:xfrm>
            <a:off x="8713128" y="5065236"/>
            <a:ext cx="520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A-Z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464700-705C-96F5-60DA-0A35AEC2A74C}"/>
              </a:ext>
            </a:extLst>
          </p:cNvPr>
          <p:cNvSpPr txBox="1"/>
          <p:nvPr/>
        </p:nvSpPr>
        <p:spPr>
          <a:xfrm>
            <a:off x="9425784" y="5065236"/>
            <a:ext cx="520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A-Z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DFDC0C-C426-0FC8-4FD9-CBF23D20413F}"/>
              </a:ext>
            </a:extLst>
          </p:cNvPr>
          <p:cNvSpPr txBox="1"/>
          <p:nvPr/>
        </p:nvSpPr>
        <p:spPr>
          <a:xfrm>
            <a:off x="6279713" y="5066859"/>
            <a:ext cx="520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A-Z</a:t>
            </a:r>
          </a:p>
        </p:txBody>
      </p:sp>
    </p:spTree>
    <p:extLst>
      <p:ext uri="{BB962C8B-B14F-4D97-AF65-F5344CB8AC3E}">
        <p14:creationId xmlns:p14="http://schemas.microsoft.com/office/powerpoint/2010/main" val="3523471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C7533-298C-9DDA-EE74-24009811E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Inclusion Exclusion again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D02F5-7319-827A-2727-10D4B6EFD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|A U Z| = |A| + |Z| - |A ∩ Z|</a:t>
            </a:r>
          </a:p>
          <a:p>
            <a:endParaRPr lang="en-US" dirty="0"/>
          </a:p>
          <a:p>
            <a:r>
              <a:rPr lang="en-US" dirty="0"/>
              <a:t> |A ∩ Z| </a:t>
            </a:r>
          </a:p>
          <a:p>
            <a:pPr lvl="1"/>
            <a:r>
              <a:rPr lang="en-US" dirty="0"/>
              <a:t>1 	* 26 * 26 * 26 * 26 * 1</a:t>
            </a:r>
          </a:p>
          <a:p>
            <a:pPr lvl="1"/>
            <a:r>
              <a:rPr lang="en-US" dirty="0"/>
              <a:t>1 * 26</a:t>
            </a:r>
            <a:r>
              <a:rPr lang="en-US" baseline="30000" dirty="0"/>
              <a:t>4</a:t>
            </a:r>
            <a:r>
              <a:rPr lang="en-US" dirty="0"/>
              <a:t> * 1</a:t>
            </a:r>
          </a:p>
          <a:p>
            <a:pPr lvl="1"/>
            <a:endParaRPr lang="en-US" dirty="0"/>
          </a:p>
          <a:p>
            <a:r>
              <a:rPr lang="en-US" dirty="0"/>
              <a:t>|A U Z| = |A| + |Z| - |A ∩ Z|</a:t>
            </a:r>
          </a:p>
          <a:p>
            <a:r>
              <a:rPr lang="en-US" dirty="0"/>
              <a:t>|A U Z| = 26</a:t>
            </a:r>
            <a:r>
              <a:rPr lang="en-US" baseline="30000" dirty="0"/>
              <a:t>5 </a:t>
            </a:r>
            <a:r>
              <a:rPr lang="en-US" dirty="0"/>
              <a:t>+ 26</a:t>
            </a:r>
            <a:r>
              <a:rPr lang="en-US" baseline="30000" dirty="0"/>
              <a:t>5 </a:t>
            </a:r>
            <a:r>
              <a:rPr lang="en-US" dirty="0"/>
              <a:t>-  26</a:t>
            </a:r>
            <a:r>
              <a:rPr lang="en-US" baseline="30000" dirty="0"/>
              <a:t>4 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B43A72-D44D-BA3A-121D-78276CAC30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869"/>
          <a:stretch>
            <a:fillRect/>
          </a:stretch>
        </p:blipFill>
        <p:spPr>
          <a:xfrm>
            <a:off x="5448069" y="2506663"/>
            <a:ext cx="6743931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3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0E40B-2D57-0454-42AC-EFDC9ECD9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Combinitorics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FCFD1-D838-4E34-F8E4-4D6264298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Math considering the world of possible configurations, combinations or permutations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49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C2C8A-0E36-EAC2-FB74-21F0F0634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start with counting groupings where order matters</a:t>
            </a:r>
          </a:p>
        </p:txBody>
      </p:sp>
    </p:spTree>
    <p:extLst>
      <p:ext uri="{BB962C8B-B14F-4D97-AF65-F5344CB8AC3E}">
        <p14:creationId xmlns:p14="http://schemas.microsoft.com/office/powerpoint/2010/main" val="1721232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61F6C-A702-8491-CB9B-D5537152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2C326-8EB1-6E84-13DC-4C577F365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4217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 have five errands to run.  How many ways could I accomplish these 5 tasks?</a:t>
            </a:r>
          </a:p>
          <a:p>
            <a:pPr lvl="1"/>
            <a:r>
              <a:rPr lang="en-US" dirty="0"/>
              <a:t>grocery shopping</a:t>
            </a:r>
          </a:p>
          <a:p>
            <a:pPr lvl="1"/>
            <a:r>
              <a:rPr lang="en-US" dirty="0"/>
              <a:t>visit the bank</a:t>
            </a:r>
          </a:p>
          <a:p>
            <a:pPr lvl="1"/>
            <a:r>
              <a:rPr lang="en-US" dirty="0"/>
              <a:t>drop off library books</a:t>
            </a:r>
          </a:p>
          <a:p>
            <a:pPr lvl="1"/>
            <a:r>
              <a:rPr lang="en-US" dirty="0"/>
              <a:t>drop off mail</a:t>
            </a:r>
          </a:p>
          <a:p>
            <a:pPr lvl="1"/>
            <a:r>
              <a:rPr lang="en-US" dirty="0"/>
              <a:t>pick up pet food.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 = set of tasks</a:t>
            </a:r>
          </a:p>
          <a:p>
            <a:pPr marL="0" indent="0">
              <a:buNone/>
            </a:pPr>
            <a:r>
              <a:rPr lang="en-US" dirty="0"/>
              <a:t>n = |S|</a:t>
            </a:r>
            <a:br>
              <a:rPr lang="en-US" dirty="0"/>
            </a:br>
            <a:r>
              <a:rPr lang="en-US" dirty="0"/>
              <a:t>Number of permutations of a set is n!</a:t>
            </a:r>
          </a:p>
        </p:txBody>
      </p:sp>
    </p:spTree>
    <p:extLst>
      <p:ext uri="{BB962C8B-B14F-4D97-AF65-F5344CB8AC3E}">
        <p14:creationId xmlns:p14="http://schemas.microsoft.com/office/powerpoint/2010/main" val="2036288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22809-FE2A-700B-6267-C49B73E0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refresher!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A0588-777B-77E9-2973-73BECB201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23662" cy="4351338"/>
          </a:xfrm>
        </p:spPr>
        <p:txBody>
          <a:bodyPr/>
          <a:lstStyle/>
          <a:p>
            <a:r>
              <a:rPr lang="en-US" dirty="0"/>
              <a:t>Factorial!</a:t>
            </a:r>
          </a:p>
          <a:p>
            <a:endParaRPr lang="en-US" dirty="0"/>
          </a:p>
          <a:p>
            <a:r>
              <a:rPr lang="en-US" dirty="0"/>
              <a:t>5! = 5 * 4 * 3 * 2 * 1 = 120</a:t>
            </a:r>
          </a:p>
          <a:p>
            <a:r>
              <a:rPr lang="en-US" dirty="0"/>
              <a:t>N! = n * n-1 * … * 1</a:t>
            </a:r>
          </a:p>
          <a:p>
            <a:endParaRPr lang="en-US" dirty="0"/>
          </a:p>
          <a:p>
            <a:r>
              <a:rPr lang="en-US" dirty="0"/>
              <a:t>0! = 1</a:t>
            </a:r>
          </a:p>
          <a:p>
            <a:pPr lvl="1"/>
            <a:r>
              <a:rPr lang="en-US" dirty="0"/>
              <a:t>Essentially, there is exactly 1 way to order 0 items</a:t>
            </a:r>
          </a:p>
        </p:txBody>
      </p:sp>
    </p:spTree>
    <p:extLst>
      <p:ext uri="{BB962C8B-B14F-4D97-AF65-F5344CB8AC3E}">
        <p14:creationId xmlns:p14="http://schemas.microsoft.com/office/powerpoint/2010/main" val="4285537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4D10-5017-EFE5-B617-1FE642C53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Factorials in fractions – save yourself some work if possible</a:t>
            </a:r>
          </a:p>
        </p:txBody>
      </p:sp>
      <p:pic>
        <p:nvPicPr>
          <p:cNvPr id="9218" name="Picture 2" descr="9 factorial divided by 7 factorial equals 9 times 8 equals 72">
            <a:extLst>
              <a:ext uri="{FF2B5EF4-FFF2-40B4-BE49-F238E27FC236}">
                <a16:creationId xmlns:a16="http://schemas.microsoft.com/office/drawing/2014/main" id="{A988821E-A60C-500C-B9F7-01232E8A9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36" y="2062538"/>
            <a:ext cx="6582040" cy="40241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9!/7!=9x8=72">
            <a:extLst>
              <a:ext uri="{FF2B5EF4-FFF2-40B4-BE49-F238E27FC236}">
                <a16:creationId xmlns:a16="http://schemas.microsoft.com/office/drawing/2014/main" id="{EFD80499-0236-D570-C59E-FCC40172A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5484" y="2062538"/>
            <a:ext cx="3219334" cy="40241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186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80BD-51E0-2F8E-6F3F-CB36089A1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For my chore list of 5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16C47-F97A-D7C6-50D4-CD1F2AF21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 = {grocery, bank, library, mail, pet store}</a:t>
            </a:r>
          </a:p>
          <a:p>
            <a:r>
              <a:rPr lang="en-US" dirty="0"/>
              <a:t>|S| = 5</a:t>
            </a:r>
          </a:p>
          <a:p>
            <a:endParaRPr lang="en-US" dirty="0"/>
          </a:p>
          <a:p>
            <a:r>
              <a:rPr lang="en-US" dirty="0"/>
              <a:t>Number of permutations = 5!</a:t>
            </a:r>
          </a:p>
        </p:txBody>
      </p:sp>
    </p:spTree>
    <p:extLst>
      <p:ext uri="{BB962C8B-B14F-4D97-AF65-F5344CB8AC3E}">
        <p14:creationId xmlns:p14="http://schemas.microsoft.com/office/powerpoint/2010/main" val="3442289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D88A-8BB7-75FA-A078-39F85F9D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61A89-8575-1495-32DF-D737E269B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6614"/>
            <a:ext cx="10515600" cy="5066261"/>
          </a:xfrm>
        </p:spPr>
        <p:txBody>
          <a:bodyPr>
            <a:normAutofit/>
          </a:bodyPr>
          <a:lstStyle/>
          <a:p>
            <a:r>
              <a:rPr lang="en-US" dirty="0"/>
              <a:t>What if I only have time for 2 chores?</a:t>
            </a:r>
          </a:p>
          <a:p>
            <a:r>
              <a:rPr lang="en-US" dirty="0"/>
              <a:t>How many ordered arrangements could I have here?</a:t>
            </a:r>
          </a:p>
          <a:p>
            <a:pPr lvl="1"/>
            <a:r>
              <a:rPr lang="en-US" dirty="0"/>
              <a:t>2_chore = {(x, y) | (</a:t>
            </a:r>
            <a:r>
              <a:rPr lang="en-US" dirty="0" err="1"/>
              <a:t>x,y</a:t>
            </a:r>
            <a:r>
              <a:rPr lang="en-US" dirty="0"/>
              <a:t>) ∈ </a:t>
            </a:r>
            <a:r>
              <a:rPr lang="en-US" dirty="0" err="1"/>
              <a:t>SxS</a:t>
            </a: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2 “slots”</a:t>
            </a:r>
          </a:p>
          <a:p>
            <a:r>
              <a:rPr lang="en-US" dirty="0"/>
              <a:t>5 options for slot 1</a:t>
            </a:r>
          </a:p>
          <a:p>
            <a:r>
              <a:rPr lang="en-US" dirty="0"/>
              <a:t>4 options for slot 2 </a:t>
            </a:r>
          </a:p>
          <a:p>
            <a:pPr lvl="1"/>
            <a:r>
              <a:rPr lang="en-US" dirty="0"/>
              <a:t>Going to the bank twice isn’t an option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F78467-2B15-B410-D252-06316B663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697" y="3766300"/>
            <a:ext cx="3924300" cy="25654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1892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9F23-F1B2-6EE5-B421-9134CA7AB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What about if I have time for 3 chores?</a:t>
            </a:r>
            <a:br>
              <a:rPr lang="en-US" dirty="0"/>
            </a:br>
            <a:r>
              <a:rPr lang="en-US" dirty="0"/>
              <a:t>Or some other number?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BD65E-A06B-0FF1-B0DE-56510AA68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something called an r-permutation.</a:t>
            </a:r>
          </a:p>
          <a:p>
            <a:pPr lvl="1"/>
            <a:r>
              <a:rPr lang="en-US" dirty="0"/>
              <a:t>Denoted nPr.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n is the number of distinct elements </a:t>
            </a:r>
          </a:p>
          <a:p>
            <a:pPr lvl="1"/>
            <a:r>
              <a:rPr lang="en-US" dirty="0"/>
              <a:t>(aka the cardinality of the set in question)</a:t>
            </a:r>
          </a:p>
          <a:p>
            <a:r>
              <a:rPr lang="en-US" dirty="0"/>
              <a:t>r = the number of things I can pick</a:t>
            </a:r>
          </a:p>
          <a:p>
            <a:endParaRPr lang="en-US" dirty="0"/>
          </a:p>
        </p:txBody>
      </p:sp>
      <p:pic>
        <p:nvPicPr>
          <p:cNvPr id="4" name="Picture 2" descr="Permutations &amp; Combinations (IGCSE Worked Examples, solutions)">
            <a:extLst>
              <a:ext uri="{FF2B5EF4-FFF2-40B4-BE49-F238E27FC236}">
                <a16:creationId xmlns:a16="http://schemas.microsoft.com/office/drawing/2014/main" id="{A0761578-BF6D-836B-BACE-B6917E574E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3" t="14913" r="51189" b="46909"/>
          <a:stretch>
            <a:fillRect/>
          </a:stretch>
        </p:blipFill>
        <p:spPr bwMode="auto">
          <a:xfrm>
            <a:off x="7847215" y="4220098"/>
            <a:ext cx="4344785" cy="26379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88708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92CBF-B938-FF72-579A-271711900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quick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422E5-B6AD-0489-D19F-086E4FDD8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60033"/>
          </a:xfrm>
        </p:spPr>
        <p:txBody>
          <a:bodyPr>
            <a:normAutofit/>
          </a:bodyPr>
          <a:lstStyle/>
          <a:p>
            <a:r>
              <a:rPr lang="en-US" dirty="0"/>
              <a:t>I have 8 grocery items on my list, how many ways can I go get them?</a:t>
            </a:r>
          </a:p>
          <a:p>
            <a:pPr lvl="1"/>
            <a:r>
              <a:rPr lang="en-US" dirty="0"/>
              <a:t>n = r = 8</a:t>
            </a:r>
          </a:p>
          <a:p>
            <a:pPr lvl="1"/>
            <a:r>
              <a:rPr lang="en-US" dirty="0"/>
              <a:t>8! / 0!</a:t>
            </a:r>
          </a:p>
          <a:p>
            <a:pPr lvl="2"/>
            <a:r>
              <a:rPr lang="en-US" dirty="0"/>
              <a:t>Remember 0! = 1</a:t>
            </a:r>
          </a:p>
          <a:p>
            <a:pPr lvl="1"/>
            <a:r>
              <a:rPr lang="en-US" dirty="0"/>
              <a:t>40320</a:t>
            </a:r>
          </a:p>
          <a:p>
            <a:r>
              <a:rPr lang="en-US" dirty="0"/>
              <a:t>There are 49 rides at Disneyland, I have time to wait in line for 10 of them </a:t>
            </a:r>
          </a:p>
          <a:p>
            <a:pPr lvl="1"/>
            <a:r>
              <a:rPr lang="en-US" dirty="0"/>
              <a:t>How many different orders could I tackle?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EADF2C-87C1-B85D-755E-4C065F96E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2498" y="4820393"/>
            <a:ext cx="2841567" cy="193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49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13DE5-352F-FD4E-72C8-E4CE2611A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976"/>
            <a:ext cx="10515600" cy="1325563"/>
          </a:xfrm>
        </p:spPr>
        <p:txBody>
          <a:bodyPr/>
          <a:lstStyle/>
          <a:p>
            <a:r>
              <a:rPr lang="en-US" dirty="0"/>
              <a:t>What if order doesn’t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55413-3471-A707-970B-27242E3AC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196" y="1559617"/>
            <a:ext cx="10515600" cy="1549343"/>
          </a:xfrm>
        </p:spPr>
        <p:txBody>
          <a:bodyPr>
            <a:normAutofit/>
          </a:bodyPr>
          <a:lstStyle/>
          <a:p>
            <a:r>
              <a:rPr lang="en-US" dirty="0"/>
              <a:t>There are 25 flavors of gelato at Gelato Fiasco*</a:t>
            </a:r>
          </a:p>
          <a:p>
            <a:r>
              <a:rPr lang="en-US" dirty="0"/>
              <a:t>I want a dish with 2 flavors in it</a:t>
            </a:r>
          </a:p>
          <a:p>
            <a:r>
              <a:rPr lang="en-US" dirty="0"/>
              <a:t>How many possible orders could I make</a:t>
            </a:r>
          </a:p>
          <a:p>
            <a:endParaRPr lang="en-US" dirty="0"/>
          </a:p>
        </p:txBody>
      </p:sp>
      <p:pic>
        <p:nvPicPr>
          <p:cNvPr id="19458" name="Picture 2" descr="The Gelato Fiasco - Portland Maine Ice Cream - HappyCow">
            <a:extLst>
              <a:ext uri="{FF2B5EF4-FFF2-40B4-BE49-F238E27FC236}">
                <a16:creationId xmlns:a16="http://schemas.microsoft.com/office/drawing/2014/main" id="{5381F26E-EF41-73D6-3F03-721DC61B2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41964"/>
            <a:ext cx="4821381" cy="3616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8C0D92-F89D-072E-3EE8-1D7670D18A4B}"/>
              </a:ext>
            </a:extLst>
          </p:cNvPr>
          <p:cNvSpPr txBox="1">
            <a:spLocks/>
          </p:cNvSpPr>
          <p:nvPr/>
        </p:nvSpPr>
        <p:spPr>
          <a:xfrm>
            <a:off x="5104014" y="3500639"/>
            <a:ext cx="6116781" cy="1549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Chocolate and hazelnut is the same as hazelnut and chocolate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BCD2241-5865-F30A-8DD7-038229E174C6}"/>
              </a:ext>
            </a:extLst>
          </p:cNvPr>
          <p:cNvSpPr txBox="1">
            <a:spLocks/>
          </p:cNvSpPr>
          <p:nvPr/>
        </p:nvSpPr>
        <p:spPr>
          <a:xfrm>
            <a:off x="5104014" y="4635601"/>
            <a:ext cx="39069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Combinations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7A6F25-CF6C-3D6E-9DB2-C834182B6304}"/>
              </a:ext>
            </a:extLst>
          </p:cNvPr>
          <p:cNvSpPr txBox="1"/>
          <p:nvPr/>
        </p:nvSpPr>
        <p:spPr>
          <a:xfrm>
            <a:off x="5104014" y="6478393"/>
            <a:ext cx="3556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For the purposes of this problem</a:t>
            </a:r>
          </a:p>
        </p:txBody>
      </p:sp>
    </p:spTree>
    <p:extLst>
      <p:ext uri="{BB962C8B-B14F-4D97-AF65-F5344CB8AC3E}">
        <p14:creationId xmlns:p14="http://schemas.microsoft.com/office/powerpoint/2010/main" val="372033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51CC0-9400-F618-1F24-150C44C94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77A3C-2110-96B6-DB7C-DC868CA98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count possible groupings when order within the set doesn’t matter</a:t>
            </a:r>
          </a:p>
          <a:p>
            <a:endParaRPr lang="en-US" dirty="0"/>
          </a:p>
          <a:p>
            <a:r>
              <a:rPr lang="en-US" dirty="0"/>
              <a:t>When n and r are not equivalent this can be called an r-combination</a:t>
            </a:r>
          </a:p>
          <a:p>
            <a:pPr lvl="1"/>
            <a:r>
              <a:rPr lang="en-US" dirty="0"/>
              <a:t>Aka </a:t>
            </a:r>
            <a:r>
              <a:rPr lang="en-US" dirty="0" err="1"/>
              <a:t>nCr</a:t>
            </a:r>
            <a:endParaRPr lang="en-US" dirty="0"/>
          </a:p>
          <a:p>
            <a:pPr lvl="1"/>
            <a:r>
              <a:rPr lang="en-US" dirty="0"/>
              <a:t>Or </a:t>
            </a:r>
          </a:p>
          <a:p>
            <a:pPr lvl="1"/>
            <a:endParaRPr lang="en-US" dirty="0"/>
          </a:p>
          <a:p>
            <a:r>
              <a:rPr lang="en-US" dirty="0"/>
              <a:t>Also can be called “n choose r”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2" descr="Permutations &amp; Combinations (IGCSE Worked Examples, solutions)">
            <a:extLst>
              <a:ext uri="{FF2B5EF4-FFF2-40B4-BE49-F238E27FC236}">
                <a16:creationId xmlns:a16="http://schemas.microsoft.com/office/drawing/2014/main" id="{03E42BB8-8EEE-F78B-3567-D068C2ACD6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23" t="14210" r="1998" b="50000"/>
          <a:stretch>
            <a:fillRect/>
          </a:stretch>
        </p:blipFill>
        <p:spPr bwMode="auto">
          <a:xfrm>
            <a:off x="7002173" y="4123113"/>
            <a:ext cx="5189827" cy="273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E047C7-B308-2FD1-1AEE-F2CDF3431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175" y="4515312"/>
            <a:ext cx="4572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165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F3247-8B5F-B1A4-22BE-74F76F6D4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Gelato though: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C9590-DF61-D539-5E3C-52A4B2F3C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25 flavors</a:t>
            </a:r>
          </a:p>
          <a:p>
            <a:r>
              <a:rPr lang="en-US" dirty="0"/>
              <a:t>I want a dish with 2</a:t>
            </a:r>
          </a:p>
          <a:p>
            <a:endParaRPr lang="en-US" dirty="0"/>
          </a:p>
          <a:p>
            <a:r>
              <a:rPr lang="en-US" dirty="0"/>
              <a:t>25 choose 2</a:t>
            </a:r>
          </a:p>
          <a:p>
            <a:endParaRPr lang="en-US" dirty="0"/>
          </a:p>
        </p:txBody>
      </p:sp>
      <p:pic>
        <p:nvPicPr>
          <p:cNvPr id="4" name="Picture 2" descr="Permutations &amp; Combinations (IGCSE Worked Examples, solutions)">
            <a:extLst>
              <a:ext uri="{FF2B5EF4-FFF2-40B4-BE49-F238E27FC236}">
                <a16:creationId xmlns:a16="http://schemas.microsoft.com/office/drawing/2014/main" id="{C98A9643-A4C5-563D-AAC9-A46482D18F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23" t="14210" r="1998" b="50000"/>
          <a:stretch>
            <a:fillRect/>
          </a:stretch>
        </p:blipFill>
        <p:spPr bwMode="auto">
          <a:xfrm>
            <a:off x="7002173" y="4123113"/>
            <a:ext cx="5189827" cy="273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6FC95E-F699-EB52-96D2-DBF3A0E55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9611" y="102900"/>
            <a:ext cx="2853807" cy="344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37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DF8E96-A3FA-5095-C827-2246589D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en-US" sz="3200" dirty="0">
                <a:solidFill>
                  <a:srgbClr val="595959"/>
                </a:solidFill>
              </a:rPr>
              <a:t>Quick practice on your 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02270-DD68-3C3D-F526-5D5087349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rgbClr val="595959"/>
                </a:solidFill>
              </a:rPr>
              <a:t>Tickets for a concert are given out randomly to a class containing 20 students. No student is given more than one ticket. There are 15 tickets.</a:t>
            </a:r>
          </a:p>
          <a:p>
            <a:r>
              <a:rPr lang="en-US" sz="2000" b="1">
                <a:solidFill>
                  <a:srgbClr val="595959"/>
                </a:solidFill>
              </a:rPr>
              <a:t>Find the number of ways in which the tickets can be distributed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5E366B-5D76-0E38-46C7-308BE4EE7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341" y="685799"/>
            <a:ext cx="4609976" cy="553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02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1724B-1303-6BE9-DF98-6D34B93F1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the formula should be pretty straightforward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It’s figuring out how to apply it that can be hard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56872-34F4-C37D-6952-FCD582C80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40764"/>
            <a:ext cx="10515600" cy="2613371"/>
          </a:xfrm>
        </p:spPr>
        <p:txBody>
          <a:bodyPr/>
          <a:lstStyle/>
          <a:p>
            <a:r>
              <a:rPr lang="en-US" dirty="0"/>
              <a:t>Let A = {1, 2, 3, 4, 5, 6, 7, 8, 9}</a:t>
            </a:r>
          </a:p>
          <a:p>
            <a:r>
              <a:rPr lang="en-US" dirty="0"/>
              <a:t>How many 5-element subsets of A have exactly two even elements?</a:t>
            </a:r>
          </a:p>
          <a:p>
            <a:endParaRPr lang="en-US" dirty="0"/>
          </a:p>
          <a:p>
            <a:r>
              <a:rPr lang="en-US" dirty="0"/>
              <a:t>Discussion: how would you think to go about calculating this?</a:t>
            </a:r>
          </a:p>
        </p:txBody>
      </p:sp>
    </p:spTree>
    <p:extLst>
      <p:ext uri="{BB962C8B-B14F-4D97-AF65-F5344CB8AC3E}">
        <p14:creationId xmlns:p14="http://schemas.microsoft.com/office/powerpoint/2010/main" val="2165466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92C0E-EC77-FBF5-DB40-290157921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9505"/>
            <a:ext cx="10515600" cy="1325563"/>
          </a:xfrm>
        </p:spPr>
        <p:txBody>
          <a:bodyPr/>
          <a:lstStyle/>
          <a:p>
            <a:r>
              <a:rPr lang="en-US" dirty="0"/>
              <a:t>My approach: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D814E-9B37-D6E7-086F-FBABF8707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6676"/>
            <a:ext cx="10515600" cy="5981324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Identify all combinations of 2 even numbers possible</a:t>
            </a:r>
          </a:p>
          <a:p>
            <a:pPr marL="971550" lvl="1" indent="-514350">
              <a:buAutoNum type="arabicPeriod"/>
            </a:pPr>
            <a:r>
              <a:rPr lang="en-US" dirty="0"/>
              <a:t>4 even numbers {2, 4, 6, 8}</a:t>
            </a:r>
          </a:p>
          <a:p>
            <a:pPr marL="971550" lvl="1" indent="-514350">
              <a:buAutoNum type="arabicPeriod"/>
            </a:pPr>
            <a:r>
              <a:rPr lang="en-US" dirty="0"/>
              <a:t>4C2 = 6</a:t>
            </a:r>
          </a:p>
          <a:p>
            <a:pPr marL="1428750" lvl="2" indent="-514350">
              <a:buAutoNum type="arabicPeriod"/>
            </a:pPr>
            <a:r>
              <a:rPr lang="en-US" u="sng" dirty="0"/>
              <a:t>4! / 2! * (4-2)!  </a:t>
            </a:r>
            <a:r>
              <a:rPr lang="en-US" dirty="0"/>
              <a:t>= </a:t>
            </a:r>
            <a:r>
              <a:rPr lang="en-US" u="sng" dirty="0"/>
              <a:t>(4 * 3) / 2 </a:t>
            </a:r>
            <a:r>
              <a:rPr lang="en-US" dirty="0"/>
              <a:t> =  </a:t>
            </a:r>
            <a:r>
              <a:rPr lang="en-US" u="sng" dirty="0"/>
              <a:t>12/ 2 </a:t>
            </a:r>
            <a:r>
              <a:rPr lang="en-US" dirty="0"/>
              <a:t>= </a:t>
            </a:r>
            <a:r>
              <a:rPr lang="en-US" b="1" dirty="0"/>
              <a:t>6</a:t>
            </a:r>
          </a:p>
          <a:p>
            <a:pPr marL="514350" indent="-514350">
              <a:buAutoNum type="arabicPeriod"/>
            </a:pPr>
            <a:r>
              <a:rPr lang="en-US" dirty="0"/>
              <a:t>That leaves us with 3 “slots” to fill with odd numbers</a:t>
            </a:r>
          </a:p>
          <a:p>
            <a:pPr marL="971550" lvl="1" indent="-514350">
              <a:buAutoNum type="arabicPeriod"/>
            </a:pPr>
            <a:r>
              <a:rPr lang="en-US" dirty="0"/>
              <a:t>Remember- exactly 2 need to be even</a:t>
            </a:r>
          </a:p>
          <a:p>
            <a:pPr marL="971550" lvl="1" indent="-514350">
              <a:buAutoNum type="arabicPeriod"/>
            </a:pPr>
            <a:r>
              <a:rPr lang="en-US" dirty="0"/>
              <a:t>5 odd numbers, 3 slots = 5C3 = 10</a:t>
            </a:r>
          </a:p>
          <a:p>
            <a:pPr marL="1428750" lvl="2" indent="-514350">
              <a:buAutoNum type="arabicPeriod"/>
            </a:pPr>
            <a:r>
              <a:rPr lang="en-US" u="sng" dirty="0"/>
              <a:t>5! / 3! * 2!</a:t>
            </a:r>
            <a:r>
              <a:rPr lang="en-US" dirty="0"/>
              <a:t> = </a:t>
            </a:r>
            <a:r>
              <a:rPr lang="en-US" u="sng" dirty="0"/>
              <a:t>5 * 4 / 2 * 1 </a:t>
            </a:r>
            <a:r>
              <a:rPr lang="en-US" dirty="0"/>
              <a:t>= </a:t>
            </a:r>
            <a:r>
              <a:rPr lang="en-US" u="sng" dirty="0"/>
              <a:t>20 / 2</a:t>
            </a:r>
            <a:r>
              <a:rPr lang="en-US" dirty="0"/>
              <a:t> = </a:t>
            </a:r>
            <a:r>
              <a:rPr lang="en-US" b="1" dirty="0"/>
              <a:t>10</a:t>
            </a:r>
          </a:p>
          <a:p>
            <a:pPr marL="514350" indent="-514350">
              <a:buAutoNum type="arabicPeriod"/>
            </a:pPr>
            <a:endParaRPr lang="en-US" b="1" dirty="0"/>
          </a:p>
          <a:p>
            <a:pPr marL="514350" indent="-514350">
              <a:buAutoNum type="arabicPeriod"/>
            </a:pPr>
            <a:r>
              <a:rPr lang="en-US" dirty="0"/>
              <a:t>B = set of our 2-item combos</a:t>
            </a:r>
          </a:p>
          <a:p>
            <a:pPr marL="0" indent="0">
              <a:buNone/>
            </a:pPr>
            <a:r>
              <a:rPr lang="en-US" dirty="0"/>
              <a:t>       C = set of our 3-item combos</a:t>
            </a:r>
            <a:br>
              <a:rPr lang="en-US" dirty="0"/>
            </a:br>
            <a:r>
              <a:rPr lang="en-US" dirty="0"/>
              <a:t>       </a:t>
            </a:r>
            <a:br>
              <a:rPr lang="en-US" dirty="0"/>
            </a:br>
            <a:r>
              <a:rPr lang="en-US" dirty="0"/>
              <a:t>       </a:t>
            </a:r>
            <a:r>
              <a:rPr lang="en-US" dirty="0" err="1"/>
              <a:t>BxC</a:t>
            </a:r>
            <a:r>
              <a:rPr lang="en-US" dirty="0"/>
              <a:t> = all combos so |</a:t>
            </a:r>
            <a:r>
              <a:rPr lang="en-US" dirty="0" err="1"/>
              <a:t>BxC</a:t>
            </a:r>
            <a:r>
              <a:rPr lang="en-US" dirty="0"/>
              <a:t>| = all possible sets</a:t>
            </a:r>
            <a:br>
              <a:rPr lang="en-US" dirty="0"/>
            </a:br>
            <a:r>
              <a:rPr lang="en-US" dirty="0"/>
              <a:t>       |</a:t>
            </a:r>
            <a:r>
              <a:rPr lang="en-US" dirty="0" err="1"/>
              <a:t>BxC</a:t>
            </a:r>
            <a:r>
              <a:rPr lang="en-US" dirty="0"/>
              <a:t>| = |B| * |C| so I get 60 possible sets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925504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8CE19-3E55-499B-1806-7F45162BE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Practice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01851-0BAB-4DF8-D495-DB873472B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56279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A plant nursery sells 10 different varieties of rose bush</a:t>
            </a:r>
          </a:p>
          <a:p>
            <a:pPr marL="0" indent="0">
              <a:buNone/>
            </a:pPr>
            <a:r>
              <a:rPr lang="en-US" dirty="0"/>
              <a:t>   A gardener wishes to buy 6 rose bushes, all different varieties</a:t>
            </a:r>
          </a:p>
          <a:p>
            <a:pPr marL="0" indent="0">
              <a:buNone/>
            </a:pPr>
            <a:r>
              <a:rPr lang="en-US" dirty="0"/>
              <a:t>  How many ways she can make her selection?</a:t>
            </a:r>
          </a:p>
        </p:txBody>
      </p:sp>
      <p:pic>
        <p:nvPicPr>
          <p:cNvPr id="4" name="Picture 2" descr="Permutations &amp; Combinations (IGCSE Worked Examples, solutions)">
            <a:extLst>
              <a:ext uri="{FF2B5EF4-FFF2-40B4-BE49-F238E27FC236}">
                <a16:creationId xmlns:a16="http://schemas.microsoft.com/office/drawing/2014/main" id="{B9B1A1DE-AE1A-19EC-07D3-E0A9AE8DA7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909"/>
          <a:stretch>
            <a:fillRect/>
          </a:stretch>
        </p:blipFill>
        <p:spPr bwMode="auto">
          <a:xfrm>
            <a:off x="5286894" y="4295206"/>
            <a:ext cx="6905106" cy="2562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38A3F1-A8C7-A350-8671-7009CFFD2C9D}"/>
              </a:ext>
            </a:extLst>
          </p:cNvPr>
          <p:cNvSpPr txBox="1"/>
          <p:nvPr/>
        </p:nvSpPr>
        <p:spPr>
          <a:xfrm>
            <a:off x="838200" y="3690851"/>
            <a:ext cx="41261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1. Which formula to use here?</a:t>
            </a:r>
            <a:br>
              <a:rPr lang="en-US" sz="2400" dirty="0"/>
            </a:br>
            <a:r>
              <a:rPr lang="en-US" sz="2400" dirty="0"/>
              <a:t>2. What’s the answer?</a:t>
            </a:r>
          </a:p>
        </p:txBody>
      </p:sp>
    </p:spTree>
    <p:extLst>
      <p:ext uri="{BB962C8B-B14F-4D97-AF65-F5344CB8AC3E}">
        <p14:creationId xmlns:p14="http://schemas.microsoft.com/office/powerpoint/2010/main" val="1673716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16C2C-BFC3-40A2-2360-25B0AC7A5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8C2BA-09D8-4845-DB9D-3D733CD1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94" y="18255"/>
            <a:ext cx="10515600" cy="1325563"/>
          </a:xfrm>
        </p:spPr>
        <p:txBody>
          <a:bodyPr/>
          <a:lstStyle/>
          <a:p>
            <a:r>
              <a:rPr lang="en-US" dirty="0"/>
              <a:t>Order doesn’t matter here: Combinations</a:t>
            </a:r>
          </a:p>
        </p:txBody>
      </p:sp>
      <p:pic>
        <p:nvPicPr>
          <p:cNvPr id="4" name="Picture 2" descr="Permutations &amp; Combinations (IGCSE Worked Examples, solutions)">
            <a:extLst>
              <a:ext uri="{FF2B5EF4-FFF2-40B4-BE49-F238E27FC236}">
                <a16:creationId xmlns:a16="http://schemas.microsoft.com/office/drawing/2014/main" id="{BF8C3751-59AC-DEAA-A5F3-4A30DEBCFC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62" t="12347" b="46910"/>
          <a:stretch>
            <a:fillRect/>
          </a:stretch>
        </p:blipFill>
        <p:spPr bwMode="auto">
          <a:xfrm>
            <a:off x="151000" y="3429000"/>
            <a:ext cx="5588037" cy="321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FA7A2AB-8588-F6FA-A995-63071B30F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632" y="1559618"/>
            <a:ext cx="7712825" cy="4351338"/>
          </a:xfrm>
        </p:spPr>
        <p:txBody>
          <a:bodyPr/>
          <a:lstStyle/>
          <a:p>
            <a:r>
              <a:rPr lang="en-US" dirty="0"/>
              <a:t>N = 10 possible rose bushes</a:t>
            </a:r>
          </a:p>
          <a:p>
            <a:r>
              <a:rPr lang="en-US" dirty="0"/>
              <a:t>R = 6 possible “slots” in our cart</a:t>
            </a:r>
            <a:br>
              <a:rPr lang="en-US" dirty="0"/>
            </a:b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11B711-951B-500B-80D5-4A063FCBC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037" y="2816240"/>
            <a:ext cx="3480233" cy="38321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DAF088-3E8B-57CC-D379-1AA60DAECABD}"/>
              </a:ext>
            </a:extLst>
          </p:cNvPr>
          <p:cNvSpPr txBox="1"/>
          <p:nvPr/>
        </p:nvSpPr>
        <p:spPr>
          <a:xfrm>
            <a:off x="9640440" y="3135122"/>
            <a:ext cx="1808508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10 * 9 * 8 * 7</a:t>
            </a:r>
          </a:p>
          <a:p>
            <a:r>
              <a:rPr lang="en-US" sz="2400" dirty="0"/>
              <a:t>---------------</a:t>
            </a:r>
            <a:br>
              <a:rPr lang="en-US" sz="2400" dirty="0"/>
            </a:br>
            <a:r>
              <a:rPr lang="en-US" sz="2400" dirty="0"/>
              <a:t>4 * 3 * 2 *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7FEA53-34A7-2486-207B-9034F1F1EADA}"/>
              </a:ext>
            </a:extLst>
          </p:cNvPr>
          <p:cNvSpPr txBox="1"/>
          <p:nvPr/>
        </p:nvSpPr>
        <p:spPr>
          <a:xfrm>
            <a:off x="9842418" y="5066022"/>
            <a:ext cx="140455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5040 / 24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F5A676-39A7-27E4-47FB-58102BC462F9}"/>
              </a:ext>
            </a:extLst>
          </p:cNvPr>
          <p:cNvCxnSpPr>
            <a:cxnSpLocks/>
          </p:cNvCxnSpPr>
          <p:nvPr/>
        </p:nvCxnSpPr>
        <p:spPr>
          <a:xfrm flipV="1">
            <a:off x="8320008" y="4189615"/>
            <a:ext cx="1320432" cy="133807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2208FA-FDF1-E2F6-80F3-774A89CD1431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10544694" y="4335451"/>
            <a:ext cx="0" cy="73057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48BEEE8-18E5-64E9-AACE-B5EA796EC358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8186651" y="5527687"/>
            <a:ext cx="2358043" cy="98752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82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ermutations &amp; Combinations (IGCSE Worked Examples, solutions)">
            <a:extLst>
              <a:ext uri="{FF2B5EF4-FFF2-40B4-BE49-F238E27FC236}">
                <a16:creationId xmlns:a16="http://schemas.microsoft.com/office/drawing/2014/main" id="{712DE4DD-11E3-5561-12AB-FE29E3EC6A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909"/>
          <a:stretch>
            <a:fillRect/>
          </a:stretch>
        </p:blipFill>
        <p:spPr bwMode="auto">
          <a:xfrm>
            <a:off x="0" y="1166501"/>
            <a:ext cx="12192001" cy="4524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B99410-5680-1FA3-3072-8C8632CC3C3A}"/>
              </a:ext>
            </a:extLst>
          </p:cNvPr>
          <p:cNvSpPr txBox="1"/>
          <p:nvPr/>
        </p:nvSpPr>
        <p:spPr>
          <a:xfrm>
            <a:off x="6088000" y="6599892"/>
            <a:ext cx="62037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www.onlinemathlearning.com</a:t>
            </a:r>
            <a:r>
              <a:rPr lang="en-US" sz="1400" dirty="0"/>
              <a:t>/</a:t>
            </a:r>
            <a:r>
              <a:rPr lang="en-US" sz="1400" dirty="0" err="1"/>
              <a:t>igcse</a:t>
            </a:r>
            <a:r>
              <a:rPr lang="en-US" sz="1400" dirty="0"/>
              <a:t>-permutations-</a:t>
            </a:r>
            <a:r>
              <a:rPr lang="en-US" sz="1400" dirty="0" err="1"/>
              <a:t>combinations.html</a:t>
            </a: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1D5F1C-0D3E-5B97-9CC5-211608725277}"/>
              </a:ext>
            </a:extLst>
          </p:cNvPr>
          <p:cNvSpPr txBox="1"/>
          <p:nvPr/>
        </p:nvSpPr>
        <p:spPr>
          <a:xfrm>
            <a:off x="6400800" y="5691499"/>
            <a:ext cx="2629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nCr</a:t>
            </a:r>
            <a:br>
              <a:rPr lang="en-US" dirty="0"/>
            </a:br>
            <a:r>
              <a:rPr lang="en-US" dirty="0"/>
              <a:t>Commonly: “n choose r”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7C9BCA-79D8-9589-A968-3FBE002E9E59}"/>
              </a:ext>
            </a:extLst>
          </p:cNvPr>
          <p:cNvSpPr txBox="1"/>
          <p:nvPr/>
        </p:nvSpPr>
        <p:spPr>
          <a:xfrm>
            <a:off x="565265" y="5691499"/>
            <a:ext cx="3553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nPr common </a:t>
            </a:r>
            <a:br>
              <a:rPr lang="en-US" dirty="0"/>
            </a:br>
            <a:r>
              <a:rPr lang="en-US" dirty="0"/>
              <a:t>less other common nomenclature</a:t>
            </a:r>
          </a:p>
        </p:txBody>
      </p:sp>
    </p:spTree>
    <p:extLst>
      <p:ext uri="{BB962C8B-B14F-4D97-AF65-F5344CB8AC3E}">
        <p14:creationId xmlns:p14="http://schemas.microsoft.com/office/powerpoint/2010/main" val="23780225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F12DA-1295-3734-C3AB-31FDF3E59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with repetition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7BF4E-2EC9-4EE5-E4EE-DBFA31BD3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order matters?</a:t>
            </a:r>
          </a:p>
          <a:p>
            <a:pPr lvl="1"/>
            <a:r>
              <a:rPr lang="en-US" dirty="0"/>
              <a:t>We already did this! </a:t>
            </a:r>
          </a:p>
          <a:p>
            <a:pPr lvl="1"/>
            <a:r>
              <a:rPr lang="en-US" dirty="0"/>
              <a:t>Cartesian Product cardinality!</a:t>
            </a:r>
          </a:p>
          <a:p>
            <a:pPr lvl="1"/>
            <a:r>
              <a:rPr lang="en-US" dirty="0"/>
              <a:t>How many 6-digit PINs are there?</a:t>
            </a:r>
          </a:p>
          <a:p>
            <a:pPr lvl="2"/>
            <a:r>
              <a:rPr lang="en-US" dirty="0"/>
              <a:t>A = { n | n ∈ N, 0 ≤ n &lt; 10}, |A| = 10</a:t>
            </a:r>
          </a:p>
          <a:p>
            <a:pPr lvl="2"/>
            <a:r>
              <a:rPr lang="en-US" dirty="0"/>
              <a:t>| A x A x A x A x A x A | = 10</a:t>
            </a:r>
            <a:r>
              <a:rPr lang="en-US" baseline="30000" dirty="0"/>
              <a:t>6</a:t>
            </a:r>
            <a:br>
              <a:rPr lang="en-US" baseline="30000" dirty="0"/>
            </a:br>
            <a:endParaRPr lang="en-US" baseline="30000" dirty="0"/>
          </a:p>
          <a:p>
            <a:r>
              <a:rPr lang="en-US" dirty="0"/>
              <a:t>When order DOESN’T matter….</a:t>
            </a:r>
          </a:p>
        </p:txBody>
      </p:sp>
    </p:spTree>
    <p:extLst>
      <p:ext uri="{BB962C8B-B14F-4D97-AF65-F5344CB8AC3E}">
        <p14:creationId xmlns:p14="http://schemas.microsoft.com/office/powerpoint/2010/main" val="12320401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1513-C4F0-959B-F564-D4E16C8BC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order doesn’t matter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46334-D808-D3E2-1E9D-D03F3E3BE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13124"/>
          </a:xfrm>
        </p:spPr>
        <p:txBody>
          <a:bodyPr>
            <a:normAutofit/>
          </a:bodyPr>
          <a:lstStyle/>
          <a:p>
            <a:r>
              <a:rPr lang="en-US" dirty="0"/>
              <a:t>You have 5 coins in your pocket </a:t>
            </a:r>
          </a:p>
          <a:p>
            <a:r>
              <a:rPr lang="en-US" dirty="0"/>
              <a:t>You’re not sure which coins you have but they’re in US currency</a:t>
            </a:r>
          </a:p>
          <a:p>
            <a:pPr lvl="1"/>
            <a:r>
              <a:rPr lang="en-US" dirty="0"/>
              <a:t>So denominations of 1, 5, 10, and 25 cents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Could be all the same, could be all unique, or something in-between….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6FB0AF-CBCF-7CDD-C63C-97D27F1F114F}"/>
              </a:ext>
            </a:extLst>
          </p:cNvPr>
          <p:cNvSpPr txBox="1"/>
          <p:nvPr/>
        </p:nvSpPr>
        <p:spPr>
          <a:xfrm>
            <a:off x="838200" y="4673686"/>
            <a:ext cx="9236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</a:t>
            </a:r>
            <a:r>
              <a:rPr lang="en-US" sz="2400" dirty="0"/>
              <a:t>1,1,1,1,1], [1,1,1,1,5], [1,1,1,1,10], [1,1,1,25], [1,1,1,5,5],  </a:t>
            </a:r>
            <a:r>
              <a:rPr lang="en-US" sz="2400" dirty="0" err="1"/>
              <a:t>etc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19C4A9-977D-F93A-FD0A-AC08688D4992}"/>
              </a:ext>
            </a:extLst>
          </p:cNvPr>
          <p:cNvSpPr txBox="1"/>
          <p:nvPr/>
        </p:nvSpPr>
        <p:spPr>
          <a:xfrm>
            <a:off x="7763159" y="6211669"/>
            <a:ext cx="44288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Brackets here in math indicate a multiset </a:t>
            </a:r>
            <a:br>
              <a:rPr lang="en-US" dirty="0"/>
            </a:br>
            <a:r>
              <a:rPr lang="en-US" dirty="0"/>
              <a:t>aka A set that allows for repetition </a:t>
            </a:r>
          </a:p>
        </p:txBody>
      </p:sp>
    </p:spTree>
    <p:extLst>
      <p:ext uri="{BB962C8B-B14F-4D97-AF65-F5344CB8AC3E}">
        <p14:creationId xmlns:p14="http://schemas.microsoft.com/office/powerpoint/2010/main" val="4498224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9FA5-442A-78FC-BB49-25380B48E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phrase this another way:</a:t>
            </a:r>
            <a:br>
              <a:rPr lang="en-US" dirty="0"/>
            </a:br>
            <a:r>
              <a:rPr lang="en-US" dirty="0"/>
              <a:t>A “stars and bars”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B935D-FFDD-8D66-D353-CDBE31F92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7808"/>
          </a:xfrm>
        </p:spPr>
        <p:txBody>
          <a:bodyPr/>
          <a:lstStyle/>
          <a:p>
            <a:r>
              <a:rPr lang="en-US" dirty="0"/>
              <a:t>[1, 1, 1, 5, 10] = [* * * | * | * |] = 3 1s, 1 5, 1 10</a:t>
            </a:r>
          </a:p>
          <a:p>
            <a:r>
              <a:rPr lang="en-US" dirty="0"/>
              <a:t>[1, 1, 10, 25, 25]  = [* * | | * | * *]</a:t>
            </a:r>
          </a:p>
          <a:p>
            <a:r>
              <a:rPr lang="en-US" dirty="0"/>
              <a:t>[5, 5, 25, 25, 25] = [| * * | | * * *] </a:t>
            </a:r>
          </a:p>
          <a:p>
            <a:pPr lvl="1"/>
            <a:endParaRPr lang="en-US" dirty="0"/>
          </a:p>
          <a:p>
            <a:r>
              <a:rPr lang="en-US" dirty="0"/>
              <a:t>We can show how many of each type by delineating with | </a:t>
            </a:r>
          </a:p>
          <a:p>
            <a:pPr lvl="1"/>
            <a:r>
              <a:rPr lang="en-US" dirty="0"/>
              <a:t>Works out when we have an inherent ordering</a:t>
            </a:r>
          </a:p>
        </p:txBody>
      </p:sp>
    </p:spTree>
    <p:extLst>
      <p:ext uri="{BB962C8B-B14F-4D97-AF65-F5344CB8AC3E}">
        <p14:creationId xmlns:p14="http://schemas.microsoft.com/office/powerpoint/2010/main" val="40637764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C8E5-F797-DE9B-07BE-D530AD9E7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phrase another way though?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5C7AD-FCD4-E8B4-D02A-677CC11BD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9010996" cy="50323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Instead of thinking of all of the possible combinations, we can now make this an easier combinations problem</a:t>
            </a:r>
          </a:p>
          <a:p>
            <a:endParaRPr lang="en-US" dirty="0"/>
          </a:p>
          <a:p>
            <a:r>
              <a:rPr lang="en-US" dirty="0"/>
              <a:t>There will always be 3 “|”s to separate how many of each group of coins</a:t>
            </a:r>
          </a:p>
          <a:p>
            <a:r>
              <a:rPr lang="en-US" dirty="0"/>
              <a:t>There will always be 5 ”*” to indicate coins</a:t>
            </a:r>
          </a:p>
          <a:p>
            <a:r>
              <a:rPr lang="en-US" dirty="0"/>
              <a:t>This formulation requires a set of 8 ”slots” </a:t>
            </a:r>
          </a:p>
          <a:p>
            <a:pPr lvl="1"/>
            <a:r>
              <a:rPr lang="en-US" dirty="0"/>
              <a:t>(for either a * or a |)</a:t>
            </a:r>
          </a:p>
          <a:p>
            <a:endParaRPr lang="en-US" dirty="0"/>
          </a:p>
          <a:p>
            <a:r>
              <a:rPr lang="en-US" dirty="0"/>
              <a:t>So: our question becomes, how many different places among those 8 slots, can we put the bars</a:t>
            </a:r>
          </a:p>
          <a:p>
            <a:pPr lvl="1"/>
            <a:r>
              <a:rPr lang="en-US" dirty="0"/>
              <a:t>8 total “slots” where things can go</a:t>
            </a:r>
          </a:p>
          <a:p>
            <a:pPr lvl="1"/>
            <a:r>
              <a:rPr lang="en-US" dirty="0"/>
              <a:t>3 must be bars</a:t>
            </a:r>
            <a:br>
              <a:rPr lang="en-US" dirty="0"/>
            </a:br>
            <a:r>
              <a:rPr lang="en-US" dirty="0"/>
              <a:t>	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328182-31FF-3329-08C4-052C45B8D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9196" y="4143776"/>
            <a:ext cx="2342804" cy="271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5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FBB61-F468-56C7-64B4-27F2BF185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Stars and Bars </a:t>
            </a:r>
            <a:br>
              <a:rPr lang="en-US" dirty="0"/>
            </a:br>
            <a:r>
              <a:rPr lang="en-US" sz="3600" dirty="0"/>
              <a:t>(aka “balls and bins” problems)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A44AF-E206-5DB6-293B-E372E1668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computer has 5 tasks it needs to run</a:t>
            </a:r>
          </a:p>
          <a:p>
            <a:pPr lvl="1"/>
            <a:r>
              <a:rPr lang="en-US" dirty="0"/>
              <a:t>All 5 tasks take the same amount of time and resources to run</a:t>
            </a:r>
          </a:p>
          <a:p>
            <a:r>
              <a:rPr lang="en-US" dirty="0"/>
              <a:t>The computer’s CPU has 4 cores</a:t>
            </a:r>
          </a:p>
          <a:p>
            <a:pPr lvl="1"/>
            <a:r>
              <a:rPr lang="en-US" dirty="0"/>
              <a:t>A core can receive any number of tasks (0 – all 5)</a:t>
            </a:r>
          </a:p>
          <a:p>
            <a:endParaRPr lang="en-US" dirty="0"/>
          </a:p>
          <a:p>
            <a:r>
              <a:rPr lang="en-US" dirty="0"/>
              <a:t>How many different ways can a computer allocate these 5 tasks to these 4 cores?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2DB3F-6DCC-FA4A-7BCA-41938C36202D}"/>
              </a:ext>
            </a:extLst>
          </p:cNvPr>
          <p:cNvSpPr txBox="1"/>
          <p:nvPr/>
        </p:nvSpPr>
        <p:spPr>
          <a:xfrm>
            <a:off x="232756" y="6301047"/>
            <a:ext cx="231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D9BE8-5D46-8DEC-6E14-377F62A31D40}"/>
              </a:ext>
            </a:extLst>
          </p:cNvPr>
          <p:cNvSpPr txBox="1"/>
          <p:nvPr/>
        </p:nvSpPr>
        <p:spPr>
          <a:xfrm>
            <a:off x="1203959" y="5100719"/>
            <a:ext cx="4614212" cy="1569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Same thing:</a:t>
            </a:r>
            <a:br>
              <a:rPr lang="en-US" sz="2400" dirty="0"/>
            </a:br>
            <a:r>
              <a:rPr lang="en-US" sz="2400" dirty="0"/>
              <a:t>Core 1: 2 tasks,       Core 2: 1 task</a:t>
            </a:r>
            <a:br>
              <a:rPr lang="en-US" sz="2400" dirty="0"/>
            </a:br>
            <a:r>
              <a:rPr lang="en-US" sz="2400" dirty="0"/>
              <a:t>Core 3: 0 tasks,       Core 4: 2 tasks</a:t>
            </a:r>
          </a:p>
          <a:p>
            <a:r>
              <a:rPr lang="en-US" sz="2400" dirty="0"/>
              <a:t>[* * | * | | * * ]</a:t>
            </a:r>
          </a:p>
        </p:txBody>
      </p:sp>
    </p:spTree>
    <p:extLst>
      <p:ext uri="{BB962C8B-B14F-4D97-AF65-F5344CB8AC3E}">
        <p14:creationId xmlns:p14="http://schemas.microsoft.com/office/powerpoint/2010/main" val="265752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2443D-2227-B0E0-B678-02331C5FC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Generally speaking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249CE-0D22-D433-A042-74661D023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number of n-element multisets that can be created from a set with m values is…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Which is n + m-1 choose n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A0EBF0-546F-6096-E081-210779936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98044"/>
            <a:ext cx="2476500" cy="1206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FB9CD3-8DAE-B7AB-C98C-E77AD767C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398044"/>
            <a:ext cx="3073400" cy="1206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52BB91-87B2-596A-285C-3A68FE59AF85}"/>
              </a:ext>
            </a:extLst>
          </p:cNvPr>
          <p:cNvSpPr txBox="1"/>
          <p:nvPr/>
        </p:nvSpPr>
        <p:spPr>
          <a:xfrm>
            <a:off x="6587937" y="4739481"/>
            <a:ext cx="32036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 + m-1 choose m-1</a:t>
            </a:r>
          </a:p>
        </p:txBody>
      </p:sp>
    </p:spTree>
    <p:extLst>
      <p:ext uri="{BB962C8B-B14F-4D97-AF65-F5344CB8AC3E}">
        <p14:creationId xmlns:p14="http://schemas.microsoft.com/office/powerpoint/2010/main" val="332554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4AFE3-D910-42EF-86C4-5668B19A4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Try some 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36044-8A01-0494-5511-35AA2603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7034"/>
            <a:ext cx="10515600" cy="5660966"/>
          </a:xfrm>
        </p:spPr>
        <p:txBody>
          <a:bodyPr>
            <a:normAutofit/>
          </a:bodyPr>
          <a:lstStyle/>
          <a:p>
            <a:r>
              <a:rPr lang="en-US" dirty="0"/>
              <a:t>How many combinations of 4 letters (A-Z) can you make with repetition?  </a:t>
            </a:r>
          </a:p>
          <a:p>
            <a:endParaRPr lang="en-US" dirty="0"/>
          </a:p>
          <a:p>
            <a:r>
              <a:rPr lang="en-US" dirty="0"/>
              <a:t>How many ways can you place 20 identical balls into 5 different boxes?</a:t>
            </a:r>
          </a:p>
          <a:p>
            <a:endParaRPr lang="en-US" dirty="0"/>
          </a:p>
          <a:p>
            <a:r>
              <a:rPr lang="en-US" dirty="0"/>
              <a:t>A challenge problem: </a:t>
            </a:r>
          </a:p>
          <a:p>
            <a:pPr lvl="1"/>
            <a:r>
              <a:rPr lang="en-US" dirty="0"/>
              <a:t>A bag contains 20 identical red balls, 20 identical blue balls, 20 identical green balls, and exactly 1 white ball.</a:t>
            </a:r>
          </a:p>
          <a:p>
            <a:pPr lvl="1"/>
            <a:r>
              <a:rPr lang="en-US" dirty="0"/>
              <a:t>You reach in and grab 20 balls. </a:t>
            </a:r>
          </a:p>
          <a:p>
            <a:pPr lvl="1"/>
            <a:r>
              <a:rPr lang="en-US" dirty="0"/>
              <a:t>How many different outcomes are possible?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133446-ADFB-5F1E-F712-298E6EF8EDEA}"/>
              </a:ext>
            </a:extLst>
          </p:cNvPr>
          <p:cNvSpPr txBox="1"/>
          <p:nvPr/>
        </p:nvSpPr>
        <p:spPr>
          <a:xfrm>
            <a:off x="3142210" y="1729046"/>
            <a:ext cx="234419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29 C 4 = 23,751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72938A-928E-D7B3-99CF-D6738E4014BF}"/>
              </a:ext>
            </a:extLst>
          </p:cNvPr>
          <p:cNvSpPr txBox="1"/>
          <p:nvPr/>
        </p:nvSpPr>
        <p:spPr>
          <a:xfrm>
            <a:off x="2479962" y="3156912"/>
            <a:ext cx="234419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24 C 5 = 42,504</a:t>
            </a:r>
          </a:p>
        </p:txBody>
      </p:sp>
    </p:spTree>
    <p:extLst>
      <p:ext uri="{BB962C8B-B14F-4D97-AF65-F5344CB8AC3E}">
        <p14:creationId xmlns:p14="http://schemas.microsoft.com/office/powerpoint/2010/main" val="154945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D22B-310A-E709-385F-0160F18D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answer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3BC7C-22CB-AD3A-D337-BF50D77F9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2 categories of outcome</a:t>
            </a:r>
          </a:p>
          <a:p>
            <a:pPr lvl="1"/>
            <a:r>
              <a:rPr lang="en-US" dirty="0"/>
              <a:t>Yes white ball</a:t>
            </a:r>
          </a:p>
          <a:p>
            <a:pPr lvl="1"/>
            <a:r>
              <a:rPr lang="en-US" dirty="0"/>
              <a:t>No white ball</a:t>
            </a:r>
          </a:p>
          <a:p>
            <a:r>
              <a:rPr lang="en-US" dirty="0"/>
              <a:t>No white ball (3 colors)</a:t>
            </a:r>
          </a:p>
          <a:p>
            <a:pPr lvl="1"/>
            <a:r>
              <a:rPr lang="en-US" dirty="0"/>
              <a:t>20 + (3-1) choose 3-1</a:t>
            </a:r>
          </a:p>
          <a:p>
            <a:pPr lvl="2"/>
            <a:r>
              <a:rPr lang="en-US" dirty="0"/>
              <a:t>22 C 2  = 231 </a:t>
            </a:r>
          </a:p>
          <a:p>
            <a:pPr lvl="2"/>
            <a:r>
              <a:rPr lang="en-US" dirty="0"/>
              <a:t>= 22 C 20</a:t>
            </a:r>
          </a:p>
          <a:p>
            <a:r>
              <a:rPr lang="en-US" dirty="0"/>
              <a:t>Yes white ball – 1 slot taken</a:t>
            </a:r>
          </a:p>
          <a:p>
            <a:pPr lvl="1"/>
            <a:r>
              <a:rPr lang="en-US" dirty="0"/>
              <a:t>We just need to figure out all the possible combinations of the other 19 balls</a:t>
            </a:r>
          </a:p>
          <a:p>
            <a:pPr lvl="1"/>
            <a:r>
              <a:rPr lang="en-US" dirty="0"/>
              <a:t>19 slots 3 colors</a:t>
            </a:r>
          </a:p>
          <a:p>
            <a:pPr lvl="1"/>
            <a:r>
              <a:rPr lang="en-US" dirty="0"/>
              <a:t>19 + (3-1) choose 3-1 = 21 choose 2 = 210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BC4436-124C-6032-F131-B15DFC54D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8600" y="77787"/>
            <a:ext cx="3073400" cy="1206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3E9C65-312C-3B7F-9A27-7BE7EC65B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034" y="0"/>
            <a:ext cx="2476500" cy="1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65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5C5F8-BAD2-1516-9AD2-260D4CBA23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Binomials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DC1C667-D53D-EEE0-1B48-ABB1A926D7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4974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11495-2BE9-8A0A-049B-EB3E1FCC8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Binomial mean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93047-EA31-577E-DB92-BB4D5542B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You’ve probably heard the term “polynomial” back in algebra</a:t>
            </a:r>
          </a:p>
          <a:p>
            <a:pPr lvl="1"/>
            <a:r>
              <a:rPr lang="en-US" dirty="0"/>
              <a:t>Math expression</a:t>
            </a:r>
          </a:p>
          <a:p>
            <a:pPr lvl="1"/>
            <a:r>
              <a:rPr lang="en-US" dirty="0"/>
              <a:t>Poly – many</a:t>
            </a:r>
          </a:p>
          <a:p>
            <a:pPr lvl="1"/>
            <a:r>
              <a:rPr lang="en-US" dirty="0" err="1"/>
              <a:t>Nomial</a:t>
            </a:r>
            <a:r>
              <a:rPr lang="en-US" dirty="0"/>
              <a:t> – terms</a:t>
            </a:r>
          </a:p>
          <a:p>
            <a:pPr lvl="1"/>
            <a:r>
              <a:rPr lang="en-US" dirty="0"/>
              <a:t>Ex. 2a + 3b – c</a:t>
            </a:r>
          </a:p>
          <a:p>
            <a:pPr lvl="2"/>
            <a:r>
              <a:rPr lang="en-US" dirty="0"/>
              <a:t>Many variables</a:t>
            </a:r>
          </a:p>
          <a:p>
            <a:pPr lvl="2"/>
            <a:endParaRPr lang="en-US" dirty="0"/>
          </a:p>
          <a:p>
            <a:r>
              <a:rPr lang="en-US" dirty="0"/>
              <a:t>Bi – 2</a:t>
            </a:r>
          </a:p>
          <a:p>
            <a:pPr lvl="1"/>
            <a:r>
              <a:rPr lang="en-US" dirty="0"/>
              <a:t>Exactly 2 variables</a:t>
            </a:r>
          </a:p>
          <a:p>
            <a:pPr lvl="1"/>
            <a:r>
              <a:rPr lang="en-US" dirty="0"/>
              <a:t>b</a:t>
            </a:r>
            <a:r>
              <a:rPr lang="en-US" baseline="30000" dirty="0"/>
              <a:t>2</a:t>
            </a:r>
            <a:r>
              <a:rPr lang="en-US" dirty="0"/>
              <a:t>– 3c </a:t>
            </a:r>
          </a:p>
          <a:p>
            <a:pPr lvl="1"/>
            <a:r>
              <a:rPr lang="en-US" dirty="0"/>
              <a:t>2a / 5p</a:t>
            </a:r>
          </a:p>
        </p:txBody>
      </p:sp>
    </p:spTree>
    <p:extLst>
      <p:ext uri="{BB962C8B-B14F-4D97-AF65-F5344CB8AC3E}">
        <p14:creationId xmlns:p14="http://schemas.microsoft.com/office/powerpoint/2010/main" val="34677759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F9674-C931-2CB1-B4FC-F630FEF38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refresher on multiplying polynomials</a:t>
            </a:r>
          </a:p>
        </p:txBody>
      </p:sp>
      <p:pic>
        <p:nvPicPr>
          <p:cNvPr id="1026" name="Picture 2" descr="Foil Method in Math | Definition &amp; Examples - Lesson | Study.com">
            <a:extLst>
              <a:ext uri="{FF2B5EF4-FFF2-40B4-BE49-F238E27FC236}">
                <a16:creationId xmlns:a16="http://schemas.microsoft.com/office/drawing/2014/main" id="{A0D11DF6-0C14-08FA-4AB4-57AA3289FE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13958"/>
            <a:ext cx="52451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D5D892-6FE6-13B2-3F88-F5F6EF515979}"/>
              </a:ext>
            </a:extLst>
          </p:cNvPr>
          <p:cNvSpPr txBox="1"/>
          <p:nvPr/>
        </p:nvSpPr>
        <p:spPr>
          <a:xfrm>
            <a:off x="6454140" y="1913958"/>
            <a:ext cx="37763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Sometimes called FOIL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3D1480-2D2E-EA1B-B114-924A759DE1A2}"/>
              </a:ext>
            </a:extLst>
          </p:cNvPr>
          <p:cNvSpPr txBox="1"/>
          <p:nvPr/>
        </p:nvSpPr>
        <p:spPr>
          <a:xfrm>
            <a:off x="838200" y="4689928"/>
            <a:ext cx="3735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(x + 9)(x + 1) = x</a:t>
            </a:r>
            <a:r>
              <a:rPr lang="en-US" sz="2400" baseline="30000" dirty="0"/>
              <a:t>2</a:t>
            </a:r>
            <a:r>
              <a:rPr lang="en-US" sz="2400" dirty="0"/>
              <a:t> + x + 9x + 9</a:t>
            </a:r>
          </a:p>
        </p:txBody>
      </p:sp>
    </p:spTree>
    <p:extLst>
      <p:ext uri="{BB962C8B-B14F-4D97-AF65-F5344CB8AC3E}">
        <p14:creationId xmlns:p14="http://schemas.microsoft.com/office/powerpoint/2010/main" val="31732964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A02A3-1989-2368-D901-3BB2165D9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Weird patterns emerge as we expand a binomial…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55B29-EC51-5D93-F3A0-EBB1E51DE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55381"/>
          </a:xfrm>
        </p:spPr>
        <p:txBody>
          <a:bodyPr/>
          <a:lstStyle/>
          <a:p>
            <a:r>
              <a:rPr lang="en-US" dirty="0"/>
              <a:t>(a + b)</a:t>
            </a:r>
            <a:r>
              <a:rPr lang="en-US" baseline="30000" dirty="0"/>
              <a:t>1</a:t>
            </a:r>
            <a:r>
              <a:rPr lang="en-US" dirty="0"/>
              <a:t> = (a + b)</a:t>
            </a:r>
          </a:p>
          <a:p>
            <a:r>
              <a:rPr lang="en-US" dirty="0"/>
              <a:t>(a + b)</a:t>
            </a:r>
            <a:r>
              <a:rPr lang="en-US" baseline="30000" dirty="0"/>
              <a:t>2</a:t>
            </a:r>
            <a:r>
              <a:rPr lang="en-US" dirty="0"/>
              <a:t> = a</a:t>
            </a:r>
            <a:r>
              <a:rPr lang="en-US" baseline="30000" dirty="0"/>
              <a:t>2</a:t>
            </a:r>
            <a:r>
              <a:rPr lang="en-US" dirty="0"/>
              <a:t> + 2ab + b</a:t>
            </a:r>
            <a:r>
              <a:rPr lang="en-US" baseline="30000" dirty="0"/>
              <a:t>2 </a:t>
            </a:r>
          </a:p>
          <a:p>
            <a:r>
              <a:rPr lang="en-US" dirty="0"/>
              <a:t>(a + b)</a:t>
            </a:r>
            <a:r>
              <a:rPr lang="en-US" baseline="30000" dirty="0"/>
              <a:t>3</a:t>
            </a:r>
            <a:r>
              <a:rPr lang="en-US" dirty="0"/>
              <a:t> = a</a:t>
            </a:r>
            <a:r>
              <a:rPr lang="en-US" baseline="30000" dirty="0"/>
              <a:t>3</a:t>
            </a:r>
            <a:r>
              <a:rPr lang="en-US" dirty="0"/>
              <a:t> + 3a</a:t>
            </a:r>
            <a:r>
              <a:rPr lang="en-US" baseline="30000" dirty="0"/>
              <a:t>2</a:t>
            </a:r>
            <a:r>
              <a:rPr lang="en-US" dirty="0"/>
              <a:t>b + 3ab</a:t>
            </a:r>
            <a:r>
              <a:rPr lang="en-US" baseline="30000" dirty="0"/>
              <a:t>2  </a:t>
            </a:r>
            <a:r>
              <a:rPr lang="en-US" dirty="0"/>
              <a:t>+ b</a:t>
            </a:r>
            <a:r>
              <a:rPr lang="en-US" baseline="30000" dirty="0"/>
              <a:t>3</a:t>
            </a:r>
          </a:p>
          <a:p>
            <a:r>
              <a:rPr lang="en-US" dirty="0"/>
              <a:t>(a + b)</a:t>
            </a:r>
            <a:r>
              <a:rPr lang="en-US" baseline="30000" dirty="0"/>
              <a:t>4</a:t>
            </a:r>
            <a:r>
              <a:rPr lang="en-US" dirty="0"/>
              <a:t> = a</a:t>
            </a:r>
            <a:r>
              <a:rPr lang="en-US" baseline="30000" dirty="0"/>
              <a:t>4</a:t>
            </a:r>
            <a:r>
              <a:rPr lang="en-US" dirty="0"/>
              <a:t> + 4a</a:t>
            </a:r>
            <a:r>
              <a:rPr lang="en-US" baseline="30000" dirty="0"/>
              <a:t>3</a:t>
            </a:r>
            <a:r>
              <a:rPr lang="en-US" dirty="0"/>
              <a:t>b + 6a</a:t>
            </a:r>
            <a:r>
              <a:rPr lang="en-US" baseline="30000" dirty="0"/>
              <a:t>2</a:t>
            </a:r>
            <a:r>
              <a:rPr lang="en-US" dirty="0"/>
              <a:t>b</a:t>
            </a:r>
            <a:r>
              <a:rPr lang="en-US" baseline="30000" dirty="0"/>
              <a:t>2 </a:t>
            </a:r>
            <a:r>
              <a:rPr lang="en-US" dirty="0"/>
              <a:t>+ 4ab</a:t>
            </a:r>
            <a:r>
              <a:rPr lang="en-US" baseline="30000" dirty="0"/>
              <a:t>3  </a:t>
            </a:r>
            <a:r>
              <a:rPr lang="en-US" dirty="0"/>
              <a:t>+ b</a:t>
            </a:r>
            <a:r>
              <a:rPr lang="en-US" baseline="30000" dirty="0"/>
              <a:t>4</a:t>
            </a:r>
          </a:p>
          <a:p>
            <a:r>
              <a:rPr lang="en-US" dirty="0"/>
              <a:t>(a + b)</a:t>
            </a:r>
            <a:r>
              <a:rPr lang="en-US" baseline="30000" dirty="0"/>
              <a:t>5</a:t>
            </a:r>
            <a:r>
              <a:rPr lang="en-US" dirty="0"/>
              <a:t> = a</a:t>
            </a:r>
            <a:r>
              <a:rPr lang="en-US" baseline="30000" dirty="0"/>
              <a:t>5</a:t>
            </a:r>
            <a:r>
              <a:rPr lang="en-US" dirty="0"/>
              <a:t> + 5a</a:t>
            </a:r>
            <a:r>
              <a:rPr lang="en-US" baseline="30000" dirty="0"/>
              <a:t>4</a:t>
            </a:r>
            <a:r>
              <a:rPr lang="en-US" dirty="0"/>
              <a:t>b + 10a</a:t>
            </a:r>
            <a:r>
              <a:rPr lang="en-US" baseline="30000" dirty="0"/>
              <a:t>3</a:t>
            </a:r>
            <a:r>
              <a:rPr lang="en-US" dirty="0"/>
              <a:t>b</a:t>
            </a:r>
            <a:r>
              <a:rPr lang="en-US" baseline="30000" dirty="0"/>
              <a:t>2</a:t>
            </a:r>
            <a:r>
              <a:rPr lang="en-US" dirty="0"/>
              <a:t> + 10a</a:t>
            </a:r>
            <a:r>
              <a:rPr lang="en-US" baseline="30000" dirty="0"/>
              <a:t>2</a:t>
            </a:r>
            <a:r>
              <a:rPr lang="en-US" dirty="0"/>
              <a:t>b</a:t>
            </a:r>
            <a:r>
              <a:rPr lang="en-US" baseline="30000" dirty="0"/>
              <a:t>3</a:t>
            </a:r>
            <a:r>
              <a:rPr lang="en-US" dirty="0"/>
              <a:t> + 5ab</a:t>
            </a:r>
            <a:r>
              <a:rPr lang="en-US" baseline="30000" dirty="0"/>
              <a:t>4  </a:t>
            </a:r>
            <a:r>
              <a:rPr lang="en-US" dirty="0"/>
              <a:t>+ b</a:t>
            </a:r>
            <a:r>
              <a:rPr lang="en-US" baseline="30000" dirty="0"/>
              <a:t>5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567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62574-0568-2717-045A-0A2FA308D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8BF78-EFF4-FFF8-6AD4-807894561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Weird observation 1: </a:t>
            </a:r>
            <a:br>
              <a:rPr lang="en-US" dirty="0"/>
            </a:br>
            <a:r>
              <a:rPr lang="en-US" dirty="0"/>
              <a:t>exponents for a and 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15274-A78F-5FD6-3D9E-F680E29D6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35800" cy="2420681"/>
          </a:xfrm>
        </p:spPr>
        <p:txBody>
          <a:bodyPr/>
          <a:lstStyle/>
          <a:p>
            <a:r>
              <a:rPr lang="en-US" dirty="0"/>
              <a:t>Exponents on “a” decrease from left to right</a:t>
            </a:r>
          </a:p>
          <a:p>
            <a:r>
              <a:rPr lang="en-US" dirty="0"/>
              <a:t>“b” similarly increases from left to right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9DEA35-044F-1822-17E7-57AE6A691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9" y="3620014"/>
            <a:ext cx="6210025" cy="15224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C32D0D-F7C5-21CA-3B78-2DC94576E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475" y="5304912"/>
            <a:ext cx="6210022" cy="1522457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35BD862-39B5-CE12-CF9C-BBA94897240A}"/>
              </a:ext>
            </a:extLst>
          </p:cNvPr>
          <p:cNvSpPr txBox="1">
            <a:spLocks/>
          </p:cNvSpPr>
          <p:nvPr/>
        </p:nvSpPr>
        <p:spPr>
          <a:xfrm>
            <a:off x="838200" y="4437320"/>
            <a:ext cx="7035800" cy="1058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31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1517E-B0BE-590E-5F71-148E61715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Weird observation 2: </a:t>
            </a:r>
            <a:br>
              <a:rPr lang="en-US" dirty="0"/>
            </a:br>
            <a:r>
              <a:rPr lang="en-US" dirty="0"/>
              <a:t>number of terms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128A66-581F-FF85-B881-823FBE499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55381"/>
          </a:xfrm>
        </p:spPr>
        <p:txBody>
          <a:bodyPr/>
          <a:lstStyle/>
          <a:p>
            <a:r>
              <a:rPr lang="en-US" dirty="0"/>
              <a:t>(a + b)</a:t>
            </a:r>
            <a:r>
              <a:rPr lang="en-US" baseline="30000" dirty="0"/>
              <a:t>1</a:t>
            </a:r>
            <a:r>
              <a:rPr lang="en-US" dirty="0"/>
              <a:t> = (a + b)</a:t>
            </a:r>
          </a:p>
          <a:p>
            <a:r>
              <a:rPr lang="en-US" dirty="0"/>
              <a:t>(a + b)</a:t>
            </a:r>
            <a:r>
              <a:rPr lang="en-US" baseline="30000" dirty="0"/>
              <a:t>2</a:t>
            </a:r>
            <a:r>
              <a:rPr lang="en-US" dirty="0"/>
              <a:t> = a</a:t>
            </a:r>
            <a:r>
              <a:rPr lang="en-US" baseline="30000" dirty="0"/>
              <a:t>2</a:t>
            </a:r>
            <a:r>
              <a:rPr lang="en-US" dirty="0"/>
              <a:t> + 2ab + b</a:t>
            </a:r>
            <a:r>
              <a:rPr lang="en-US" baseline="30000" dirty="0"/>
              <a:t>2 </a:t>
            </a:r>
          </a:p>
          <a:p>
            <a:r>
              <a:rPr lang="en-US" dirty="0"/>
              <a:t>(a + b)</a:t>
            </a:r>
            <a:r>
              <a:rPr lang="en-US" baseline="30000" dirty="0"/>
              <a:t>3</a:t>
            </a:r>
            <a:r>
              <a:rPr lang="en-US" dirty="0"/>
              <a:t> = a</a:t>
            </a:r>
            <a:r>
              <a:rPr lang="en-US" baseline="30000" dirty="0"/>
              <a:t>3</a:t>
            </a:r>
            <a:r>
              <a:rPr lang="en-US" dirty="0"/>
              <a:t> + 3a</a:t>
            </a:r>
            <a:r>
              <a:rPr lang="en-US" baseline="30000" dirty="0"/>
              <a:t>2</a:t>
            </a:r>
            <a:r>
              <a:rPr lang="en-US" dirty="0"/>
              <a:t>b + 3ab</a:t>
            </a:r>
            <a:r>
              <a:rPr lang="en-US" baseline="30000" dirty="0"/>
              <a:t>2  </a:t>
            </a:r>
            <a:r>
              <a:rPr lang="en-US" dirty="0"/>
              <a:t>+ b</a:t>
            </a:r>
            <a:r>
              <a:rPr lang="en-US" baseline="30000" dirty="0"/>
              <a:t>3</a:t>
            </a:r>
          </a:p>
          <a:p>
            <a:r>
              <a:rPr lang="en-US" dirty="0"/>
              <a:t>(a + b)</a:t>
            </a:r>
            <a:r>
              <a:rPr lang="en-US" baseline="30000" dirty="0"/>
              <a:t>4</a:t>
            </a:r>
            <a:r>
              <a:rPr lang="en-US" dirty="0"/>
              <a:t> = a</a:t>
            </a:r>
            <a:r>
              <a:rPr lang="en-US" baseline="30000" dirty="0"/>
              <a:t>4</a:t>
            </a:r>
            <a:r>
              <a:rPr lang="en-US" dirty="0"/>
              <a:t> + 4a</a:t>
            </a:r>
            <a:r>
              <a:rPr lang="en-US" baseline="30000" dirty="0"/>
              <a:t>3</a:t>
            </a:r>
            <a:r>
              <a:rPr lang="en-US" dirty="0"/>
              <a:t>b + 6a</a:t>
            </a:r>
            <a:r>
              <a:rPr lang="en-US" baseline="30000" dirty="0"/>
              <a:t>2</a:t>
            </a:r>
            <a:r>
              <a:rPr lang="en-US" dirty="0"/>
              <a:t>b</a:t>
            </a:r>
            <a:r>
              <a:rPr lang="en-US" baseline="30000" dirty="0"/>
              <a:t>2 </a:t>
            </a:r>
            <a:r>
              <a:rPr lang="en-US" dirty="0"/>
              <a:t>+ 4ab</a:t>
            </a:r>
            <a:r>
              <a:rPr lang="en-US" baseline="30000" dirty="0"/>
              <a:t>3  </a:t>
            </a:r>
            <a:r>
              <a:rPr lang="en-US" dirty="0"/>
              <a:t>+ b</a:t>
            </a:r>
            <a:r>
              <a:rPr lang="en-US" baseline="30000" dirty="0"/>
              <a:t>4</a:t>
            </a:r>
          </a:p>
          <a:p>
            <a:r>
              <a:rPr lang="en-US" dirty="0"/>
              <a:t>(a + b)</a:t>
            </a:r>
            <a:r>
              <a:rPr lang="en-US" baseline="30000" dirty="0"/>
              <a:t>5</a:t>
            </a:r>
            <a:r>
              <a:rPr lang="en-US" dirty="0"/>
              <a:t> = a</a:t>
            </a:r>
            <a:r>
              <a:rPr lang="en-US" baseline="30000" dirty="0"/>
              <a:t>5</a:t>
            </a:r>
            <a:r>
              <a:rPr lang="en-US" dirty="0"/>
              <a:t> + 5a</a:t>
            </a:r>
            <a:r>
              <a:rPr lang="en-US" baseline="30000" dirty="0"/>
              <a:t>4</a:t>
            </a:r>
            <a:r>
              <a:rPr lang="en-US" dirty="0"/>
              <a:t>b + 10a</a:t>
            </a:r>
            <a:r>
              <a:rPr lang="en-US" baseline="30000" dirty="0"/>
              <a:t>3</a:t>
            </a:r>
            <a:r>
              <a:rPr lang="en-US" dirty="0"/>
              <a:t>b</a:t>
            </a:r>
            <a:r>
              <a:rPr lang="en-US" baseline="30000" dirty="0"/>
              <a:t>2</a:t>
            </a:r>
            <a:r>
              <a:rPr lang="en-US" dirty="0"/>
              <a:t> + 10a</a:t>
            </a:r>
            <a:r>
              <a:rPr lang="en-US" baseline="30000" dirty="0"/>
              <a:t>2</a:t>
            </a:r>
            <a:r>
              <a:rPr lang="en-US" dirty="0"/>
              <a:t>b</a:t>
            </a:r>
            <a:r>
              <a:rPr lang="en-US" baseline="30000" dirty="0"/>
              <a:t>3</a:t>
            </a:r>
            <a:r>
              <a:rPr lang="en-US" dirty="0"/>
              <a:t> + 5ab</a:t>
            </a:r>
            <a:r>
              <a:rPr lang="en-US" baseline="30000" dirty="0"/>
              <a:t>4  </a:t>
            </a:r>
            <a:r>
              <a:rPr lang="en-US" dirty="0"/>
              <a:t>+ b</a:t>
            </a:r>
            <a:r>
              <a:rPr lang="en-US" baseline="30000" dirty="0"/>
              <a:t>5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8227C-F8FF-CF18-6396-314BD51E1E8B}"/>
              </a:ext>
            </a:extLst>
          </p:cNvPr>
          <p:cNvSpPr txBox="1"/>
          <p:nvPr/>
        </p:nvSpPr>
        <p:spPr>
          <a:xfrm>
            <a:off x="4624251" y="2366899"/>
            <a:ext cx="1324722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ym typeface="Wingdings" pitchFamily="2" charset="2"/>
              </a:rPr>
              <a:t> </a:t>
            </a:r>
            <a:r>
              <a:rPr lang="en-US" sz="2000" dirty="0"/>
              <a:t>3 terms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355DEE-33B1-DC36-2FC9-6BBACBA879B9}"/>
              </a:ext>
            </a:extLst>
          </p:cNvPr>
          <p:cNvSpPr txBox="1"/>
          <p:nvPr/>
        </p:nvSpPr>
        <p:spPr>
          <a:xfrm>
            <a:off x="5833685" y="2871168"/>
            <a:ext cx="1324722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ym typeface="Wingdings" pitchFamily="2" charset="2"/>
              </a:rPr>
              <a:t> 4</a:t>
            </a:r>
            <a:r>
              <a:rPr lang="en-US" sz="2000" dirty="0"/>
              <a:t> terms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FEE4D-4854-8FDD-687C-9E4FBB0B92CC}"/>
              </a:ext>
            </a:extLst>
          </p:cNvPr>
          <p:cNvSpPr txBox="1"/>
          <p:nvPr/>
        </p:nvSpPr>
        <p:spPr>
          <a:xfrm>
            <a:off x="6871062" y="3375437"/>
            <a:ext cx="1324722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ym typeface="Wingdings" pitchFamily="2" charset="2"/>
              </a:rPr>
              <a:t> 5</a:t>
            </a:r>
            <a:r>
              <a:rPr lang="en-US" sz="2000" dirty="0"/>
              <a:t> terms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8D31CD-E128-CD63-C3DE-002E66BE5C92}"/>
              </a:ext>
            </a:extLst>
          </p:cNvPr>
          <p:cNvSpPr txBox="1"/>
          <p:nvPr/>
        </p:nvSpPr>
        <p:spPr>
          <a:xfrm>
            <a:off x="8451669" y="3940889"/>
            <a:ext cx="1324722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>
                <a:sym typeface="Wingdings" pitchFamily="2" charset="2"/>
              </a:rPr>
              <a:t> 6</a:t>
            </a:r>
            <a:r>
              <a:rPr lang="en-US" sz="2000" dirty="0"/>
              <a:t> terms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4333FA-A48C-0086-2F9D-A0813657296A}"/>
              </a:ext>
            </a:extLst>
          </p:cNvPr>
          <p:cNvSpPr txBox="1"/>
          <p:nvPr/>
        </p:nvSpPr>
        <p:spPr>
          <a:xfrm>
            <a:off x="980639" y="4925870"/>
            <a:ext cx="5370124" cy="5847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(a + b)</a:t>
            </a:r>
            <a:r>
              <a:rPr lang="en-US" sz="3200" baseline="30000" dirty="0"/>
              <a:t>n</a:t>
            </a:r>
            <a:r>
              <a:rPr lang="en-US" sz="3200" dirty="0"/>
              <a:t> would have n+1 terms</a:t>
            </a:r>
          </a:p>
        </p:txBody>
      </p:sp>
    </p:spTree>
    <p:extLst>
      <p:ext uri="{BB962C8B-B14F-4D97-AF65-F5344CB8AC3E}">
        <p14:creationId xmlns:p14="http://schemas.microsoft.com/office/powerpoint/2010/main" val="355366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0262B-7155-084E-3E0B-67745FD55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Weird observation 3: </a:t>
            </a:r>
            <a:br>
              <a:rPr lang="en-US" dirty="0"/>
            </a:br>
            <a:r>
              <a:rPr lang="en-US" dirty="0"/>
              <a:t>Coefficients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816E01-C698-981D-F418-09C481580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(a + b)</a:t>
            </a:r>
            <a:r>
              <a:rPr lang="en-US" baseline="30000" dirty="0"/>
              <a:t>1</a:t>
            </a:r>
            <a:r>
              <a:rPr lang="en-US" dirty="0"/>
              <a:t> = (1a + 1b)</a:t>
            </a:r>
          </a:p>
          <a:p>
            <a:r>
              <a:rPr lang="en-US" dirty="0"/>
              <a:t>(a + b)</a:t>
            </a:r>
            <a:r>
              <a:rPr lang="en-US" baseline="30000" dirty="0"/>
              <a:t>2</a:t>
            </a:r>
            <a:r>
              <a:rPr lang="en-US" dirty="0"/>
              <a:t> = 1a</a:t>
            </a:r>
            <a:r>
              <a:rPr lang="en-US" baseline="30000" dirty="0"/>
              <a:t>2</a:t>
            </a:r>
            <a:r>
              <a:rPr lang="en-US" dirty="0"/>
              <a:t> + 2ab + 1b</a:t>
            </a:r>
            <a:r>
              <a:rPr lang="en-US" baseline="30000" dirty="0"/>
              <a:t>2 </a:t>
            </a:r>
          </a:p>
          <a:p>
            <a:r>
              <a:rPr lang="en-US" dirty="0"/>
              <a:t>(a + b)</a:t>
            </a:r>
            <a:r>
              <a:rPr lang="en-US" baseline="30000" dirty="0"/>
              <a:t>3</a:t>
            </a:r>
            <a:r>
              <a:rPr lang="en-US" dirty="0"/>
              <a:t> = 1a</a:t>
            </a:r>
            <a:r>
              <a:rPr lang="en-US" baseline="30000" dirty="0"/>
              <a:t>3</a:t>
            </a:r>
            <a:r>
              <a:rPr lang="en-US" dirty="0"/>
              <a:t> + 3a</a:t>
            </a:r>
            <a:r>
              <a:rPr lang="en-US" baseline="30000" dirty="0"/>
              <a:t>2</a:t>
            </a:r>
            <a:r>
              <a:rPr lang="en-US" dirty="0"/>
              <a:t>b + 3ab</a:t>
            </a:r>
            <a:r>
              <a:rPr lang="en-US" baseline="30000" dirty="0"/>
              <a:t>2  </a:t>
            </a:r>
            <a:r>
              <a:rPr lang="en-US" dirty="0"/>
              <a:t>+ 1b</a:t>
            </a:r>
            <a:r>
              <a:rPr lang="en-US" baseline="30000" dirty="0"/>
              <a:t>3</a:t>
            </a:r>
          </a:p>
          <a:p>
            <a:r>
              <a:rPr lang="en-US" dirty="0"/>
              <a:t>(a + b)</a:t>
            </a:r>
            <a:r>
              <a:rPr lang="en-US" baseline="30000" dirty="0"/>
              <a:t>4</a:t>
            </a:r>
            <a:r>
              <a:rPr lang="en-US" dirty="0"/>
              <a:t> = 1a</a:t>
            </a:r>
            <a:r>
              <a:rPr lang="en-US" baseline="30000" dirty="0"/>
              <a:t>4</a:t>
            </a:r>
            <a:r>
              <a:rPr lang="en-US" dirty="0"/>
              <a:t> + 4a</a:t>
            </a:r>
            <a:r>
              <a:rPr lang="en-US" baseline="30000" dirty="0"/>
              <a:t>3</a:t>
            </a:r>
            <a:r>
              <a:rPr lang="en-US" dirty="0"/>
              <a:t>b + 6a</a:t>
            </a:r>
            <a:r>
              <a:rPr lang="en-US" baseline="30000" dirty="0"/>
              <a:t>2</a:t>
            </a:r>
            <a:r>
              <a:rPr lang="en-US" dirty="0"/>
              <a:t>b</a:t>
            </a:r>
            <a:r>
              <a:rPr lang="en-US" baseline="30000" dirty="0"/>
              <a:t>2 </a:t>
            </a:r>
            <a:r>
              <a:rPr lang="en-US" dirty="0"/>
              <a:t>+ 4ab</a:t>
            </a:r>
            <a:r>
              <a:rPr lang="en-US" baseline="30000" dirty="0"/>
              <a:t>3  </a:t>
            </a:r>
            <a:r>
              <a:rPr lang="en-US" dirty="0"/>
              <a:t>+ 1b</a:t>
            </a:r>
            <a:r>
              <a:rPr lang="en-US" baseline="30000" dirty="0"/>
              <a:t>4</a:t>
            </a:r>
          </a:p>
          <a:p>
            <a:r>
              <a:rPr lang="en-US" dirty="0"/>
              <a:t>(a + b)</a:t>
            </a:r>
            <a:r>
              <a:rPr lang="en-US" baseline="30000" dirty="0"/>
              <a:t>5</a:t>
            </a:r>
            <a:r>
              <a:rPr lang="en-US" dirty="0"/>
              <a:t> = 1a</a:t>
            </a:r>
            <a:r>
              <a:rPr lang="en-US" baseline="30000" dirty="0"/>
              <a:t>5</a:t>
            </a:r>
            <a:r>
              <a:rPr lang="en-US" dirty="0"/>
              <a:t> + 5a</a:t>
            </a:r>
            <a:r>
              <a:rPr lang="en-US" baseline="30000" dirty="0"/>
              <a:t>4</a:t>
            </a:r>
            <a:r>
              <a:rPr lang="en-US" dirty="0"/>
              <a:t>b + 10a</a:t>
            </a:r>
            <a:r>
              <a:rPr lang="en-US" baseline="30000" dirty="0"/>
              <a:t>3</a:t>
            </a:r>
            <a:r>
              <a:rPr lang="en-US" dirty="0"/>
              <a:t>b</a:t>
            </a:r>
            <a:r>
              <a:rPr lang="en-US" baseline="30000" dirty="0"/>
              <a:t>2</a:t>
            </a:r>
            <a:r>
              <a:rPr lang="en-US" dirty="0"/>
              <a:t> + 10a</a:t>
            </a:r>
            <a:r>
              <a:rPr lang="en-US" baseline="30000" dirty="0"/>
              <a:t>2</a:t>
            </a:r>
            <a:r>
              <a:rPr lang="en-US" dirty="0"/>
              <a:t>b</a:t>
            </a:r>
            <a:r>
              <a:rPr lang="en-US" baseline="30000" dirty="0"/>
              <a:t>3</a:t>
            </a:r>
            <a:r>
              <a:rPr lang="en-US" dirty="0"/>
              <a:t> + 5ab</a:t>
            </a:r>
            <a:r>
              <a:rPr lang="en-US" baseline="30000" dirty="0"/>
              <a:t>4  </a:t>
            </a:r>
            <a:r>
              <a:rPr lang="en-US" dirty="0"/>
              <a:t>+ 1b</a:t>
            </a:r>
            <a:r>
              <a:rPr lang="en-US" baseline="30000" dirty="0"/>
              <a:t>5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3242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CADB1-756B-77B6-134A-9942BD97C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69E07-0329-86FE-8E3D-DD7A179E2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Weird observation 3: </a:t>
            </a:r>
            <a:br>
              <a:rPr lang="en-US" dirty="0"/>
            </a:br>
            <a:r>
              <a:rPr lang="en-US" dirty="0"/>
              <a:t>Coefficients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5714D84-F8A7-0298-CE3C-09667C96B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(a + b)</a:t>
            </a:r>
            <a:r>
              <a:rPr lang="en-US" baseline="30000" dirty="0"/>
              <a:t>1</a:t>
            </a:r>
            <a:r>
              <a:rPr lang="en-US" dirty="0"/>
              <a:t> = 1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dirty="0"/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+</a:t>
            </a:r>
            <a:r>
              <a:rPr lang="en-US" dirty="0"/>
              <a:t> 1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</a:rPr>
            </a:br>
            <a:endParaRPr lang="en-US" dirty="0"/>
          </a:p>
          <a:p>
            <a:r>
              <a:rPr lang="en-US" dirty="0"/>
              <a:t>(a + b)</a:t>
            </a:r>
            <a:r>
              <a:rPr lang="en-US" baseline="30000" dirty="0"/>
              <a:t>2</a:t>
            </a:r>
            <a:r>
              <a:rPr lang="en-US" dirty="0"/>
              <a:t> = 1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2</a:t>
            </a:r>
            <a:r>
              <a:rPr lang="en-US" dirty="0"/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+</a:t>
            </a:r>
            <a:r>
              <a:rPr lang="en-US" dirty="0"/>
              <a:t> 2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ab</a:t>
            </a:r>
            <a:r>
              <a:rPr lang="en-US" dirty="0"/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+</a:t>
            </a:r>
            <a:r>
              <a:rPr lang="en-US" dirty="0"/>
              <a:t> 1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2</a:t>
            </a:r>
            <a:r>
              <a:rPr lang="en-US" baseline="30000" dirty="0"/>
              <a:t> </a:t>
            </a:r>
            <a:br>
              <a:rPr lang="en-US" baseline="30000" dirty="0"/>
            </a:br>
            <a:endParaRPr lang="en-US" baseline="30000" dirty="0"/>
          </a:p>
          <a:p>
            <a:r>
              <a:rPr lang="en-US" dirty="0"/>
              <a:t>(a + b)</a:t>
            </a:r>
            <a:r>
              <a:rPr lang="en-US" baseline="30000" dirty="0"/>
              <a:t>3</a:t>
            </a:r>
            <a:r>
              <a:rPr lang="en-US" dirty="0"/>
              <a:t> = 1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3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+</a:t>
            </a:r>
            <a:r>
              <a:rPr lang="en-US" dirty="0"/>
              <a:t> 3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2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 +</a:t>
            </a:r>
            <a:r>
              <a:rPr lang="en-US" dirty="0"/>
              <a:t> 3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ab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2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+</a:t>
            </a:r>
            <a:r>
              <a:rPr lang="en-US" dirty="0"/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1b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3</a:t>
            </a:r>
            <a:b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</a:br>
            <a:endParaRPr lang="en-US" baseline="30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dirty="0"/>
              <a:t>(a + b)</a:t>
            </a:r>
            <a:r>
              <a:rPr lang="en-US" baseline="30000" dirty="0"/>
              <a:t>4</a:t>
            </a:r>
            <a:r>
              <a:rPr lang="en-US" dirty="0"/>
              <a:t> = 1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4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+</a:t>
            </a:r>
            <a:r>
              <a:rPr lang="en-US" dirty="0"/>
              <a:t> 4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3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 +</a:t>
            </a:r>
            <a:r>
              <a:rPr lang="en-US" dirty="0"/>
              <a:t> 6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2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2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+</a:t>
            </a:r>
            <a:r>
              <a:rPr lang="en-US" dirty="0"/>
              <a:t> 4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ab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3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+</a:t>
            </a:r>
            <a:r>
              <a:rPr lang="en-US" dirty="0"/>
              <a:t> 1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4</a:t>
            </a:r>
            <a:b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</a:br>
            <a:endParaRPr lang="en-US" baseline="30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dirty="0"/>
              <a:t>(a + b)</a:t>
            </a:r>
            <a:r>
              <a:rPr lang="en-US" baseline="30000" dirty="0"/>
              <a:t>5</a:t>
            </a:r>
            <a:r>
              <a:rPr lang="en-US" dirty="0"/>
              <a:t> = 1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5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+</a:t>
            </a:r>
            <a:r>
              <a:rPr lang="en-US" dirty="0"/>
              <a:t> 5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4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 +</a:t>
            </a:r>
            <a:r>
              <a:rPr lang="en-US" dirty="0"/>
              <a:t> 10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3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2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+</a:t>
            </a:r>
            <a:r>
              <a:rPr lang="en-US" dirty="0"/>
              <a:t> 10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2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3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+</a:t>
            </a:r>
            <a:r>
              <a:rPr lang="en-US" dirty="0"/>
              <a:t> 5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ab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4 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+</a:t>
            </a:r>
            <a:r>
              <a:rPr lang="en-US" dirty="0"/>
              <a:t> 1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</a:t>
            </a:r>
            <a:r>
              <a:rPr lang="en-US" baseline="30000" dirty="0">
                <a:solidFill>
                  <a:schemeClr val="bg2">
                    <a:lumMod val="50000"/>
                  </a:schemeClr>
                </a:solidFill>
              </a:rPr>
              <a:t>5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CDA3829-4262-D6FD-AB35-54A2CEFA4555}"/>
              </a:ext>
            </a:extLst>
          </p:cNvPr>
          <p:cNvCxnSpPr/>
          <p:nvPr/>
        </p:nvCxnSpPr>
        <p:spPr>
          <a:xfrm>
            <a:off x="2690949" y="2246811"/>
            <a:ext cx="640080" cy="48332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00E2AE-8AF3-52F6-D0A5-ABDE09E96338}"/>
              </a:ext>
            </a:extLst>
          </p:cNvPr>
          <p:cNvCxnSpPr>
            <a:cxnSpLocks/>
          </p:cNvCxnSpPr>
          <p:nvPr/>
        </p:nvCxnSpPr>
        <p:spPr>
          <a:xfrm>
            <a:off x="2690949" y="3151323"/>
            <a:ext cx="757645" cy="4279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D84A94-0168-CE6C-A87F-50DE8AA57C1F}"/>
              </a:ext>
            </a:extLst>
          </p:cNvPr>
          <p:cNvCxnSpPr>
            <a:cxnSpLocks/>
          </p:cNvCxnSpPr>
          <p:nvPr/>
        </p:nvCxnSpPr>
        <p:spPr>
          <a:xfrm>
            <a:off x="3448594" y="2246811"/>
            <a:ext cx="0" cy="48332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295665-C147-C799-B22F-98ED828DF11D}"/>
              </a:ext>
            </a:extLst>
          </p:cNvPr>
          <p:cNvCxnSpPr>
            <a:cxnSpLocks/>
          </p:cNvCxnSpPr>
          <p:nvPr/>
        </p:nvCxnSpPr>
        <p:spPr>
          <a:xfrm>
            <a:off x="3470365" y="3095897"/>
            <a:ext cx="0" cy="48332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4C0C3B-000C-EE70-6571-582D1B3F2770}"/>
              </a:ext>
            </a:extLst>
          </p:cNvPr>
          <p:cNvCxnSpPr>
            <a:cxnSpLocks/>
          </p:cNvCxnSpPr>
          <p:nvPr/>
        </p:nvCxnSpPr>
        <p:spPr>
          <a:xfrm>
            <a:off x="3516085" y="3095897"/>
            <a:ext cx="977538" cy="48332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EB3BDCE-4AA8-8408-6B62-2CC5A10DC2CF}"/>
              </a:ext>
            </a:extLst>
          </p:cNvPr>
          <p:cNvCxnSpPr>
            <a:cxnSpLocks/>
          </p:cNvCxnSpPr>
          <p:nvPr/>
        </p:nvCxnSpPr>
        <p:spPr>
          <a:xfrm>
            <a:off x="4493623" y="3095897"/>
            <a:ext cx="0" cy="48332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0D21C9B-AFDB-CAD3-498B-D661D16BDE4C}"/>
              </a:ext>
            </a:extLst>
          </p:cNvPr>
          <p:cNvCxnSpPr>
            <a:cxnSpLocks/>
          </p:cNvCxnSpPr>
          <p:nvPr/>
        </p:nvCxnSpPr>
        <p:spPr>
          <a:xfrm>
            <a:off x="2690949" y="3909672"/>
            <a:ext cx="757645" cy="4279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D36C581-0C6E-63CE-0ADF-16EAABB8F6AE}"/>
              </a:ext>
            </a:extLst>
          </p:cNvPr>
          <p:cNvCxnSpPr>
            <a:cxnSpLocks/>
          </p:cNvCxnSpPr>
          <p:nvPr/>
        </p:nvCxnSpPr>
        <p:spPr>
          <a:xfrm>
            <a:off x="3470365" y="3854246"/>
            <a:ext cx="0" cy="48332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2AD388C-3FD3-9895-F4E7-99F87B87BE5F}"/>
              </a:ext>
            </a:extLst>
          </p:cNvPr>
          <p:cNvCxnSpPr>
            <a:cxnSpLocks/>
          </p:cNvCxnSpPr>
          <p:nvPr/>
        </p:nvCxnSpPr>
        <p:spPr>
          <a:xfrm>
            <a:off x="3735978" y="3909672"/>
            <a:ext cx="757645" cy="4279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65A505C-835B-78DD-9964-BD205E11CCC5}"/>
              </a:ext>
            </a:extLst>
          </p:cNvPr>
          <p:cNvCxnSpPr>
            <a:cxnSpLocks/>
          </p:cNvCxnSpPr>
          <p:nvPr/>
        </p:nvCxnSpPr>
        <p:spPr>
          <a:xfrm>
            <a:off x="4515394" y="3854246"/>
            <a:ext cx="0" cy="48332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5DA3B65-D63D-0B21-4E90-7454830CBCD4}"/>
              </a:ext>
            </a:extLst>
          </p:cNvPr>
          <p:cNvCxnSpPr>
            <a:cxnSpLocks/>
          </p:cNvCxnSpPr>
          <p:nvPr/>
        </p:nvCxnSpPr>
        <p:spPr>
          <a:xfrm>
            <a:off x="4680858" y="3909672"/>
            <a:ext cx="1045030" cy="4279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FDAA308-AE2C-CBF8-57D2-3A3EA311D79D}"/>
              </a:ext>
            </a:extLst>
          </p:cNvPr>
          <p:cNvCxnSpPr>
            <a:cxnSpLocks/>
          </p:cNvCxnSpPr>
          <p:nvPr/>
        </p:nvCxnSpPr>
        <p:spPr>
          <a:xfrm>
            <a:off x="5630091" y="3854246"/>
            <a:ext cx="117568" cy="48332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2636FD0-3C96-FC3D-1EAB-370467AE4CA6}"/>
              </a:ext>
            </a:extLst>
          </p:cNvPr>
          <p:cNvCxnSpPr>
            <a:cxnSpLocks/>
          </p:cNvCxnSpPr>
          <p:nvPr/>
        </p:nvCxnSpPr>
        <p:spPr>
          <a:xfrm>
            <a:off x="2690949" y="4690971"/>
            <a:ext cx="757645" cy="4279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C83E68A-B944-19F0-4C44-0F81B01873DF}"/>
              </a:ext>
            </a:extLst>
          </p:cNvPr>
          <p:cNvCxnSpPr>
            <a:cxnSpLocks/>
          </p:cNvCxnSpPr>
          <p:nvPr/>
        </p:nvCxnSpPr>
        <p:spPr>
          <a:xfrm>
            <a:off x="3470365" y="4635545"/>
            <a:ext cx="0" cy="48332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BA7C4E5-1550-667E-49D0-94ACB31AABB5}"/>
              </a:ext>
            </a:extLst>
          </p:cNvPr>
          <p:cNvCxnSpPr>
            <a:cxnSpLocks/>
          </p:cNvCxnSpPr>
          <p:nvPr/>
        </p:nvCxnSpPr>
        <p:spPr>
          <a:xfrm>
            <a:off x="3735978" y="4690971"/>
            <a:ext cx="862148" cy="4279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8D86DB2-A2AA-93E3-62F2-B7F8F38CCE88}"/>
              </a:ext>
            </a:extLst>
          </p:cNvPr>
          <p:cNvCxnSpPr>
            <a:cxnSpLocks/>
          </p:cNvCxnSpPr>
          <p:nvPr/>
        </p:nvCxnSpPr>
        <p:spPr>
          <a:xfrm>
            <a:off x="4515394" y="4635545"/>
            <a:ext cx="165464" cy="48332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561445D-13C2-9454-4F20-57802BFABF4E}"/>
              </a:ext>
            </a:extLst>
          </p:cNvPr>
          <p:cNvCxnSpPr>
            <a:cxnSpLocks/>
          </p:cNvCxnSpPr>
          <p:nvPr/>
        </p:nvCxnSpPr>
        <p:spPr>
          <a:xfrm>
            <a:off x="4680858" y="4690971"/>
            <a:ext cx="1249679" cy="4279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D62EF88-14C7-68EF-394E-200B30F5B94E}"/>
              </a:ext>
            </a:extLst>
          </p:cNvPr>
          <p:cNvCxnSpPr>
            <a:cxnSpLocks/>
          </p:cNvCxnSpPr>
          <p:nvPr/>
        </p:nvCxnSpPr>
        <p:spPr>
          <a:xfrm>
            <a:off x="5701936" y="4635545"/>
            <a:ext cx="394064" cy="483326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A0FB89B-43B8-D122-BEC8-A350397C95E2}"/>
              </a:ext>
            </a:extLst>
          </p:cNvPr>
          <p:cNvCxnSpPr>
            <a:cxnSpLocks/>
          </p:cNvCxnSpPr>
          <p:nvPr/>
        </p:nvCxnSpPr>
        <p:spPr>
          <a:xfrm>
            <a:off x="6768735" y="4690971"/>
            <a:ext cx="482239" cy="4279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9A74EE3-02EF-21B1-01A8-9B631B9000F8}"/>
              </a:ext>
            </a:extLst>
          </p:cNvPr>
          <p:cNvCxnSpPr>
            <a:cxnSpLocks/>
          </p:cNvCxnSpPr>
          <p:nvPr/>
        </p:nvCxnSpPr>
        <p:spPr>
          <a:xfrm>
            <a:off x="5898968" y="4663258"/>
            <a:ext cx="1218110" cy="51103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897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8D0DB-D6BD-FA18-E475-54B917A98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Pascal’s Triangle</a:t>
            </a:r>
          </a:p>
        </p:txBody>
      </p:sp>
      <p:sp>
        <p:nvSpPr>
          <p:cNvPr id="45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1A2D9D2-9B10-9388-0033-7AB8CC2CB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5058" y="3331336"/>
            <a:ext cx="4491092" cy="33121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2C58C8-A0B6-870B-65D1-CDE4D4DE2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46" y="1203136"/>
            <a:ext cx="2702366" cy="27716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1D3316-8A29-E6D0-7950-7F2542F1B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150" y="2161568"/>
            <a:ext cx="5618327" cy="3469316"/>
          </a:xfrm>
          <a:prstGeom prst="rect">
            <a:avLst/>
          </a:prstGeom>
        </p:spPr>
      </p:pic>
      <p:sp>
        <p:nvSpPr>
          <p:cNvPr id="7" name="AutoShape 8" descr="pascals triangle powers 2">
            <a:extLst>
              <a:ext uri="{FF2B5EF4-FFF2-40B4-BE49-F238E27FC236}">
                <a16:creationId xmlns:a16="http://schemas.microsoft.com/office/drawing/2014/main" id="{9FDD354B-F33B-1AA5-9817-426DEFDC52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03650" y="1841500"/>
            <a:ext cx="4584700" cy="3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2414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5C6E67-A5E8-F768-B01F-58FAAE1B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000" dirty="0"/>
              <a:t>A formula for calculating any row of pascal’s triangle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A0EF4-DC34-EFDB-5365-44FE0E4A3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181497"/>
            <a:ext cx="6894576" cy="3524504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2400" dirty="0"/>
              <a:t>Combinations!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0C0</a:t>
            </a:r>
          </a:p>
          <a:p>
            <a:pPr marL="0" indent="0">
              <a:buNone/>
            </a:pPr>
            <a:r>
              <a:rPr lang="en-US" sz="2400" dirty="0"/>
              <a:t>1C0</a:t>
            </a:r>
          </a:p>
          <a:p>
            <a:pPr marL="0" indent="0">
              <a:buNone/>
            </a:pPr>
            <a:r>
              <a:rPr lang="en-US" sz="2400" dirty="0"/>
              <a:t>1C1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AC70A-01C5-C889-AEBF-934249473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280" y="1151999"/>
            <a:ext cx="7374901" cy="455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9734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EEB7A85-3F81-7972-E8AD-F94C5C9AB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640" y="4038037"/>
            <a:ext cx="5107366" cy="2087424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4800">
                <a:solidFill>
                  <a:schemeClr val="bg1"/>
                </a:solidFill>
              </a:rPr>
              <a:t>So that’s neat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0CECA-7BBC-B8EF-C5A0-7DF58F2CD1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3159" y="4038037"/>
            <a:ext cx="5017030" cy="208742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Don’t worry we’ll unpack 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54B210-049B-2101-7942-151E39FFE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9" y="827252"/>
            <a:ext cx="10843065" cy="2846302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88056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1C54A-72EB-FAE5-99D7-E7E4ADB57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535264" cy="1325563"/>
          </a:xfrm>
        </p:spPr>
        <p:txBody>
          <a:bodyPr/>
          <a:lstStyle/>
          <a:p>
            <a:r>
              <a:rPr lang="en-US" dirty="0"/>
              <a:t>Sigma notation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BDD0AF-8839-23B9-6785-44FE75DF37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5264" y="0"/>
            <a:ext cx="9656736" cy="36433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C25B89-35FB-C4D8-FA6C-16B9B3F31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44764"/>
            <a:ext cx="4273550" cy="31132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397B73-35C5-B3E0-0007-CD30CDC71FE5}"/>
              </a:ext>
            </a:extLst>
          </p:cNvPr>
          <p:cNvSpPr txBox="1"/>
          <p:nvPr/>
        </p:nvSpPr>
        <p:spPr>
          <a:xfrm>
            <a:off x="4517390" y="4699436"/>
            <a:ext cx="1578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Wingdings" pitchFamily="2" charset="2"/>
              </a:rPr>
              <a:t> </a:t>
            </a:r>
            <a:r>
              <a:rPr lang="en-US" dirty="0"/>
              <a:t>Current 5001-ers this is next week’s material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D718AE-37AC-13F0-ED2D-5AD392260E72}"/>
                  </a:ext>
                </a:extLst>
              </p:cNvPr>
              <p:cNvSpPr txBox="1"/>
              <p:nvPr/>
            </p:nvSpPr>
            <p:spPr>
              <a:xfrm>
                <a:off x="6456138" y="3705575"/>
                <a:ext cx="5682342" cy="1594026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Really helpful for saying we’re going to add up a series of numbers between two bounds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/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D718AE-37AC-13F0-ED2D-5AD392260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138" y="3705575"/>
                <a:ext cx="5682342" cy="1594026"/>
              </a:xfrm>
              <a:prstGeom prst="rect">
                <a:avLst/>
              </a:prstGeom>
              <a:blipFill>
                <a:blip r:embed="rId4"/>
                <a:stretch>
                  <a:fillRect l="-893" t="-7087" r="-893" b="-81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610201-4D60-EB08-C233-160FC02103BB}"/>
                  </a:ext>
                </a:extLst>
              </p:cNvPr>
              <p:cNvSpPr txBox="1"/>
              <p:nvPr/>
            </p:nvSpPr>
            <p:spPr>
              <a:xfrm>
                <a:off x="6456138" y="5361864"/>
                <a:ext cx="5682342" cy="1415772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 related symbol exists for multiplying things together rather than adding: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sz="3200" dirty="0"/>
                  <a:t>n! =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610201-4D60-EB08-C233-160FC0210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138" y="5361864"/>
                <a:ext cx="5682342" cy="1415772"/>
              </a:xfrm>
              <a:prstGeom prst="rect">
                <a:avLst/>
              </a:prstGeom>
              <a:blipFill>
                <a:blip r:embed="rId5"/>
                <a:stretch>
                  <a:fillRect l="-2679" t="-1786" b="-84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35824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672B7-C139-C22D-93E9-FD766F39C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our case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2D89E5-DAF8-39D1-D388-4AE7B3A15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35" y="1690688"/>
            <a:ext cx="10843065" cy="28463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E9CE68-19B4-AE43-831D-5F92E622A985}"/>
              </a:ext>
            </a:extLst>
          </p:cNvPr>
          <p:cNvSpPr txBox="1"/>
          <p:nvPr/>
        </p:nvSpPr>
        <p:spPr>
          <a:xfrm>
            <a:off x="574766" y="4728754"/>
            <a:ext cx="8114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Adding up n choose k times x </a:t>
            </a:r>
            <a:r>
              <a:rPr lang="en-US" sz="3600" baseline="30000" dirty="0"/>
              <a:t>n-k</a:t>
            </a:r>
            <a:r>
              <a:rPr lang="en-US" sz="3600" dirty="0"/>
              <a:t> times </a:t>
            </a:r>
            <a:r>
              <a:rPr lang="en-US" sz="3600" dirty="0" err="1"/>
              <a:t>y</a:t>
            </a:r>
            <a:r>
              <a:rPr lang="en-US" sz="3600" baseline="30000" dirty="0" err="1"/>
              <a:t>k</a:t>
            </a:r>
            <a:endParaRPr lang="en-US" sz="3600" baseline="30000" dirty="0"/>
          </a:p>
        </p:txBody>
      </p:sp>
    </p:spTree>
    <p:extLst>
      <p:ext uri="{BB962C8B-B14F-4D97-AF65-F5344CB8AC3E}">
        <p14:creationId xmlns:p14="http://schemas.microsoft.com/office/powerpoint/2010/main" val="38804281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CDA1F-E76D-9264-072F-E291B4E26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243FE-41A4-7BCA-DCBC-6CE17A7E7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990849"/>
            <a:ext cx="4219303" cy="31861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(x + y)</a:t>
            </a:r>
            <a:r>
              <a:rPr lang="en-US" baseline="30000" dirty="0"/>
              <a:t>3</a:t>
            </a:r>
            <a:r>
              <a:rPr lang="en-US" dirty="0"/>
              <a:t> = …</a:t>
            </a:r>
          </a:p>
          <a:p>
            <a:pPr marL="457200" lvl="1" indent="0">
              <a:buNone/>
            </a:pPr>
            <a:r>
              <a:rPr lang="en-US" dirty="0"/>
              <a:t>(3 C 0) * x</a:t>
            </a:r>
            <a:r>
              <a:rPr lang="en-US" baseline="30000" dirty="0"/>
              <a:t>3</a:t>
            </a:r>
            <a:r>
              <a:rPr lang="en-US" dirty="0"/>
              <a:t> * y</a:t>
            </a:r>
            <a:r>
              <a:rPr lang="en-US" baseline="30000" dirty="0"/>
              <a:t>0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dirty="0"/>
              <a:t>(3 C 1) * x</a:t>
            </a:r>
            <a:r>
              <a:rPr lang="en-US" baseline="30000" dirty="0"/>
              <a:t>2</a:t>
            </a:r>
            <a:r>
              <a:rPr lang="en-US" dirty="0"/>
              <a:t> * y</a:t>
            </a:r>
            <a:r>
              <a:rPr lang="en-US" baseline="30000" dirty="0"/>
              <a:t>1</a:t>
            </a:r>
          </a:p>
          <a:p>
            <a:pPr marL="457200" lvl="1" indent="0">
              <a:buNone/>
            </a:pPr>
            <a:r>
              <a:rPr lang="en-US" dirty="0"/>
              <a:t>(3 C 2) * x</a:t>
            </a:r>
            <a:r>
              <a:rPr lang="en-US" baseline="30000" dirty="0"/>
              <a:t>1</a:t>
            </a:r>
            <a:r>
              <a:rPr lang="en-US" dirty="0"/>
              <a:t> * y</a:t>
            </a:r>
            <a:r>
              <a:rPr lang="en-US" baseline="30000" dirty="0"/>
              <a:t>2</a:t>
            </a:r>
          </a:p>
          <a:p>
            <a:pPr marL="457200" lvl="1" indent="0">
              <a:buNone/>
            </a:pPr>
            <a:r>
              <a:rPr lang="en-US" dirty="0"/>
              <a:t>(3 C 3) * x</a:t>
            </a:r>
            <a:r>
              <a:rPr lang="en-US" baseline="30000" dirty="0"/>
              <a:t>0</a:t>
            </a:r>
            <a:r>
              <a:rPr lang="en-US" dirty="0"/>
              <a:t> * y</a:t>
            </a:r>
            <a:r>
              <a:rPr lang="en-US" baseline="30000" dirty="0"/>
              <a:t>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018432-4D38-5379-698D-4387E0C8C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843065" cy="28463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B6231C-9214-9D06-3717-BF68B18CAE53}"/>
              </a:ext>
            </a:extLst>
          </p:cNvPr>
          <p:cNvSpPr txBox="1"/>
          <p:nvPr/>
        </p:nvSpPr>
        <p:spPr>
          <a:xfrm>
            <a:off x="145869" y="4383850"/>
            <a:ext cx="692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+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807FA2-1DAA-FF53-7186-40AA89A33139}"/>
              </a:ext>
            </a:extLst>
          </p:cNvPr>
          <p:cNvSpPr txBox="1">
            <a:spLocks/>
          </p:cNvSpPr>
          <p:nvPr/>
        </p:nvSpPr>
        <p:spPr>
          <a:xfrm>
            <a:off x="4365172" y="2990849"/>
            <a:ext cx="6385559" cy="3186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(x + y)</a:t>
            </a:r>
            <a:r>
              <a:rPr lang="en-US" baseline="30000" dirty="0"/>
              <a:t>3</a:t>
            </a:r>
            <a:r>
              <a:rPr lang="en-US" dirty="0"/>
              <a:t> = …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1 * x</a:t>
            </a:r>
            <a:r>
              <a:rPr lang="en-US" baseline="30000" dirty="0"/>
              <a:t>3</a:t>
            </a:r>
            <a:r>
              <a:rPr lang="en-US" dirty="0"/>
              <a:t> * y</a:t>
            </a:r>
            <a:r>
              <a:rPr lang="en-US" baseline="30000" dirty="0"/>
              <a:t>0</a:t>
            </a:r>
            <a:r>
              <a:rPr lang="en-US" dirty="0"/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3 * x</a:t>
            </a:r>
            <a:r>
              <a:rPr lang="en-US" baseline="30000" dirty="0"/>
              <a:t>2</a:t>
            </a:r>
            <a:r>
              <a:rPr lang="en-US" dirty="0"/>
              <a:t> * y</a:t>
            </a:r>
            <a:r>
              <a:rPr lang="en-US" baseline="30000" dirty="0"/>
              <a:t>1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3 * x</a:t>
            </a:r>
            <a:r>
              <a:rPr lang="en-US" baseline="30000" dirty="0"/>
              <a:t>1</a:t>
            </a:r>
            <a:r>
              <a:rPr lang="en-US" dirty="0"/>
              <a:t> * y</a:t>
            </a:r>
            <a:r>
              <a:rPr lang="en-US" baseline="30000" dirty="0"/>
              <a:t>2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1 * x</a:t>
            </a:r>
            <a:r>
              <a:rPr lang="en-US" baseline="30000" dirty="0"/>
              <a:t>0</a:t>
            </a:r>
            <a:r>
              <a:rPr lang="en-US" dirty="0"/>
              <a:t> * y</a:t>
            </a:r>
            <a:r>
              <a:rPr lang="en-US" baseline="30000" dirty="0"/>
              <a:t>3</a:t>
            </a:r>
            <a:br>
              <a:rPr lang="en-US" baseline="30000" dirty="0"/>
            </a:br>
            <a:endParaRPr lang="en-US" baseline="30000" dirty="0"/>
          </a:p>
          <a:p>
            <a:pPr marL="12700" lvl="1" indent="0">
              <a:buFont typeface="Arial" panose="020B0604020202020204" pitchFamily="34" charset="0"/>
              <a:buNone/>
            </a:pPr>
            <a:endParaRPr lang="en-US" baseline="30000" dirty="0"/>
          </a:p>
          <a:p>
            <a:pPr marL="12700" lvl="1" indent="0">
              <a:buNone/>
            </a:pPr>
            <a:r>
              <a:rPr lang="en-US" dirty="0"/>
              <a:t>x</a:t>
            </a:r>
            <a:r>
              <a:rPr lang="en-US" baseline="30000" dirty="0"/>
              <a:t>3</a:t>
            </a:r>
            <a:r>
              <a:rPr lang="en-US" dirty="0"/>
              <a:t>y</a:t>
            </a:r>
            <a:r>
              <a:rPr lang="en-US" baseline="30000" dirty="0"/>
              <a:t>0 </a:t>
            </a:r>
            <a:r>
              <a:rPr lang="en-US" dirty="0"/>
              <a:t>+ 3x</a:t>
            </a:r>
            <a:r>
              <a:rPr lang="en-US" baseline="30000" dirty="0"/>
              <a:t>2</a:t>
            </a:r>
            <a:r>
              <a:rPr lang="en-US" dirty="0"/>
              <a:t>y</a:t>
            </a:r>
            <a:r>
              <a:rPr lang="en-US" baseline="30000" dirty="0"/>
              <a:t>1 </a:t>
            </a:r>
            <a:r>
              <a:rPr lang="en-US" dirty="0"/>
              <a:t>+ 3x</a:t>
            </a:r>
            <a:r>
              <a:rPr lang="en-US" baseline="30000" dirty="0"/>
              <a:t>1</a:t>
            </a:r>
            <a:r>
              <a:rPr lang="en-US" dirty="0"/>
              <a:t>y</a:t>
            </a:r>
            <a:r>
              <a:rPr lang="en-US" baseline="30000" dirty="0"/>
              <a:t>2 </a:t>
            </a:r>
            <a:r>
              <a:rPr lang="en-US" dirty="0"/>
              <a:t>+ 1x</a:t>
            </a:r>
            <a:r>
              <a:rPr lang="en-US" baseline="30000" dirty="0"/>
              <a:t>0</a:t>
            </a:r>
            <a:r>
              <a:rPr lang="en-US" dirty="0"/>
              <a:t>y</a:t>
            </a:r>
            <a:r>
              <a:rPr lang="en-US" baseline="30000" dirty="0"/>
              <a:t>3</a:t>
            </a:r>
            <a:endParaRPr lang="en-US" dirty="0"/>
          </a:p>
          <a:p>
            <a:pPr marL="12700" lvl="1" indent="0">
              <a:buNone/>
            </a:pPr>
            <a:endParaRPr lang="en-US" dirty="0"/>
          </a:p>
          <a:p>
            <a:pPr marL="12700" lvl="1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0A32F-24E6-3E4E-6917-33581692C9AD}"/>
              </a:ext>
            </a:extLst>
          </p:cNvPr>
          <p:cNvSpPr txBox="1"/>
          <p:nvPr/>
        </p:nvSpPr>
        <p:spPr>
          <a:xfrm>
            <a:off x="4543697" y="4383850"/>
            <a:ext cx="692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3778819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513" name="Rectangle 21512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10" name="Freeform: Shape 21514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801BAA-4539-45A1-CDC1-6E04242003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r>
              <a:rPr lang="en-US" sz="4400"/>
              <a:t>Pigeons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2B7925-EF7F-ADB9-BFAB-7C275E8C70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2086" y="6289578"/>
            <a:ext cx="6389914" cy="1136843"/>
          </a:xfrm>
        </p:spPr>
        <p:txBody>
          <a:bodyPr>
            <a:norm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blog.lauraerickson.com</a:t>
            </a:r>
            <a:r>
              <a:rPr lang="en-US" sz="1400" dirty="0"/>
              <a:t>/2021/11/a-conversation-with-rosemary-mosco-part_01539348009.html</a:t>
            </a:r>
          </a:p>
        </p:txBody>
      </p:sp>
      <p:pic>
        <p:nvPicPr>
          <p:cNvPr id="21508" name="Picture 4" descr="Laura's Birding Blog: A Conversation with Rosemary Mosco Part 3">
            <a:extLst>
              <a:ext uri="{FF2B5EF4-FFF2-40B4-BE49-F238E27FC236}">
                <a16:creationId xmlns:a16="http://schemas.microsoft.com/office/drawing/2014/main" id="{25934188-448B-69A1-83A3-BC1D1C1E2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95751" y="633348"/>
            <a:ext cx="5708649" cy="5561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104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D670F-107C-68E7-6A5C-8409C9DED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Pigeons and 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A0EC6-AB50-192F-C9E4-B33E084EF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189" y="2011680"/>
            <a:ext cx="7475913" cy="4030346"/>
          </a:xfrm>
        </p:spPr>
        <p:txBody>
          <a:bodyPr/>
          <a:lstStyle/>
          <a:p>
            <a:r>
              <a:rPr lang="en-US" dirty="0"/>
              <a:t>I have 5 buckets and 6 rocks</a:t>
            </a:r>
          </a:p>
          <a:p>
            <a:r>
              <a:rPr lang="en-US" dirty="0"/>
              <a:t>I put all of my rocks into buckets</a:t>
            </a:r>
          </a:p>
          <a:p>
            <a:endParaRPr lang="en-US" dirty="0"/>
          </a:p>
          <a:p>
            <a:r>
              <a:rPr lang="en-US" dirty="0"/>
              <a:t>What can I say about the contents of the buckets?</a:t>
            </a:r>
          </a:p>
          <a:p>
            <a:pPr lvl="1"/>
            <a:r>
              <a:rPr lang="en-US" dirty="0"/>
              <a:t>Don’t overthink here- these will feel obvious</a:t>
            </a:r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6E617500-C8FA-DA2B-A11E-D1A9B88A1A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" t="7291" r="49982" b="71152"/>
          <a:stretch>
            <a:fillRect/>
          </a:stretch>
        </p:blipFill>
        <p:spPr bwMode="auto">
          <a:xfrm>
            <a:off x="8589818" y="4461644"/>
            <a:ext cx="3602182" cy="2396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619930-CE95-80E2-F0B2-FC2885BE7F58}"/>
              </a:ext>
            </a:extLst>
          </p:cNvPr>
          <p:cNvSpPr txBox="1"/>
          <p:nvPr/>
        </p:nvSpPr>
        <p:spPr>
          <a:xfrm>
            <a:off x="9075998" y="3866357"/>
            <a:ext cx="2629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Mandatory Pigeon Fact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5D11DE-AE5A-C021-437A-4223822E9740}"/>
              </a:ext>
            </a:extLst>
          </p:cNvPr>
          <p:cNvSpPr txBox="1"/>
          <p:nvPr/>
        </p:nvSpPr>
        <p:spPr>
          <a:xfrm>
            <a:off x="3440523" y="6492875"/>
            <a:ext cx="5149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rosemarymosco.com</a:t>
            </a:r>
            <a:r>
              <a:rPr lang="en-US" sz="1200" dirty="0"/>
              <a:t>/comics/bird-and-moon/what-is-a-city-pigeon</a:t>
            </a:r>
          </a:p>
        </p:txBody>
      </p:sp>
    </p:spTree>
    <p:extLst>
      <p:ext uri="{BB962C8B-B14F-4D97-AF65-F5344CB8AC3E}">
        <p14:creationId xmlns:p14="http://schemas.microsoft.com/office/powerpoint/2010/main" val="26423834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FA467-EA1A-4671-F706-FEE7973D1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Facts about buckets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D0C0F-3682-B302-53DD-F2BE13CC4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51618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At least 1 bucket has rocks in it</a:t>
            </a:r>
          </a:p>
          <a:p>
            <a:pPr marL="514350" indent="-514350">
              <a:buAutoNum type="arabicPeriod"/>
            </a:pPr>
            <a:r>
              <a:rPr lang="en-US" dirty="0"/>
              <a:t>At least 1 bucket has more than one rock in it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DC85EBE-0046-2E1C-0BC7-08FB0A6CDE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7291" r="727" b="71152"/>
          <a:stretch>
            <a:fillRect/>
          </a:stretch>
        </p:blipFill>
        <p:spPr bwMode="auto">
          <a:xfrm>
            <a:off x="8589818" y="4461644"/>
            <a:ext cx="3602182" cy="2396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1B8328-028E-1024-A361-07C4EEF70AEC}"/>
              </a:ext>
            </a:extLst>
          </p:cNvPr>
          <p:cNvSpPr txBox="1"/>
          <p:nvPr/>
        </p:nvSpPr>
        <p:spPr>
          <a:xfrm>
            <a:off x="9075998" y="3866357"/>
            <a:ext cx="2629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Mandatory Pigeon Fact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B217AE-734B-3AC8-1544-3BA40E679C84}"/>
              </a:ext>
            </a:extLst>
          </p:cNvPr>
          <p:cNvSpPr txBox="1"/>
          <p:nvPr/>
        </p:nvSpPr>
        <p:spPr>
          <a:xfrm>
            <a:off x="3440523" y="6492875"/>
            <a:ext cx="5149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rosemarymosco.com</a:t>
            </a:r>
            <a:r>
              <a:rPr lang="en-US" sz="1200" dirty="0"/>
              <a:t>/comics/bird-and-moon/what-is-a-city-pigeon</a:t>
            </a:r>
          </a:p>
        </p:txBody>
      </p:sp>
    </p:spTree>
    <p:extLst>
      <p:ext uri="{BB962C8B-B14F-4D97-AF65-F5344CB8AC3E}">
        <p14:creationId xmlns:p14="http://schemas.microsoft.com/office/powerpoint/2010/main" val="40906610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80630-E672-19B9-80D2-3A4812064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B0B97-0257-DCA3-EDCB-B3E6474D2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what we call the pigeonhole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5EA4E-36FE-8C12-ECCE-C527EBA9A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51618" cy="1050579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At least 1 bucket has rocks in it</a:t>
            </a:r>
          </a:p>
          <a:p>
            <a:pPr marL="514350" indent="-514350">
              <a:buAutoNum type="arabicPeriod"/>
            </a:pPr>
            <a:r>
              <a:rPr lang="en-US" dirty="0"/>
              <a:t>At least 1 bucket has more than one rock in it 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405CC4C-2EFD-8AC6-C94B-80480EABE2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2033" r="727" b="26410"/>
          <a:stretch>
            <a:fillRect/>
          </a:stretch>
        </p:blipFill>
        <p:spPr bwMode="auto">
          <a:xfrm>
            <a:off x="8589818" y="4461644"/>
            <a:ext cx="3602182" cy="2396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C1453A-4C65-447B-763B-FD96C059E420}"/>
              </a:ext>
            </a:extLst>
          </p:cNvPr>
          <p:cNvSpPr txBox="1"/>
          <p:nvPr/>
        </p:nvSpPr>
        <p:spPr>
          <a:xfrm>
            <a:off x="9075998" y="3866357"/>
            <a:ext cx="2629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Mandatory Pigeon Fact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7A9E07-B0F7-955A-8B7D-C6A8B81AC974}"/>
              </a:ext>
            </a:extLst>
          </p:cNvPr>
          <p:cNvSpPr txBox="1"/>
          <p:nvPr/>
        </p:nvSpPr>
        <p:spPr>
          <a:xfrm>
            <a:off x="3440523" y="6492875"/>
            <a:ext cx="5149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rosemarymosco.com</a:t>
            </a:r>
            <a:r>
              <a:rPr lang="en-US" sz="1200" dirty="0"/>
              <a:t>/comics/bird-and-moon/what-is-a-city-pigeon</a:t>
            </a:r>
          </a:p>
        </p:txBody>
      </p:sp>
    </p:spTree>
    <p:extLst>
      <p:ext uri="{BB962C8B-B14F-4D97-AF65-F5344CB8AC3E}">
        <p14:creationId xmlns:p14="http://schemas.microsoft.com/office/powerpoint/2010/main" val="41656618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DBE85-86B5-2C76-9714-E899BEE22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D5476-E86F-2E2D-8C05-814FEA3C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Flipping it around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D860-9B60-B266-129B-A82DEB21A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51618" cy="40764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 have 5 rocks and 7 buckets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At least 1 bucket has rocks in it</a:t>
            </a:r>
          </a:p>
          <a:p>
            <a:pPr marL="514350" indent="-514350">
              <a:buAutoNum type="arabicPeriod"/>
            </a:pPr>
            <a:r>
              <a:rPr lang="en-US" dirty="0"/>
              <a:t>At least 1 bucket is empty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56DF0FA-9067-339C-69F4-D736727BBD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3" t="74927" r="47574" b="3516"/>
          <a:stretch>
            <a:fillRect/>
          </a:stretch>
        </p:blipFill>
        <p:spPr bwMode="auto">
          <a:xfrm>
            <a:off x="8589818" y="4461644"/>
            <a:ext cx="3602182" cy="2396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123444-D3E3-DD62-2BE9-2B59C231E536}"/>
              </a:ext>
            </a:extLst>
          </p:cNvPr>
          <p:cNvSpPr txBox="1"/>
          <p:nvPr/>
        </p:nvSpPr>
        <p:spPr>
          <a:xfrm>
            <a:off x="9075998" y="3866357"/>
            <a:ext cx="2629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Mandatory Pigeon Fact 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5493D-9559-AA1F-B622-628AAA524C3C}"/>
              </a:ext>
            </a:extLst>
          </p:cNvPr>
          <p:cNvSpPr txBox="1"/>
          <p:nvPr/>
        </p:nvSpPr>
        <p:spPr>
          <a:xfrm>
            <a:off x="3440523" y="6492875"/>
            <a:ext cx="5149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rosemarymosco.com</a:t>
            </a:r>
            <a:r>
              <a:rPr lang="en-US" sz="1200" dirty="0"/>
              <a:t>/comics/bird-and-moon/what-is-a-city-pigeon</a:t>
            </a:r>
          </a:p>
        </p:txBody>
      </p:sp>
    </p:spTree>
    <p:extLst>
      <p:ext uri="{BB962C8B-B14F-4D97-AF65-F5344CB8AC3E}">
        <p14:creationId xmlns:p14="http://schemas.microsoft.com/office/powerpoint/2010/main" val="9939381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B2A31-72FD-0569-0AB7-6D6DBE1ED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B3E6D-B167-8154-D9E9-D8D1F126C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07"/>
            <a:ext cx="10515600" cy="1325563"/>
          </a:xfrm>
        </p:spPr>
        <p:txBody>
          <a:bodyPr/>
          <a:lstStyle/>
          <a:p>
            <a:r>
              <a:rPr lang="en-US" dirty="0"/>
              <a:t>Generally…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B609F-16E1-6AC7-5E1F-A59968099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7156"/>
            <a:ext cx="8589818" cy="53457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n objects are placed in k boxes, then there must exist a box that contains  ⌈ N/k⌉  or more objects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⌈A⌉ - “ceiling” </a:t>
            </a:r>
          </a:p>
          <a:p>
            <a:pPr marL="0" indent="0">
              <a:buNone/>
            </a:pPr>
            <a:r>
              <a:rPr lang="en-US" dirty="0"/>
              <a:t>     smallest integer higher than A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⌊A⌋  - “floor”</a:t>
            </a:r>
          </a:p>
          <a:p>
            <a:pPr marL="0" indent="0">
              <a:buNone/>
            </a:pPr>
            <a:r>
              <a:rPr lang="en-US" dirty="0"/>
              <a:t>     largest integer lower than A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Think rounding up or down </a:t>
            </a:r>
          </a:p>
          <a:p>
            <a:pPr marL="0" indent="0">
              <a:buNone/>
            </a:pPr>
            <a:r>
              <a:rPr lang="en-US" dirty="0"/>
              <a:t>     even if we’re not quite rounding here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0AA5057-240B-543B-0AC9-944DA4B432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9816" r="727" b="48627"/>
          <a:stretch>
            <a:fillRect/>
          </a:stretch>
        </p:blipFill>
        <p:spPr bwMode="auto">
          <a:xfrm>
            <a:off x="8589818" y="4461644"/>
            <a:ext cx="3602182" cy="2396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E8BDD6-2284-3DD8-1934-A4B3362424E9}"/>
              </a:ext>
            </a:extLst>
          </p:cNvPr>
          <p:cNvSpPr txBox="1"/>
          <p:nvPr/>
        </p:nvSpPr>
        <p:spPr>
          <a:xfrm>
            <a:off x="9075998" y="3866357"/>
            <a:ext cx="2629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Mandatory Pigeon Fact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404F73-74D1-53D9-7B58-3317AC772C5C}"/>
              </a:ext>
            </a:extLst>
          </p:cNvPr>
          <p:cNvSpPr txBox="1"/>
          <p:nvPr/>
        </p:nvSpPr>
        <p:spPr>
          <a:xfrm>
            <a:off x="3440523" y="6492875"/>
            <a:ext cx="5149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rosemarymosco.com</a:t>
            </a:r>
            <a:r>
              <a:rPr lang="en-US" sz="1200" dirty="0"/>
              <a:t>/comics/bird-and-moon/what-is-a-city-pigeon</a:t>
            </a:r>
          </a:p>
        </p:txBody>
      </p:sp>
    </p:spTree>
    <p:extLst>
      <p:ext uri="{BB962C8B-B14F-4D97-AF65-F5344CB8AC3E}">
        <p14:creationId xmlns:p14="http://schemas.microsoft.com/office/powerpoint/2010/main" val="10625225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4A4D2-F0E0-02EB-FC8D-AEFAE3D23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90EBF-F46B-4511-3938-6C6CC2645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that there are 51 students in a class. How many students are guaranteed to have a birthday in the same month?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⌈51 students  / 12 months ⌉ = ⌈4.25⌉  = 5</a:t>
            </a:r>
          </a:p>
        </p:txBody>
      </p:sp>
    </p:spTree>
    <p:extLst>
      <p:ext uri="{BB962C8B-B14F-4D97-AF65-F5344CB8AC3E}">
        <p14:creationId xmlns:p14="http://schemas.microsoft.com/office/powerpoint/2010/main" val="24567290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8DEAA-B564-6419-448C-A0885133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to the movies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8EC46-079F-0F06-33E2-125EEF626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The New Village Cinema showed 6 different movies on Saturday night in 6 300-seat theaters</a:t>
            </a:r>
          </a:p>
          <a:p>
            <a:r>
              <a:rPr lang="en-US" dirty="0"/>
              <a:t>On Saturday exactly 111 people came to the theater</a:t>
            </a:r>
          </a:p>
          <a:p>
            <a:endParaRPr lang="en-US" dirty="0"/>
          </a:p>
          <a:p>
            <a:r>
              <a:rPr lang="en-US" dirty="0"/>
              <a:t>“I know that at least N people will view the same movie.”</a:t>
            </a:r>
          </a:p>
          <a:p>
            <a:pPr lvl="1"/>
            <a:r>
              <a:rPr lang="en-US" dirty="0"/>
              <a:t> What is the largest value N can have for that statement to necessarily be true?</a:t>
            </a:r>
            <a:br>
              <a:rPr lang="en-US" dirty="0"/>
            </a:br>
            <a:r>
              <a:rPr lang="en-US" dirty="0"/>
              <a:t> </a:t>
            </a:r>
          </a:p>
          <a:p>
            <a:pPr lvl="1"/>
            <a:r>
              <a:rPr lang="en-US" dirty="0"/>
              <a:t>What would N be if there were only 5 theaters open on Saturday (all different movies?)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2AA08-3C2C-036A-41B1-A9EABBA0D972}"/>
              </a:ext>
            </a:extLst>
          </p:cNvPr>
          <p:cNvSpPr txBox="1"/>
          <p:nvPr/>
        </p:nvSpPr>
        <p:spPr>
          <a:xfrm>
            <a:off x="2394065" y="4555374"/>
            <a:ext cx="151996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⌈111 / 6⌉ =  19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2E78D7-690E-4ABD-0BBA-AE6C2539081F}"/>
              </a:ext>
            </a:extLst>
          </p:cNvPr>
          <p:cNvSpPr txBox="1"/>
          <p:nvPr/>
        </p:nvSpPr>
        <p:spPr>
          <a:xfrm>
            <a:off x="4175760" y="5622174"/>
            <a:ext cx="151996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⌈111 / 5⌉ =  23</a:t>
            </a:r>
          </a:p>
        </p:txBody>
      </p:sp>
    </p:spTree>
    <p:extLst>
      <p:ext uri="{BB962C8B-B14F-4D97-AF65-F5344CB8AC3E}">
        <p14:creationId xmlns:p14="http://schemas.microsoft.com/office/powerpoint/2010/main" val="3414874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7CF9F-DD14-7799-C6B1-DD0C3777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practice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B8DD1-ABC5-03D5-3CD4-CC8778511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938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4C39772-726A-9E66-F976-3EE5F9492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9437"/>
            <a:ext cx="10515600" cy="1325563"/>
          </a:xfrm>
        </p:spPr>
        <p:txBody>
          <a:bodyPr/>
          <a:lstStyle/>
          <a:p>
            <a:r>
              <a:rPr lang="en-US" dirty="0"/>
              <a:t>Combination or Permutation?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485936-E56B-4133-4E46-ADDC99C38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8587"/>
            <a:ext cx="10515600" cy="22833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I’m drawing 5 cards from a shuffled deck</a:t>
            </a:r>
          </a:p>
          <a:p>
            <a:pPr marL="0" indent="0">
              <a:buNone/>
            </a:pPr>
            <a:r>
              <a:rPr lang="en-US" dirty="0"/>
              <a:t>How many possible 5-card hands are there? </a:t>
            </a:r>
          </a:p>
        </p:txBody>
      </p:sp>
      <p:pic>
        <p:nvPicPr>
          <p:cNvPr id="4098" name="Picture 2" descr="Poker Hand Spades Stock Illustrations – 6,820 Poker Hand ...">
            <a:extLst>
              <a:ext uri="{FF2B5EF4-FFF2-40B4-BE49-F238E27FC236}">
                <a16:creationId xmlns:a16="http://schemas.microsoft.com/office/drawing/2014/main" id="{4EF7BF6F-DC93-69B9-DBD2-06E91B434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41964"/>
            <a:ext cx="3489514" cy="308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2DAFD91-F591-A54F-C85E-270ECA2F18A1}"/>
              </a:ext>
            </a:extLst>
          </p:cNvPr>
          <p:cNvSpPr txBox="1"/>
          <p:nvPr/>
        </p:nvSpPr>
        <p:spPr>
          <a:xfrm>
            <a:off x="3489514" y="5748732"/>
            <a:ext cx="54540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Combination – </a:t>
            </a:r>
            <a:br>
              <a:rPr lang="en-US" sz="2400" dirty="0"/>
            </a:br>
            <a:r>
              <a:rPr lang="en-US" sz="2400" dirty="0"/>
              <a:t>Order doesn’t matter</a:t>
            </a:r>
          </a:p>
        </p:txBody>
      </p:sp>
    </p:spTree>
    <p:extLst>
      <p:ext uri="{BB962C8B-B14F-4D97-AF65-F5344CB8AC3E}">
        <p14:creationId xmlns:p14="http://schemas.microsoft.com/office/powerpoint/2010/main" val="3975864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D249A-F761-91DF-6445-7D1F29A4E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further:</a:t>
            </a:r>
            <a:br>
              <a:rPr lang="en-US" dirty="0"/>
            </a:br>
            <a:r>
              <a:rPr lang="en-US" dirty="0"/>
              <a:t>Try in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19451-B277-40CE-2BF3-DD98A2AF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6686" y="1825625"/>
            <a:ext cx="6283394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I want to know how many 5-card hands there are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Pick one poker hand higher than a 3 of a kind.  How many possible versions of that hand are there in a deck of 52 cards</a:t>
            </a:r>
          </a:p>
          <a:p>
            <a:pPr marL="971550" lvl="1" indent="-514350">
              <a:buAutoNum type="arabicPeriod"/>
            </a:pPr>
            <a:r>
              <a:rPr lang="en-US" dirty="0"/>
              <a:t>Work with at least one person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pic>
        <p:nvPicPr>
          <p:cNvPr id="4" name="Picture 4" descr="All Poker Hands and their Chips and Mults in Balatro - Prima Games">
            <a:extLst>
              <a:ext uri="{FF2B5EF4-FFF2-40B4-BE49-F238E27FC236}">
                <a16:creationId xmlns:a16="http://schemas.microsoft.com/office/drawing/2014/main" id="{342B8C25-78D8-891F-1FFC-9ABF72E97E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88" t="22649" r="47117" b="20972"/>
          <a:stretch>
            <a:fillRect/>
          </a:stretch>
        </p:blipFill>
        <p:spPr bwMode="auto">
          <a:xfrm>
            <a:off x="-1" y="2732785"/>
            <a:ext cx="2360815" cy="412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4F60ED-9A69-CDDD-36BF-1E89D7481BD1}"/>
              </a:ext>
            </a:extLst>
          </p:cNvPr>
          <p:cNvSpPr txBox="1"/>
          <p:nvPr/>
        </p:nvSpPr>
        <p:spPr>
          <a:xfrm>
            <a:off x="2360814" y="2949232"/>
            <a:ext cx="2899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10,J,Q,K,A - all same suit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1765BB-DF21-D420-BDF4-FC0688F4EFC5}"/>
              </a:ext>
            </a:extLst>
          </p:cNvPr>
          <p:cNvSpPr txBox="1"/>
          <p:nvPr/>
        </p:nvSpPr>
        <p:spPr>
          <a:xfrm>
            <a:off x="2360814" y="3404646"/>
            <a:ext cx="2412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4 of the same rank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7887B5-0DCC-F913-3CAA-84E0CC7326DF}"/>
              </a:ext>
            </a:extLst>
          </p:cNvPr>
          <p:cNvSpPr txBox="1"/>
          <p:nvPr/>
        </p:nvSpPr>
        <p:spPr>
          <a:xfrm>
            <a:off x="2360814" y="3773978"/>
            <a:ext cx="1786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Pair + 3 of a kind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DA18E7-E752-B4CD-CE95-21EF483D666C}"/>
              </a:ext>
            </a:extLst>
          </p:cNvPr>
          <p:cNvSpPr txBox="1"/>
          <p:nvPr/>
        </p:nvSpPr>
        <p:spPr>
          <a:xfrm>
            <a:off x="2360814" y="4206773"/>
            <a:ext cx="240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 same suit, any rank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B40571-4F6B-47F7-29E1-A01D485ECED1}"/>
              </a:ext>
            </a:extLst>
          </p:cNvPr>
          <p:cNvSpPr txBox="1"/>
          <p:nvPr/>
        </p:nvSpPr>
        <p:spPr>
          <a:xfrm>
            <a:off x="2360814" y="4639568"/>
            <a:ext cx="3122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 cards with consecutive rank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A8A6C7-7C62-D3D3-84E9-2A3D712F3C13}"/>
              </a:ext>
            </a:extLst>
          </p:cNvPr>
          <p:cNvSpPr txBox="1"/>
          <p:nvPr/>
        </p:nvSpPr>
        <p:spPr>
          <a:xfrm>
            <a:off x="2360813" y="5008900"/>
            <a:ext cx="1994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cards same rank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E142D6-BFE5-C0B0-7C60-C1F874492B58}"/>
              </a:ext>
            </a:extLst>
          </p:cNvPr>
          <p:cNvSpPr txBox="1"/>
          <p:nvPr/>
        </p:nvSpPr>
        <p:spPr>
          <a:xfrm>
            <a:off x="2360813" y="5378232"/>
            <a:ext cx="342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cards each of the same 2 ranks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EB7970-EED0-E24A-0E9E-906DC673D3EC}"/>
              </a:ext>
            </a:extLst>
          </p:cNvPr>
          <p:cNvSpPr txBox="1"/>
          <p:nvPr/>
        </p:nvSpPr>
        <p:spPr>
          <a:xfrm>
            <a:off x="2360813" y="5698383"/>
            <a:ext cx="1994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cards same rank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1450CF-3753-0A7E-8DA7-B98B286A12AE}"/>
              </a:ext>
            </a:extLst>
          </p:cNvPr>
          <p:cNvSpPr txBox="1"/>
          <p:nvPr/>
        </p:nvSpPr>
        <p:spPr>
          <a:xfrm>
            <a:off x="2360813" y="6114460"/>
            <a:ext cx="2945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Highest number at the table</a:t>
            </a:r>
          </a:p>
        </p:txBody>
      </p:sp>
    </p:spTree>
    <p:extLst>
      <p:ext uri="{BB962C8B-B14F-4D97-AF65-F5344CB8AC3E}">
        <p14:creationId xmlns:p14="http://schemas.microsoft.com/office/powerpoint/2010/main" val="37421728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7D5BD-80D3-8A37-A681-99ECAAE26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possible 5-card hands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96F777-CBF9-4173-0822-19A595218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Combination with no repetition </a:t>
            </a:r>
            <a:br>
              <a:rPr lang="en-US" dirty="0"/>
            </a:br>
            <a:endParaRPr lang="en-US" dirty="0"/>
          </a:p>
          <a:p>
            <a:r>
              <a:rPr lang="en-US" dirty="0"/>
              <a:t>52! / 5! * (52 – 5)!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AFDFBA-D129-38DC-6D96-DE9474C1D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451" y="2557653"/>
            <a:ext cx="4843549" cy="430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421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A25F1-EA23-5832-A80B-5B9783E6D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straights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F6735-C08D-2165-AB32-3400476D05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{A, 2, 3, 4, 5}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{2, 3, 4, 5, 6}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{3, 4, 5, 6, 7}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{4, 5, 6, 7, 8}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{5, 6, 7, 8, 9}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{6, 7, 8, 9, 10}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{7, 8, 9, 10, J}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{8, 9, 10, J, Q}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{9, 10, J, Q, K}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{10, J, Q, K, A}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2FCFD-B73E-80B7-6EA7-43D91AEA4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881255" cy="503237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4 suits of cards </a:t>
            </a:r>
          </a:p>
          <a:p>
            <a:r>
              <a:rPr lang="en-US" dirty="0"/>
              <a:t>A,2,3,4, 5</a:t>
            </a:r>
          </a:p>
          <a:p>
            <a:pPr lvl="1"/>
            <a:r>
              <a:rPr lang="en-US" dirty="0"/>
              <a:t>(4 * 4 * 4 * 4 * 4) = 4</a:t>
            </a:r>
            <a:r>
              <a:rPr lang="en-US" baseline="30000" dirty="0"/>
              <a:t>5 </a:t>
            </a:r>
            <a:r>
              <a:rPr lang="en-US" dirty="0"/>
              <a:t>= 1024</a:t>
            </a:r>
          </a:p>
          <a:p>
            <a:pPr lvl="1"/>
            <a:endParaRPr lang="en-US" dirty="0"/>
          </a:p>
          <a:p>
            <a:r>
              <a:rPr lang="en-US" dirty="0"/>
              <a:t>10 possible straights</a:t>
            </a:r>
          </a:p>
          <a:p>
            <a:pPr lvl="1"/>
            <a:r>
              <a:rPr lang="en-US" dirty="0"/>
              <a:t>10 * 1024 = </a:t>
            </a:r>
            <a:r>
              <a:rPr lang="en-US" b="1" dirty="0"/>
              <a:t>10,240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604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CD5143-7661-309C-6269-129010AB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Passwords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47E992-3A4B-35D7-BD20-4273EE83F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many passwords can be made using 4 lowercase letters?</a:t>
            </a:r>
          </a:p>
          <a:p>
            <a:r>
              <a:rPr lang="en-US" dirty="0"/>
              <a:t>What if we say 4 lower and uppercase letters?</a:t>
            </a:r>
          </a:p>
          <a:p>
            <a:endParaRPr lang="en-US" dirty="0"/>
          </a:p>
          <a:p>
            <a:r>
              <a:rPr lang="en-US" dirty="0"/>
              <a:t>What if exactly 1 character needs to be a punctuation mark </a:t>
            </a:r>
          </a:p>
          <a:p>
            <a:pPr lvl="1"/>
            <a:r>
              <a:rPr lang="en-US" dirty="0"/>
              <a:t>Lets say just these:</a:t>
            </a:r>
            <a:br>
              <a:rPr lang="en-US" dirty="0"/>
            </a:br>
            <a:r>
              <a:rPr lang="en-US" dirty="0"/>
              <a:t>S = {!, @, #, $, %, ^, &amp;, *, (, ), ~, &lt;, &gt;, ?} </a:t>
            </a:r>
            <a:br>
              <a:rPr lang="en-US" dirty="0"/>
            </a:br>
            <a:r>
              <a:rPr lang="en-US" dirty="0"/>
              <a:t>|S| = 14</a:t>
            </a:r>
          </a:p>
        </p:txBody>
      </p:sp>
    </p:spTree>
    <p:extLst>
      <p:ext uri="{BB962C8B-B14F-4D97-AF65-F5344CB8AC3E}">
        <p14:creationId xmlns:p14="http://schemas.microsoft.com/office/powerpoint/2010/main" val="5804347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8772-7DB9-FBAC-4023-2BE141537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passwords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38147-560D-C1EF-03A5-DCEC29F5A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Thinking the other way</a:t>
            </a:r>
          </a:p>
          <a:p>
            <a:r>
              <a:rPr lang="en-US" dirty="0"/>
              <a:t>I want to write a program that will just try every possible password to my NEU email </a:t>
            </a:r>
          </a:p>
          <a:p>
            <a:r>
              <a:rPr lang="en-US" dirty="0"/>
              <a:t>For the sake of sanity, we’ll say that a password needs to be between 6 and 21 characters </a:t>
            </a:r>
          </a:p>
          <a:p>
            <a:pPr lvl="1"/>
            <a:r>
              <a:rPr lang="en-US" dirty="0"/>
              <a:t>Lets start with exclusively lowercase letters</a:t>
            </a:r>
            <a:br>
              <a:rPr lang="en-US" dirty="0"/>
            </a:br>
            <a:endParaRPr lang="en-US" dirty="0"/>
          </a:p>
          <a:p>
            <a:r>
              <a:rPr lang="en-US" dirty="0"/>
              <a:t>Each attempt my program makes takes 1/100</a:t>
            </a:r>
            <a:r>
              <a:rPr lang="en-US" baseline="30000" dirty="0"/>
              <a:t>th</a:t>
            </a:r>
            <a:r>
              <a:rPr lang="en-US" dirty="0"/>
              <a:t> of a second</a:t>
            </a:r>
          </a:p>
          <a:p>
            <a:endParaRPr lang="en-US" dirty="0"/>
          </a:p>
          <a:p>
            <a:r>
              <a:rPr lang="en-US" dirty="0"/>
              <a:t>Assuming the program only gets it right on the last possible password attempt, how long will this program take?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064EA5-FD6E-74BE-90B9-01DC579B21C5}"/>
              </a:ext>
            </a:extLst>
          </p:cNvPr>
          <p:cNvSpPr txBox="1"/>
          <p:nvPr/>
        </p:nvSpPr>
        <p:spPr>
          <a:xfrm>
            <a:off x="9756333" y="6492875"/>
            <a:ext cx="2435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USE.  A.  CALCULATOR</a:t>
            </a:r>
          </a:p>
        </p:txBody>
      </p:sp>
    </p:spTree>
    <p:extLst>
      <p:ext uri="{BB962C8B-B14F-4D97-AF65-F5344CB8AC3E}">
        <p14:creationId xmlns:p14="http://schemas.microsoft.com/office/powerpoint/2010/main" val="32495337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A995-52C1-F696-7D75-18B941CB9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number of permutations (with repetition)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BED650-EE0A-9BDA-3818-7BF5B97C4C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396345" cy="4351338"/>
              </a:xfrm>
            </p:spPr>
            <p:txBody>
              <a:bodyPr/>
              <a:lstStyle/>
              <a:p>
                <a:r>
                  <a:rPr lang="en-US" dirty="0"/>
                  <a:t>Set of all 6-character passwords (P</a:t>
                </a:r>
                <a:r>
                  <a:rPr lang="en-US" baseline="-25000" dirty="0"/>
                  <a:t>6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|P</a:t>
                </a:r>
                <a:r>
                  <a:rPr lang="en-US" baseline="-25000" dirty="0"/>
                  <a:t>6</a:t>
                </a:r>
                <a:r>
                  <a:rPr lang="en-US" dirty="0"/>
                  <a:t> | = 26</a:t>
                </a:r>
                <a:r>
                  <a:rPr lang="en-US" baseline="30000" dirty="0"/>
                  <a:t>6</a:t>
                </a:r>
                <a:r>
                  <a:rPr lang="en-US" dirty="0"/>
                  <a:t> options</a:t>
                </a:r>
              </a:p>
              <a:p>
                <a:endParaRPr lang="en-US" dirty="0"/>
              </a:p>
              <a:p>
                <a:r>
                  <a:rPr lang="en-US" dirty="0"/>
                  <a:t>26</a:t>
                </a:r>
                <a:r>
                  <a:rPr lang="en-US" baseline="30000" dirty="0"/>
                  <a:t>6</a:t>
                </a:r>
                <a:r>
                  <a:rPr lang="en-US" dirty="0"/>
                  <a:t> + 26</a:t>
                </a:r>
                <a:r>
                  <a:rPr lang="en-US" baseline="30000" dirty="0"/>
                  <a:t>7</a:t>
                </a:r>
                <a:r>
                  <a:rPr lang="en-US" dirty="0"/>
                  <a:t> + 26</a:t>
                </a:r>
                <a:r>
                  <a:rPr lang="en-US" baseline="30000" dirty="0"/>
                  <a:t>8</a:t>
                </a:r>
                <a:r>
                  <a:rPr lang="en-US" dirty="0"/>
                  <a:t> + 26</a:t>
                </a:r>
                <a:r>
                  <a:rPr lang="en-US" baseline="30000" dirty="0"/>
                  <a:t>9</a:t>
                </a:r>
                <a:r>
                  <a:rPr lang="en-US" dirty="0"/>
                  <a:t> + …. 26</a:t>
                </a:r>
                <a:r>
                  <a:rPr lang="en-US" baseline="30000" dirty="0"/>
                  <a:t>21</a:t>
                </a:r>
              </a:p>
              <a:p>
                <a:endParaRPr lang="en-US" dirty="0"/>
              </a:p>
              <a:p>
                <a:r>
                  <a:rPr lang="en-US" sz="4400" dirty="0"/>
                  <a:t>Put another way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4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sz="4400" b="0" i="1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=6</m:t>
                        </m:r>
                      </m:sub>
                      <m:sup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m:rPr>
                            <m:sty m:val="p"/>
                          </m:rPr>
                          <a:rPr lang="en-US" sz="4400" b="0" i="1" baseline="30000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BED650-EE0A-9BDA-3818-7BF5B97C4C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396345" cy="4351338"/>
              </a:xfrm>
              <a:blipFill>
                <a:blip r:embed="rId2"/>
                <a:stretch>
                  <a:fillRect l="-4460" t="-2326" r="-2582" b="-35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8765ACF-9074-CD73-5134-98029AFC2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189" y="1777531"/>
            <a:ext cx="5142808" cy="508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199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8A056-AB3B-CF83-2BB2-292751893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100 passwords a second means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F6ED4-4F42-A4BA-69A7-6F87E456E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dirty="0"/>
              <a:t>We divide our original number by 100</a:t>
            </a:r>
          </a:p>
          <a:p>
            <a:endParaRPr lang="en-US" dirty="0"/>
          </a:p>
          <a:p>
            <a:r>
              <a:rPr lang="en-US" dirty="0"/>
              <a:t>5388571461264624234792665804.16 seconds </a:t>
            </a:r>
          </a:p>
          <a:p>
            <a:r>
              <a:rPr lang="en-US" dirty="0"/>
              <a:t>Over 1 quintillion years</a:t>
            </a:r>
          </a:p>
          <a:p>
            <a:endParaRPr lang="en-US" dirty="0"/>
          </a:p>
          <a:p>
            <a:r>
              <a:rPr lang="en-US" dirty="0"/>
              <a:t>The universe is 13.79 billion years old </a:t>
            </a:r>
          </a:p>
          <a:p>
            <a:pPr lvl="1"/>
            <a:r>
              <a:rPr lang="en-US" dirty="0"/>
              <a:t>(according to Wikipedia)</a:t>
            </a:r>
          </a:p>
          <a:p>
            <a:pPr lvl="1"/>
            <a:endParaRPr lang="en-US" dirty="0"/>
          </a:p>
          <a:p>
            <a:r>
              <a:rPr lang="en-US" dirty="0"/>
              <a:t>…a while</a:t>
            </a:r>
          </a:p>
        </p:txBody>
      </p:sp>
    </p:spTree>
    <p:extLst>
      <p:ext uri="{BB962C8B-B14F-4D97-AF65-F5344CB8AC3E}">
        <p14:creationId xmlns:p14="http://schemas.microsoft.com/office/powerpoint/2010/main" val="30670881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EC97-7D6C-3053-E7D3-95990BF4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preview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EBAA5-90F0-BC69-D7BA-9846EAE88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Computers are good at trying things very quickly</a:t>
            </a:r>
          </a:p>
          <a:p>
            <a:pPr lvl="1"/>
            <a:r>
              <a:rPr lang="en-US" dirty="0"/>
              <a:t>100 passwords a second is probably much too slow for the reality of modern day computers</a:t>
            </a:r>
          </a:p>
          <a:p>
            <a:r>
              <a:rPr lang="en-US" dirty="0"/>
              <a:t>But when input gets large enough </a:t>
            </a:r>
          </a:p>
          <a:p>
            <a:r>
              <a:rPr lang="en-US" dirty="0"/>
              <a:t>We run into runtimes that extend beyond the age of mountains</a:t>
            </a:r>
          </a:p>
          <a:p>
            <a:endParaRPr lang="en-US" dirty="0"/>
          </a:p>
          <a:p>
            <a:r>
              <a:rPr lang="en-US" dirty="0"/>
              <a:t>…ideally we find workarounds to improve our speed a bit</a:t>
            </a:r>
          </a:p>
          <a:p>
            <a:r>
              <a:rPr lang="en-US" dirty="0"/>
              <a:t>What are some ways we could optimize our algorithm</a:t>
            </a:r>
          </a:p>
          <a:p>
            <a:pPr lvl="1"/>
            <a:r>
              <a:rPr lang="en-US" dirty="0"/>
              <a:t>Rather than just trying every possible combo </a:t>
            </a:r>
            <a:r>
              <a:rPr lang="en-US"/>
              <a:t>of letters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544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5211</TotalTime>
  <Words>3907</Words>
  <Application>Microsoft Macintosh PowerPoint</Application>
  <PresentationFormat>Widescreen</PresentationFormat>
  <Paragraphs>524</Paragraphs>
  <Slides>70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6" baseType="lpstr">
      <vt:lpstr>Aptos</vt:lpstr>
      <vt:lpstr>Aptos Display</vt:lpstr>
      <vt:lpstr>Arial</vt:lpstr>
      <vt:lpstr>Cambria Math</vt:lpstr>
      <vt:lpstr>Wingdings</vt:lpstr>
      <vt:lpstr>Office Theme</vt:lpstr>
      <vt:lpstr>Counting</vt:lpstr>
      <vt:lpstr>Refreshing on Set Cardinality</vt:lpstr>
      <vt:lpstr>Inclusion Exclusion principle</vt:lpstr>
      <vt:lpstr>Now you try</vt:lpstr>
      <vt:lpstr>Counting Cartesian Products </vt:lpstr>
      <vt:lpstr>Another example</vt:lpstr>
      <vt:lpstr>A more complex one</vt:lpstr>
      <vt:lpstr>Together: </vt:lpstr>
      <vt:lpstr>Applying this logic again</vt:lpstr>
      <vt:lpstr>How many combos start with A</vt:lpstr>
      <vt:lpstr>Same for Z</vt:lpstr>
      <vt:lpstr>Inclusion Exclusion again</vt:lpstr>
      <vt:lpstr>Combinitorics</vt:lpstr>
      <vt:lpstr>Lets start with counting groupings where order matters</vt:lpstr>
      <vt:lpstr>Practice</vt:lpstr>
      <vt:lpstr>Quick refresher!</vt:lpstr>
      <vt:lpstr>Factorials in fractions – save yourself some work if possible</vt:lpstr>
      <vt:lpstr>So For my chore list of 5 tasks</vt:lpstr>
      <vt:lpstr>But </vt:lpstr>
      <vt:lpstr>What about if I have time for 3 chores? Or some other number?</vt:lpstr>
      <vt:lpstr>Some quick examples</vt:lpstr>
      <vt:lpstr>What if order doesn’t matter?</vt:lpstr>
      <vt:lpstr>Combinations</vt:lpstr>
      <vt:lpstr>Gelato though:</vt:lpstr>
      <vt:lpstr>Quick practice on your own</vt:lpstr>
      <vt:lpstr>Using the formula should be pretty straightforward  It’s figuring out how to apply it that can be hard</vt:lpstr>
      <vt:lpstr>My approach:</vt:lpstr>
      <vt:lpstr>More Practice </vt:lpstr>
      <vt:lpstr>Order doesn’t matter here: Combinations</vt:lpstr>
      <vt:lpstr>PowerPoint Presentation</vt:lpstr>
      <vt:lpstr>Counting with repetition</vt:lpstr>
      <vt:lpstr>When order doesn’t matter </vt:lpstr>
      <vt:lpstr>Lets phrase this another way: A “stars and bars” problem</vt:lpstr>
      <vt:lpstr>Why phrase another way though?</vt:lpstr>
      <vt:lpstr>Stars and Bars  (aka “balls and bins” problems)</vt:lpstr>
      <vt:lpstr>Generally speaking</vt:lpstr>
      <vt:lpstr>Try some more</vt:lpstr>
      <vt:lpstr>Challenge answer </vt:lpstr>
      <vt:lpstr>Binomials</vt:lpstr>
      <vt:lpstr>What does Binomial mean</vt:lpstr>
      <vt:lpstr>Quick refresher on multiplying polynomials</vt:lpstr>
      <vt:lpstr>Weird patterns emerge as we expand a binomial… </vt:lpstr>
      <vt:lpstr>Weird observation 1:  exponents for a and b</vt:lpstr>
      <vt:lpstr>Weird observation 2:  number of terms</vt:lpstr>
      <vt:lpstr>Weird observation 3:  Coefficients</vt:lpstr>
      <vt:lpstr>Weird observation 3:  Coefficients</vt:lpstr>
      <vt:lpstr>Pascal’s Triangle</vt:lpstr>
      <vt:lpstr>A formula for calculating any row of pascal’s triangle</vt:lpstr>
      <vt:lpstr>So that’s neat</vt:lpstr>
      <vt:lpstr>Sigma notation</vt:lpstr>
      <vt:lpstr>In our case</vt:lpstr>
      <vt:lpstr>PowerPoint Presentation</vt:lpstr>
      <vt:lpstr>Pigeons</vt:lpstr>
      <vt:lpstr>Pigeons and Counting</vt:lpstr>
      <vt:lpstr>Facts about buckets</vt:lpstr>
      <vt:lpstr>This is what we call the pigeonhole principle</vt:lpstr>
      <vt:lpstr>Flipping it around</vt:lpstr>
      <vt:lpstr>Generally…</vt:lpstr>
      <vt:lpstr>Example</vt:lpstr>
      <vt:lpstr>Going to the movies</vt:lpstr>
      <vt:lpstr>Some more practice problems</vt:lpstr>
      <vt:lpstr>Combination or Permutation?</vt:lpstr>
      <vt:lpstr>Going further: Try in groups</vt:lpstr>
      <vt:lpstr>Number of possible 5-card hands</vt:lpstr>
      <vt:lpstr>Possible straights</vt:lpstr>
      <vt:lpstr>Passwords</vt:lpstr>
      <vt:lpstr>More passwords</vt:lpstr>
      <vt:lpstr>The number of permutations (with repetition)</vt:lpstr>
      <vt:lpstr>100 passwords a second means </vt:lpstr>
      <vt:lpstr>This is a preview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Domino, Molly</dc:creator>
  <cp:lastModifiedBy>Domino, Molly</cp:lastModifiedBy>
  <cp:revision>19</cp:revision>
  <dcterms:created xsi:type="dcterms:W3CDTF">2026-01-27T16:30:33Z</dcterms:created>
  <dcterms:modified xsi:type="dcterms:W3CDTF">2026-02-06T20:57:28Z</dcterms:modified>
</cp:coreProperties>
</file>